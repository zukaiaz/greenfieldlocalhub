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421"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422" r:id="rId30"/>
    <p:sldId id="285" r:id="rId31"/>
    <p:sldId id="286" r:id="rId32"/>
    <p:sldId id="287" r:id="rId33"/>
    <p:sldId id="288" r:id="rId34"/>
    <p:sldId id="289" r:id="rId35"/>
    <p:sldId id="290" r:id="rId36"/>
    <p:sldId id="291" r:id="rId37"/>
    <p:sldId id="400" r:id="rId38"/>
    <p:sldId id="292" r:id="rId39"/>
    <p:sldId id="293" r:id="rId40"/>
    <p:sldId id="294" r:id="rId41"/>
    <p:sldId id="295" r:id="rId42"/>
    <p:sldId id="296" r:id="rId43"/>
    <p:sldId id="297" r:id="rId44"/>
    <p:sldId id="298" r:id="rId45"/>
    <p:sldId id="401"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2" r:id="rId59"/>
    <p:sldId id="311" r:id="rId60"/>
    <p:sldId id="313" r:id="rId61"/>
    <p:sldId id="42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424" r:id="rId83"/>
    <p:sldId id="336" r:id="rId84"/>
    <p:sldId id="335"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61" r:id="rId102"/>
    <p:sldId id="353" r:id="rId103"/>
    <p:sldId id="354" r:id="rId104"/>
    <p:sldId id="355" r:id="rId105"/>
    <p:sldId id="356" r:id="rId106"/>
    <p:sldId id="357" r:id="rId107"/>
    <p:sldId id="362" r:id="rId108"/>
    <p:sldId id="359" r:id="rId109"/>
    <p:sldId id="360" r:id="rId110"/>
    <p:sldId id="363" r:id="rId111"/>
    <p:sldId id="369" r:id="rId112"/>
    <p:sldId id="370" r:id="rId113"/>
    <p:sldId id="371" r:id="rId114"/>
    <p:sldId id="372" r:id="rId115"/>
    <p:sldId id="377" r:id="rId116"/>
    <p:sldId id="373" r:id="rId117"/>
    <p:sldId id="374" r:id="rId118"/>
    <p:sldId id="375" r:id="rId119"/>
    <p:sldId id="376" r:id="rId120"/>
    <p:sldId id="378" r:id="rId121"/>
    <p:sldId id="364" r:id="rId122"/>
    <p:sldId id="379" r:id="rId123"/>
    <p:sldId id="380" r:id="rId124"/>
    <p:sldId id="382" r:id="rId125"/>
    <p:sldId id="381" r:id="rId126"/>
    <p:sldId id="383" r:id="rId127"/>
    <p:sldId id="384" r:id="rId128"/>
    <p:sldId id="385" r:id="rId129"/>
    <p:sldId id="386" r:id="rId130"/>
    <p:sldId id="387" r:id="rId131"/>
    <p:sldId id="388" r:id="rId132"/>
    <p:sldId id="389" r:id="rId133"/>
    <p:sldId id="390" r:id="rId134"/>
    <p:sldId id="391" r:id="rId135"/>
    <p:sldId id="392" r:id="rId136"/>
    <p:sldId id="393" r:id="rId137"/>
    <p:sldId id="394" r:id="rId138"/>
    <p:sldId id="395" r:id="rId139"/>
    <p:sldId id="396" r:id="rId140"/>
    <p:sldId id="397" r:id="rId141"/>
    <p:sldId id="398" r:id="rId142"/>
    <p:sldId id="399" r:id="rId143"/>
    <p:sldId id="402" r:id="rId144"/>
    <p:sldId id="403" r:id="rId145"/>
    <p:sldId id="404" r:id="rId146"/>
    <p:sldId id="405" r:id="rId147"/>
    <p:sldId id="406" r:id="rId148"/>
    <p:sldId id="407" r:id="rId149"/>
    <p:sldId id="408" r:id="rId150"/>
    <p:sldId id="409" r:id="rId151"/>
    <p:sldId id="410" r:id="rId152"/>
    <p:sldId id="411" r:id="rId153"/>
    <p:sldId id="412" r:id="rId154"/>
    <p:sldId id="413" r:id="rId155"/>
    <p:sldId id="414" r:id="rId156"/>
    <p:sldId id="367" r:id="rId157"/>
    <p:sldId id="415" r:id="rId158"/>
    <p:sldId id="416" r:id="rId159"/>
    <p:sldId id="417" r:id="rId160"/>
    <p:sldId id="418" r:id="rId161"/>
    <p:sldId id="419" r:id="rId162"/>
    <p:sldId id="420" r:id="rId16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B24F3F-0126-EC0F-DE5E-259534777C2E}" v="21" dt="2026-03-23T20:30:13.322"/>
    <p1510:client id="{3BAC5D5D-2799-8074-52AD-286A2D2B2D8D}" v="31" dt="2026-03-23T21:20:58.751"/>
    <p1510:client id="{4CC72216-E0A5-DD69-F0F9-4653175BFE1A}" v="28" dt="2026-03-23T16:33:44.113"/>
    <p1510:client id="{5523624C-F2C0-071E-670D-4ECCE956178A}" v="29" dt="2026-03-23T08:45:09.904"/>
    <p1510:client id="{AC38F756-1BB8-2492-BFC3-B78F73F4B742}" v="71" dt="2026-03-23T11:56:18.636"/>
    <p1510:client id="{B3EB9E0C-CD6E-E015-7505-EDF7FAE9522F}" v="53" dt="2026-03-23T21:12:29.282"/>
    <p1510:client id="{B5224157-A37D-4DD4-C687-424D41D113CE}" v="1964" dt="2026-03-22T13:44:25.518"/>
    <p1510:client id="{C83789A2-785C-089B-69BE-E4E2124C2802}" v="2" dt="2026-03-23T20:42:05.396"/>
    <p1510:client id="{D7174C5E-7359-48C2-4CDD-F9C9CA4929C4}" v="70" dt="2026-03-24T08:37:36.752"/>
    <p1510:client id="{DD9F1479-2CDA-AA42-EFF3-A6C531D447CC}" v="157" dt="2026-03-23T20:40:02.471"/>
    <p1510:client id="{F87E2898-2B6E-03AF-6084-9522F5438C11}" v="5" dt="2026-03-23T21:22:49.6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74" d="100"/>
          <a:sy n="74" d="100"/>
        </p:scale>
        <p:origin x="51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diagrams/_rels/data2.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svg"/><Relationship Id="rId1" Type="http://schemas.openxmlformats.org/officeDocument/2006/relationships/image" Target="../media/image53.png"/><Relationship Id="rId6" Type="http://schemas.openxmlformats.org/officeDocument/2006/relationships/image" Target="../media/image58.svg"/><Relationship Id="rId5" Type="http://schemas.openxmlformats.org/officeDocument/2006/relationships/image" Target="../media/image57.png"/><Relationship Id="rId4" Type="http://schemas.openxmlformats.org/officeDocument/2006/relationships/image" Target="../media/image5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svg"/><Relationship Id="rId1" Type="http://schemas.openxmlformats.org/officeDocument/2006/relationships/image" Target="../media/image53.png"/><Relationship Id="rId6" Type="http://schemas.openxmlformats.org/officeDocument/2006/relationships/image" Target="../media/image58.svg"/><Relationship Id="rId5" Type="http://schemas.openxmlformats.org/officeDocument/2006/relationships/image" Target="../media/image57.png"/><Relationship Id="rId4" Type="http://schemas.openxmlformats.org/officeDocument/2006/relationships/image" Target="../media/image56.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data1.xml><?xml version="1.0" encoding="utf-8"?>
<dgm:dataModel xmlns:dgm="http://schemas.openxmlformats.org/drawingml/2006/diagram" xmlns:a="http://schemas.openxmlformats.org/drawingml/2006/main">
  <dgm:ptLst>
    <dgm:pt modelId="{0E6F0807-8EE4-4191-9950-08E52FE4FA3A}"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9248484D-2519-4DC1-B3DD-BDC765093C86}">
      <dgm:prSet/>
      <dgm:spPr/>
      <dgm:t>
        <a:bodyPr/>
        <a:lstStyle/>
        <a:p>
          <a:r>
            <a:rPr lang="en-GB"/>
            <a:t>Basket</a:t>
          </a:r>
          <a:endParaRPr lang="en-US"/>
        </a:p>
      </dgm:t>
    </dgm:pt>
    <dgm:pt modelId="{F6128C16-0798-4E83-9150-39ADFEA69D40}" type="parTrans" cxnId="{8FEEAF5D-8AB0-47F2-8293-F1DAA41E0F39}">
      <dgm:prSet/>
      <dgm:spPr/>
      <dgm:t>
        <a:bodyPr/>
        <a:lstStyle/>
        <a:p>
          <a:endParaRPr lang="en-US"/>
        </a:p>
      </dgm:t>
    </dgm:pt>
    <dgm:pt modelId="{AB96FDF2-F145-442A-A006-BC175FFC9083}" type="sibTrans" cxnId="{8FEEAF5D-8AB0-47F2-8293-F1DAA41E0F39}">
      <dgm:prSet/>
      <dgm:spPr/>
      <dgm:t>
        <a:bodyPr/>
        <a:lstStyle/>
        <a:p>
          <a:endParaRPr lang="en-US"/>
        </a:p>
      </dgm:t>
    </dgm:pt>
    <dgm:pt modelId="{B7C5AC20-960A-409A-8343-C7DEE4713757}">
      <dgm:prSet/>
      <dgm:spPr/>
      <dgm:t>
        <a:bodyPr/>
        <a:lstStyle/>
        <a:p>
          <a:r>
            <a:rPr lang="en-GB"/>
            <a:t>BasketProducts</a:t>
          </a:r>
          <a:endParaRPr lang="en-US"/>
        </a:p>
      </dgm:t>
    </dgm:pt>
    <dgm:pt modelId="{811AACCF-6EED-4DA2-9980-002039A59A8F}" type="parTrans" cxnId="{4EED8BEF-1136-4CB3-86BB-7FC0C4E0996F}">
      <dgm:prSet/>
      <dgm:spPr/>
      <dgm:t>
        <a:bodyPr/>
        <a:lstStyle/>
        <a:p>
          <a:endParaRPr lang="en-US"/>
        </a:p>
      </dgm:t>
    </dgm:pt>
    <dgm:pt modelId="{EA543E81-82DC-4C1F-9BA1-DB99C56E8432}" type="sibTrans" cxnId="{4EED8BEF-1136-4CB3-86BB-7FC0C4E0996F}">
      <dgm:prSet/>
      <dgm:spPr/>
      <dgm:t>
        <a:bodyPr/>
        <a:lstStyle/>
        <a:p>
          <a:endParaRPr lang="en-US"/>
        </a:p>
      </dgm:t>
    </dgm:pt>
    <dgm:pt modelId="{CC0B9357-4D2E-44C3-83FE-D0E5E7563306}">
      <dgm:prSet/>
      <dgm:spPr/>
      <dgm:t>
        <a:bodyPr/>
        <a:lstStyle/>
        <a:p>
          <a:r>
            <a:rPr lang="en-GB"/>
            <a:t>OrderProducts</a:t>
          </a:r>
          <a:endParaRPr lang="en-US"/>
        </a:p>
      </dgm:t>
    </dgm:pt>
    <dgm:pt modelId="{D8FAAB77-BE4D-48BD-8B50-8FB64971C82B}" type="parTrans" cxnId="{F34570D3-DB22-4FA5-9A79-13ACC0125C93}">
      <dgm:prSet/>
      <dgm:spPr/>
      <dgm:t>
        <a:bodyPr/>
        <a:lstStyle/>
        <a:p>
          <a:endParaRPr lang="en-US"/>
        </a:p>
      </dgm:t>
    </dgm:pt>
    <dgm:pt modelId="{5E06FA2C-EA7A-47EA-9367-94E2F29D913A}" type="sibTrans" cxnId="{F34570D3-DB22-4FA5-9A79-13ACC0125C93}">
      <dgm:prSet/>
      <dgm:spPr/>
      <dgm:t>
        <a:bodyPr/>
        <a:lstStyle/>
        <a:p>
          <a:endParaRPr lang="en-US"/>
        </a:p>
      </dgm:t>
    </dgm:pt>
    <dgm:pt modelId="{84789CB9-B06A-4817-9E81-10B6273078C5}">
      <dgm:prSet/>
      <dgm:spPr/>
      <dgm:t>
        <a:bodyPr/>
        <a:lstStyle/>
        <a:p>
          <a:r>
            <a:rPr lang="en-GB"/>
            <a:t>Orders</a:t>
          </a:r>
          <a:endParaRPr lang="en-US"/>
        </a:p>
      </dgm:t>
    </dgm:pt>
    <dgm:pt modelId="{7882B640-CA37-41F4-8A32-CD4E323D951B}" type="parTrans" cxnId="{927C0930-6421-4299-9212-EC1B30EB1697}">
      <dgm:prSet/>
      <dgm:spPr/>
      <dgm:t>
        <a:bodyPr/>
        <a:lstStyle/>
        <a:p>
          <a:endParaRPr lang="en-US"/>
        </a:p>
      </dgm:t>
    </dgm:pt>
    <dgm:pt modelId="{F980CB99-7161-4335-A56B-E4F54DFCDE3A}" type="sibTrans" cxnId="{927C0930-6421-4299-9212-EC1B30EB1697}">
      <dgm:prSet/>
      <dgm:spPr/>
      <dgm:t>
        <a:bodyPr/>
        <a:lstStyle/>
        <a:p>
          <a:endParaRPr lang="en-US"/>
        </a:p>
      </dgm:t>
    </dgm:pt>
    <dgm:pt modelId="{17B737CA-99C7-4961-8726-14E6D5E79EF0}">
      <dgm:prSet/>
      <dgm:spPr/>
      <dgm:t>
        <a:bodyPr/>
        <a:lstStyle/>
        <a:p>
          <a:r>
            <a:rPr lang="en-GB"/>
            <a:t>Products</a:t>
          </a:r>
          <a:endParaRPr lang="en-US"/>
        </a:p>
      </dgm:t>
    </dgm:pt>
    <dgm:pt modelId="{4E34EE95-4B04-4D24-8FBE-3CFFED5B12FB}" type="parTrans" cxnId="{AC34CD3B-6644-4A3D-A4AC-7D7D6A95B063}">
      <dgm:prSet/>
      <dgm:spPr/>
      <dgm:t>
        <a:bodyPr/>
        <a:lstStyle/>
        <a:p>
          <a:endParaRPr lang="en-US"/>
        </a:p>
      </dgm:t>
    </dgm:pt>
    <dgm:pt modelId="{4C9CAFB9-5BA9-4D79-ACC6-155DC6A161BC}" type="sibTrans" cxnId="{AC34CD3B-6644-4A3D-A4AC-7D7D6A95B063}">
      <dgm:prSet/>
      <dgm:spPr/>
      <dgm:t>
        <a:bodyPr/>
        <a:lstStyle/>
        <a:p>
          <a:endParaRPr lang="en-US"/>
        </a:p>
      </dgm:t>
    </dgm:pt>
    <dgm:pt modelId="{02E3862C-9C33-49E6-93B6-E587D706AEC5}">
      <dgm:prSet/>
      <dgm:spPr/>
      <dgm:t>
        <a:bodyPr/>
        <a:lstStyle/>
        <a:p>
          <a:r>
            <a:rPr lang="en-GB"/>
            <a:t>Suppliers</a:t>
          </a:r>
          <a:endParaRPr lang="en-US"/>
        </a:p>
      </dgm:t>
    </dgm:pt>
    <dgm:pt modelId="{1BD02B44-83D6-4F11-B15C-336BE658D848}" type="parTrans" cxnId="{8A624F4C-6DA6-4E7A-B04E-01A0573C7738}">
      <dgm:prSet/>
      <dgm:spPr/>
      <dgm:t>
        <a:bodyPr/>
        <a:lstStyle/>
        <a:p>
          <a:endParaRPr lang="en-US"/>
        </a:p>
      </dgm:t>
    </dgm:pt>
    <dgm:pt modelId="{9681388A-B304-4456-9FF9-1DD919B034F4}" type="sibTrans" cxnId="{8A624F4C-6DA6-4E7A-B04E-01A0573C7738}">
      <dgm:prSet/>
      <dgm:spPr/>
      <dgm:t>
        <a:bodyPr/>
        <a:lstStyle/>
        <a:p>
          <a:endParaRPr lang="en-US"/>
        </a:p>
      </dgm:t>
    </dgm:pt>
    <dgm:pt modelId="{34E1AC61-F2F0-4264-9EF7-F10BDFC39665}" type="pres">
      <dgm:prSet presAssocID="{0E6F0807-8EE4-4191-9950-08E52FE4FA3A}" presName="diagram" presStyleCnt="0">
        <dgm:presLayoutVars>
          <dgm:dir/>
          <dgm:resizeHandles val="exact"/>
        </dgm:presLayoutVars>
      </dgm:prSet>
      <dgm:spPr/>
    </dgm:pt>
    <dgm:pt modelId="{2005E6D3-B2CD-4099-AF29-1F63680FB2D9}" type="pres">
      <dgm:prSet presAssocID="{9248484D-2519-4DC1-B3DD-BDC765093C86}" presName="node" presStyleLbl="node1" presStyleIdx="0" presStyleCnt="6">
        <dgm:presLayoutVars>
          <dgm:bulletEnabled val="1"/>
        </dgm:presLayoutVars>
      </dgm:prSet>
      <dgm:spPr/>
    </dgm:pt>
    <dgm:pt modelId="{D849049A-55E5-4CF4-A9BC-71F1027B6F2E}" type="pres">
      <dgm:prSet presAssocID="{AB96FDF2-F145-442A-A006-BC175FFC9083}" presName="sibTrans" presStyleCnt="0"/>
      <dgm:spPr/>
    </dgm:pt>
    <dgm:pt modelId="{C2073882-FE2E-4D34-B2BA-380B942BE66D}" type="pres">
      <dgm:prSet presAssocID="{B7C5AC20-960A-409A-8343-C7DEE4713757}" presName="node" presStyleLbl="node1" presStyleIdx="1" presStyleCnt="6">
        <dgm:presLayoutVars>
          <dgm:bulletEnabled val="1"/>
        </dgm:presLayoutVars>
      </dgm:prSet>
      <dgm:spPr/>
    </dgm:pt>
    <dgm:pt modelId="{1C1E68E5-90F9-4637-B5B0-48B1E2360B77}" type="pres">
      <dgm:prSet presAssocID="{EA543E81-82DC-4C1F-9BA1-DB99C56E8432}" presName="sibTrans" presStyleCnt="0"/>
      <dgm:spPr/>
    </dgm:pt>
    <dgm:pt modelId="{94015B10-4ABC-4A28-9436-7CAD48E5C249}" type="pres">
      <dgm:prSet presAssocID="{CC0B9357-4D2E-44C3-83FE-D0E5E7563306}" presName="node" presStyleLbl="node1" presStyleIdx="2" presStyleCnt="6">
        <dgm:presLayoutVars>
          <dgm:bulletEnabled val="1"/>
        </dgm:presLayoutVars>
      </dgm:prSet>
      <dgm:spPr/>
    </dgm:pt>
    <dgm:pt modelId="{86B6BF94-F72D-49CF-BBE2-ECC5451443C9}" type="pres">
      <dgm:prSet presAssocID="{5E06FA2C-EA7A-47EA-9367-94E2F29D913A}" presName="sibTrans" presStyleCnt="0"/>
      <dgm:spPr/>
    </dgm:pt>
    <dgm:pt modelId="{FA9DB355-2924-4A26-8A97-DC9555F5E57B}" type="pres">
      <dgm:prSet presAssocID="{84789CB9-B06A-4817-9E81-10B6273078C5}" presName="node" presStyleLbl="node1" presStyleIdx="3" presStyleCnt="6">
        <dgm:presLayoutVars>
          <dgm:bulletEnabled val="1"/>
        </dgm:presLayoutVars>
      </dgm:prSet>
      <dgm:spPr/>
    </dgm:pt>
    <dgm:pt modelId="{B46943F0-A6F3-4598-AD85-480E20E4E4F0}" type="pres">
      <dgm:prSet presAssocID="{F980CB99-7161-4335-A56B-E4F54DFCDE3A}" presName="sibTrans" presStyleCnt="0"/>
      <dgm:spPr/>
    </dgm:pt>
    <dgm:pt modelId="{E5EA3458-B986-46F8-885B-75AF0EB20137}" type="pres">
      <dgm:prSet presAssocID="{17B737CA-99C7-4961-8726-14E6D5E79EF0}" presName="node" presStyleLbl="node1" presStyleIdx="4" presStyleCnt="6">
        <dgm:presLayoutVars>
          <dgm:bulletEnabled val="1"/>
        </dgm:presLayoutVars>
      </dgm:prSet>
      <dgm:spPr/>
    </dgm:pt>
    <dgm:pt modelId="{A64590CA-6A6C-415F-A14E-254D0AE90F68}" type="pres">
      <dgm:prSet presAssocID="{4C9CAFB9-5BA9-4D79-ACC6-155DC6A161BC}" presName="sibTrans" presStyleCnt="0"/>
      <dgm:spPr/>
    </dgm:pt>
    <dgm:pt modelId="{E081C2BE-9D02-4056-8BDA-22A54EE69D20}" type="pres">
      <dgm:prSet presAssocID="{02E3862C-9C33-49E6-93B6-E587D706AEC5}" presName="node" presStyleLbl="node1" presStyleIdx="5" presStyleCnt="6">
        <dgm:presLayoutVars>
          <dgm:bulletEnabled val="1"/>
        </dgm:presLayoutVars>
      </dgm:prSet>
      <dgm:spPr/>
    </dgm:pt>
  </dgm:ptLst>
  <dgm:cxnLst>
    <dgm:cxn modelId="{E13D7D12-8DD2-4CB5-9452-817CB9CB2B64}" type="presOf" srcId="{02E3862C-9C33-49E6-93B6-E587D706AEC5}" destId="{E081C2BE-9D02-4056-8BDA-22A54EE69D20}" srcOrd="0" destOrd="0" presId="urn:microsoft.com/office/officeart/2005/8/layout/default"/>
    <dgm:cxn modelId="{927C0930-6421-4299-9212-EC1B30EB1697}" srcId="{0E6F0807-8EE4-4191-9950-08E52FE4FA3A}" destId="{84789CB9-B06A-4817-9E81-10B6273078C5}" srcOrd="3" destOrd="0" parTransId="{7882B640-CA37-41F4-8A32-CD4E323D951B}" sibTransId="{F980CB99-7161-4335-A56B-E4F54DFCDE3A}"/>
    <dgm:cxn modelId="{36821533-3F8C-4D3B-9C14-BABDC6F8E47B}" type="presOf" srcId="{84789CB9-B06A-4817-9E81-10B6273078C5}" destId="{FA9DB355-2924-4A26-8A97-DC9555F5E57B}" srcOrd="0" destOrd="0" presId="urn:microsoft.com/office/officeart/2005/8/layout/default"/>
    <dgm:cxn modelId="{AC34CD3B-6644-4A3D-A4AC-7D7D6A95B063}" srcId="{0E6F0807-8EE4-4191-9950-08E52FE4FA3A}" destId="{17B737CA-99C7-4961-8726-14E6D5E79EF0}" srcOrd="4" destOrd="0" parTransId="{4E34EE95-4B04-4D24-8FBE-3CFFED5B12FB}" sibTransId="{4C9CAFB9-5BA9-4D79-ACC6-155DC6A161BC}"/>
    <dgm:cxn modelId="{8FEEAF5D-8AB0-47F2-8293-F1DAA41E0F39}" srcId="{0E6F0807-8EE4-4191-9950-08E52FE4FA3A}" destId="{9248484D-2519-4DC1-B3DD-BDC765093C86}" srcOrd="0" destOrd="0" parTransId="{F6128C16-0798-4E83-9150-39ADFEA69D40}" sibTransId="{AB96FDF2-F145-442A-A006-BC175FFC9083}"/>
    <dgm:cxn modelId="{9F9DDF5D-EF28-4AD9-8ACC-C3C6BB0C1D20}" type="presOf" srcId="{9248484D-2519-4DC1-B3DD-BDC765093C86}" destId="{2005E6D3-B2CD-4099-AF29-1F63680FB2D9}" srcOrd="0" destOrd="0" presId="urn:microsoft.com/office/officeart/2005/8/layout/default"/>
    <dgm:cxn modelId="{8A624F4C-6DA6-4E7A-B04E-01A0573C7738}" srcId="{0E6F0807-8EE4-4191-9950-08E52FE4FA3A}" destId="{02E3862C-9C33-49E6-93B6-E587D706AEC5}" srcOrd="5" destOrd="0" parTransId="{1BD02B44-83D6-4F11-B15C-336BE658D848}" sibTransId="{9681388A-B304-4456-9FF9-1DD919B034F4}"/>
    <dgm:cxn modelId="{EDB36C89-B828-4B31-A180-1EBC724F85C2}" type="presOf" srcId="{0E6F0807-8EE4-4191-9950-08E52FE4FA3A}" destId="{34E1AC61-F2F0-4264-9EF7-F10BDFC39665}" srcOrd="0" destOrd="0" presId="urn:microsoft.com/office/officeart/2005/8/layout/default"/>
    <dgm:cxn modelId="{F0CDF498-F056-46B9-8F92-FCC6EA784528}" type="presOf" srcId="{CC0B9357-4D2E-44C3-83FE-D0E5E7563306}" destId="{94015B10-4ABC-4A28-9436-7CAD48E5C249}" srcOrd="0" destOrd="0" presId="urn:microsoft.com/office/officeart/2005/8/layout/default"/>
    <dgm:cxn modelId="{F34570D3-DB22-4FA5-9A79-13ACC0125C93}" srcId="{0E6F0807-8EE4-4191-9950-08E52FE4FA3A}" destId="{CC0B9357-4D2E-44C3-83FE-D0E5E7563306}" srcOrd="2" destOrd="0" parTransId="{D8FAAB77-BE4D-48BD-8B50-8FB64971C82B}" sibTransId="{5E06FA2C-EA7A-47EA-9367-94E2F29D913A}"/>
    <dgm:cxn modelId="{80DD6AE6-41CC-45D6-96FF-59E3DE93EDD4}" type="presOf" srcId="{17B737CA-99C7-4961-8726-14E6D5E79EF0}" destId="{E5EA3458-B986-46F8-885B-75AF0EB20137}" srcOrd="0" destOrd="0" presId="urn:microsoft.com/office/officeart/2005/8/layout/default"/>
    <dgm:cxn modelId="{4EED8BEF-1136-4CB3-86BB-7FC0C4E0996F}" srcId="{0E6F0807-8EE4-4191-9950-08E52FE4FA3A}" destId="{B7C5AC20-960A-409A-8343-C7DEE4713757}" srcOrd="1" destOrd="0" parTransId="{811AACCF-6EED-4DA2-9980-002039A59A8F}" sibTransId="{EA543E81-82DC-4C1F-9BA1-DB99C56E8432}"/>
    <dgm:cxn modelId="{D63D42F9-D920-4F2E-AAB2-137551CF6F2D}" type="presOf" srcId="{B7C5AC20-960A-409A-8343-C7DEE4713757}" destId="{C2073882-FE2E-4D34-B2BA-380B942BE66D}" srcOrd="0" destOrd="0" presId="urn:microsoft.com/office/officeart/2005/8/layout/default"/>
    <dgm:cxn modelId="{0863493A-F97F-417B-8CDC-EE76D1416CE2}" type="presParOf" srcId="{34E1AC61-F2F0-4264-9EF7-F10BDFC39665}" destId="{2005E6D3-B2CD-4099-AF29-1F63680FB2D9}" srcOrd="0" destOrd="0" presId="urn:microsoft.com/office/officeart/2005/8/layout/default"/>
    <dgm:cxn modelId="{002DF3DE-7F7C-4576-A7B6-92979603DD6A}" type="presParOf" srcId="{34E1AC61-F2F0-4264-9EF7-F10BDFC39665}" destId="{D849049A-55E5-4CF4-A9BC-71F1027B6F2E}" srcOrd="1" destOrd="0" presId="urn:microsoft.com/office/officeart/2005/8/layout/default"/>
    <dgm:cxn modelId="{1DB311E0-B36B-4636-9A58-4A69B7B2A9A0}" type="presParOf" srcId="{34E1AC61-F2F0-4264-9EF7-F10BDFC39665}" destId="{C2073882-FE2E-4D34-B2BA-380B942BE66D}" srcOrd="2" destOrd="0" presId="urn:microsoft.com/office/officeart/2005/8/layout/default"/>
    <dgm:cxn modelId="{0E36E661-A50F-4CB9-8D95-B068F8685752}" type="presParOf" srcId="{34E1AC61-F2F0-4264-9EF7-F10BDFC39665}" destId="{1C1E68E5-90F9-4637-B5B0-48B1E2360B77}" srcOrd="3" destOrd="0" presId="urn:microsoft.com/office/officeart/2005/8/layout/default"/>
    <dgm:cxn modelId="{F2EADBDA-14BF-4376-BC31-E1125DEF8675}" type="presParOf" srcId="{34E1AC61-F2F0-4264-9EF7-F10BDFC39665}" destId="{94015B10-4ABC-4A28-9436-7CAD48E5C249}" srcOrd="4" destOrd="0" presId="urn:microsoft.com/office/officeart/2005/8/layout/default"/>
    <dgm:cxn modelId="{427BAAA9-E8A5-48D3-B4AB-F3CBDC15A22C}" type="presParOf" srcId="{34E1AC61-F2F0-4264-9EF7-F10BDFC39665}" destId="{86B6BF94-F72D-49CF-BBE2-ECC5451443C9}" srcOrd="5" destOrd="0" presId="urn:microsoft.com/office/officeart/2005/8/layout/default"/>
    <dgm:cxn modelId="{DD8D8853-DA9E-4D12-BB18-6967C8773657}" type="presParOf" srcId="{34E1AC61-F2F0-4264-9EF7-F10BDFC39665}" destId="{FA9DB355-2924-4A26-8A97-DC9555F5E57B}" srcOrd="6" destOrd="0" presId="urn:microsoft.com/office/officeart/2005/8/layout/default"/>
    <dgm:cxn modelId="{79BEDF11-8D6D-41A5-BB7A-C19FA173B805}" type="presParOf" srcId="{34E1AC61-F2F0-4264-9EF7-F10BDFC39665}" destId="{B46943F0-A6F3-4598-AD85-480E20E4E4F0}" srcOrd="7" destOrd="0" presId="urn:microsoft.com/office/officeart/2005/8/layout/default"/>
    <dgm:cxn modelId="{A82A1A1C-79E4-46E5-B933-DAAD33292828}" type="presParOf" srcId="{34E1AC61-F2F0-4264-9EF7-F10BDFC39665}" destId="{E5EA3458-B986-46F8-885B-75AF0EB20137}" srcOrd="8" destOrd="0" presId="urn:microsoft.com/office/officeart/2005/8/layout/default"/>
    <dgm:cxn modelId="{6131E742-4815-4AC6-9620-2F74A0A301A8}" type="presParOf" srcId="{34E1AC61-F2F0-4264-9EF7-F10BDFC39665}" destId="{A64590CA-6A6C-415F-A14E-254D0AE90F68}" srcOrd="9" destOrd="0" presId="urn:microsoft.com/office/officeart/2005/8/layout/default"/>
    <dgm:cxn modelId="{7FC96DAD-692C-45F3-919A-02CB6992EFDB}" type="presParOf" srcId="{34E1AC61-F2F0-4264-9EF7-F10BDFC39665}" destId="{E081C2BE-9D02-4056-8BDA-22A54EE69D20}"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1507A88-9B1D-439A-91E1-5EB07D784DCF}" type="doc">
      <dgm:prSet loTypeId="urn:microsoft.com/office/officeart/2018/2/layout/IconCircle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A67F0A35-824B-4CA4-B022-A34CEC103A9A}">
      <dgm:prSet/>
      <dgm:spPr/>
      <dgm:t>
        <a:bodyPr/>
        <a:lstStyle/>
        <a:p>
          <a:r>
            <a:rPr lang="en-GB"/>
            <a:t>Needs to be next to each product</a:t>
          </a:r>
          <a:endParaRPr lang="en-US"/>
        </a:p>
      </dgm:t>
    </dgm:pt>
    <dgm:pt modelId="{EB77997C-14A1-4544-940F-19C86B912B46}" type="parTrans" cxnId="{28DB25D0-46B2-482C-B9D5-CE3DDE1563E3}">
      <dgm:prSet/>
      <dgm:spPr/>
      <dgm:t>
        <a:bodyPr/>
        <a:lstStyle/>
        <a:p>
          <a:endParaRPr lang="en-US"/>
        </a:p>
      </dgm:t>
    </dgm:pt>
    <dgm:pt modelId="{CBFB6913-D530-4AC4-AB5E-9DD0FA74C64C}" type="sibTrans" cxnId="{28DB25D0-46B2-482C-B9D5-CE3DDE1563E3}">
      <dgm:prSet/>
      <dgm:spPr/>
      <dgm:t>
        <a:bodyPr/>
        <a:lstStyle/>
        <a:p>
          <a:endParaRPr lang="en-US"/>
        </a:p>
      </dgm:t>
    </dgm:pt>
    <dgm:pt modelId="{8A06FE94-4696-4E49-98F6-2E1250DD8BCE}">
      <dgm:prSet/>
      <dgm:spPr/>
      <dgm:t>
        <a:bodyPr/>
        <a:lstStyle/>
        <a:p>
          <a:r>
            <a:rPr lang="en-GB" dirty="0"/>
            <a:t>When run, needs to send </a:t>
          </a:r>
          <a:r>
            <a:rPr lang="en-GB">
              <a:latin typeface="Aptos Display" panose="020F0302020204030204"/>
            </a:rPr>
            <a:t>and</a:t>
          </a:r>
          <a:r>
            <a:rPr lang="en-GB" dirty="0"/>
            <a:t> post that products data through to the basket</a:t>
          </a:r>
          <a:endParaRPr lang="en-US" dirty="0"/>
        </a:p>
      </dgm:t>
    </dgm:pt>
    <dgm:pt modelId="{9C7701D5-0DCA-4E76-9C91-2BA191CA0D91}" type="parTrans" cxnId="{927F38D6-7B62-49B5-9081-6CD02094C84C}">
      <dgm:prSet/>
      <dgm:spPr/>
      <dgm:t>
        <a:bodyPr/>
        <a:lstStyle/>
        <a:p>
          <a:endParaRPr lang="en-US"/>
        </a:p>
      </dgm:t>
    </dgm:pt>
    <dgm:pt modelId="{D64A7696-C7E6-4288-9975-481D70E4FF38}" type="sibTrans" cxnId="{927F38D6-7B62-49B5-9081-6CD02094C84C}">
      <dgm:prSet/>
      <dgm:spPr/>
      <dgm:t>
        <a:bodyPr/>
        <a:lstStyle/>
        <a:p>
          <a:endParaRPr lang="en-US"/>
        </a:p>
      </dgm:t>
    </dgm:pt>
    <dgm:pt modelId="{94AE61C4-38E1-4B26-AE52-97872C9B58F6}">
      <dgm:prSet/>
      <dgm:spPr/>
      <dgm:t>
        <a:bodyPr/>
        <a:lstStyle/>
        <a:p>
          <a:r>
            <a:rPr lang="en-GB" dirty="0"/>
            <a:t>If no basket exists for that currently logged in user then create a new basket</a:t>
          </a:r>
          <a:endParaRPr lang="en-US" dirty="0"/>
        </a:p>
      </dgm:t>
    </dgm:pt>
    <dgm:pt modelId="{388A7858-D4C9-4D6A-B82B-8DBB8F29316D}" type="parTrans" cxnId="{E53F725C-ACC5-4733-851D-BA21E7138DDA}">
      <dgm:prSet/>
      <dgm:spPr/>
      <dgm:t>
        <a:bodyPr/>
        <a:lstStyle/>
        <a:p>
          <a:endParaRPr lang="en-US"/>
        </a:p>
      </dgm:t>
    </dgm:pt>
    <dgm:pt modelId="{7781C975-24F2-40D3-A5F2-5E636702759F}" type="sibTrans" cxnId="{E53F725C-ACC5-4733-851D-BA21E7138DDA}">
      <dgm:prSet/>
      <dgm:spPr/>
      <dgm:t>
        <a:bodyPr/>
        <a:lstStyle/>
        <a:p>
          <a:endParaRPr lang="en-US"/>
        </a:p>
      </dgm:t>
    </dgm:pt>
    <dgm:pt modelId="{94315B6F-4FD0-41CA-8EC1-713DB40B2F14}">
      <dgm:prSet/>
      <dgm:spPr/>
      <dgm:t>
        <a:bodyPr/>
        <a:lstStyle/>
        <a:p>
          <a:r>
            <a:rPr lang="en-GB"/>
            <a:t>Redirects them to the basket page to see their items</a:t>
          </a:r>
          <a:endParaRPr lang="en-US"/>
        </a:p>
      </dgm:t>
    </dgm:pt>
    <dgm:pt modelId="{9692391F-F004-43B6-A979-B140BE312D78}" type="parTrans" cxnId="{49C41194-E2A3-43F3-97A2-D9F1DF3AAF73}">
      <dgm:prSet/>
      <dgm:spPr/>
      <dgm:t>
        <a:bodyPr/>
        <a:lstStyle/>
        <a:p>
          <a:endParaRPr lang="en-US"/>
        </a:p>
      </dgm:t>
    </dgm:pt>
    <dgm:pt modelId="{8435A2AA-4A66-47C3-B711-73E5D1C74836}" type="sibTrans" cxnId="{49C41194-E2A3-43F3-97A2-D9F1DF3AAF73}">
      <dgm:prSet/>
      <dgm:spPr/>
      <dgm:t>
        <a:bodyPr/>
        <a:lstStyle/>
        <a:p>
          <a:endParaRPr lang="en-US"/>
        </a:p>
      </dgm:t>
    </dgm:pt>
    <dgm:pt modelId="{63BC055C-E546-4107-94ED-C802328D5FE2}" type="pres">
      <dgm:prSet presAssocID="{B1507A88-9B1D-439A-91E1-5EB07D784DCF}" presName="root" presStyleCnt="0">
        <dgm:presLayoutVars>
          <dgm:dir/>
          <dgm:resizeHandles val="exact"/>
        </dgm:presLayoutVars>
      </dgm:prSet>
      <dgm:spPr/>
    </dgm:pt>
    <dgm:pt modelId="{A3DADAE4-152C-499A-9BD7-E6AEF26975A7}" type="pres">
      <dgm:prSet presAssocID="{B1507A88-9B1D-439A-91E1-5EB07D784DCF}" presName="container" presStyleCnt="0">
        <dgm:presLayoutVars>
          <dgm:dir/>
          <dgm:resizeHandles val="exact"/>
        </dgm:presLayoutVars>
      </dgm:prSet>
      <dgm:spPr/>
    </dgm:pt>
    <dgm:pt modelId="{9810C023-7383-4C0F-B287-1B220FA7A6E0}" type="pres">
      <dgm:prSet presAssocID="{A67F0A35-824B-4CA4-B022-A34CEC103A9A}" presName="compNode" presStyleCnt="0"/>
      <dgm:spPr/>
    </dgm:pt>
    <dgm:pt modelId="{AED92A62-308B-4041-8C3F-9659DEB972C7}" type="pres">
      <dgm:prSet presAssocID="{A67F0A35-824B-4CA4-B022-A34CEC103A9A}" presName="iconBgRect" presStyleLbl="bgShp" presStyleIdx="0" presStyleCnt="4"/>
      <dgm:spPr/>
    </dgm:pt>
    <dgm:pt modelId="{3365B662-124C-45AE-88FA-9789178E5533}" type="pres">
      <dgm:prSet presAssocID="{A67F0A35-824B-4CA4-B022-A34CEC103A9A}"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ick"/>
        </a:ext>
      </dgm:extLst>
    </dgm:pt>
    <dgm:pt modelId="{120120F4-EC2D-45D3-A86A-278BAF65C394}" type="pres">
      <dgm:prSet presAssocID="{A67F0A35-824B-4CA4-B022-A34CEC103A9A}" presName="spaceRect" presStyleCnt="0"/>
      <dgm:spPr/>
    </dgm:pt>
    <dgm:pt modelId="{5C7B6E1D-A38D-4A00-87D1-39B229ED52C2}" type="pres">
      <dgm:prSet presAssocID="{A67F0A35-824B-4CA4-B022-A34CEC103A9A}" presName="textRect" presStyleLbl="revTx" presStyleIdx="0" presStyleCnt="4">
        <dgm:presLayoutVars>
          <dgm:chMax val="1"/>
          <dgm:chPref val="1"/>
        </dgm:presLayoutVars>
      </dgm:prSet>
      <dgm:spPr/>
    </dgm:pt>
    <dgm:pt modelId="{93E29458-8699-4B6F-B041-A3A40F75DC1A}" type="pres">
      <dgm:prSet presAssocID="{CBFB6913-D530-4AC4-AB5E-9DD0FA74C64C}" presName="sibTrans" presStyleLbl="sibTrans2D1" presStyleIdx="0" presStyleCnt="0"/>
      <dgm:spPr/>
    </dgm:pt>
    <dgm:pt modelId="{69E03982-8997-4252-ABB9-588A864FAEE2}" type="pres">
      <dgm:prSet presAssocID="{8A06FE94-4696-4E49-98F6-2E1250DD8BCE}" presName="compNode" presStyleCnt="0"/>
      <dgm:spPr/>
    </dgm:pt>
    <dgm:pt modelId="{207DDF6B-57DB-4885-BD2E-FBEB4BA59AB1}" type="pres">
      <dgm:prSet presAssocID="{8A06FE94-4696-4E49-98F6-2E1250DD8BCE}" presName="iconBgRect" presStyleLbl="bgShp" presStyleIdx="1" presStyleCnt="4"/>
      <dgm:spPr/>
    </dgm:pt>
    <dgm:pt modelId="{F2F58766-4605-4A9D-9407-E22E9A5BCF57}" type="pres">
      <dgm:prSet presAssocID="{8A06FE94-4696-4E49-98F6-2E1250DD8BCE}"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Kiosk"/>
        </a:ext>
      </dgm:extLst>
    </dgm:pt>
    <dgm:pt modelId="{AB0CAD85-D0FF-491D-A14D-F5BE79140EC9}" type="pres">
      <dgm:prSet presAssocID="{8A06FE94-4696-4E49-98F6-2E1250DD8BCE}" presName="spaceRect" presStyleCnt="0"/>
      <dgm:spPr/>
    </dgm:pt>
    <dgm:pt modelId="{8D0AC55C-4B41-4541-BC93-ADAD668CDC0E}" type="pres">
      <dgm:prSet presAssocID="{8A06FE94-4696-4E49-98F6-2E1250DD8BCE}" presName="textRect" presStyleLbl="revTx" presStyleIdx="1" presStyleCnt="4">
        <dgm:presLayoutVars>
          <dgm:chMax val="1"/>
          <dgm:chPref val="1"/>
        </dgm:presLayoutVars>
      </dgm:prSet>
      <dgm:spPr/>
    </dgm:pt>
    <dgm:pt modelId="{2C2068C0-DC0E-46FB-B8BA-8320A0D6A957}" type="pres">
      <dgm:prSet presAssocID="{D64A7696-C7E6-4288-9975-481D70E4FF38}" presName="sibTrans" presStyleLbl="sibTrans2D1" presStyleIdx="0" presStyleCnt="0"/>
      <dgm:spPr/>
    </dgm:pt>
    <dgm:pt modelId="{15F2A9C7-7421-4382-8E1F-C788E5C2BC5A}" type="pres">
      <dgm:prSet presAssocID="{94AE61C4-38E1-4B26-AE52-97872C9B58F6}" presName="compNode" presStyleCnt="0"/>
      <dgm:spPr/>
    </dgm:pt>
    <dgm:pt modelId="{B786E295-5298-49F6-95AC-D1B2EB01796C}" type="pres">
      <dgm:prSet presAssocID="{94AE61C4-38E1-4B26-AE52-97872C9B58F6}" presName="iconBgRect" presStyleLbl="bgShp" presStyleIdx="2" presStyleCnt="4"/>
      <dgm:spPr/>
    </dgm:pt>
    <dgm:pt modelId="{148FDC9A-0819-41C2-843E-1589B3EF0D80}" type="pres">
      <dgm:prSet presAssocID="{94AE61C4-38E1-4B26-AE52-97872C9B58F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hopping basket"/>
        </a:ext>
      </dgm:extLst>
    </dgm:pt>
    <dgm:pt modelId="{087BBEE5-7F9E-42D2-8A0B-4020E21425FD}" type="pres">
      <dgm:prSet presAssocID="{94AE61C4-38E1-4B26-AE52-97872C9B58F6}" presName="spaceRect" presStyleCnt="0"/>
      <dgm:spPr/>
    </dgm:pt>
    <dgm:pt modelId="{7F9293A5-7C89-42E6-ABEE-87C1413FD87D}" type="pres">
      <dgm:prSet presAssocID="{94AE61C4-38E1-4B26-AE52-97872C9B58F6}" presName="textRect" presStyleLbl="revTx" presStyleIdx="2" presStyleCnt="4">
        <dgm:presLayoutVars>
          <dgm:chMax val="1"/>
          <dgm:chPref val="1"/>
        </dgm:presLayoutVars>
      </dgm:prSet>
      <dgm:spPr/>
    </dgm:pt>
    <dgm:pt modelId="{B4E59D4B-DC74-4FEF-8E06-426872714507}" type="pres">
      <dgm:prSet presAssocID="{7781C975-24F2-40D3-A5F2-5E636702759F}" presName="sibTrans" presStyleLbl="sibTrans2D1" presStyleIdx="0" presStyleCnt="0"/>
      <dgm:spPr/>
    </dgm:pt>
    <dgm:pt modelId="{9C14FCF7-B7B9-4CDD-9F7F-EEB527258D24}" type="pres">
      <dgm:prSet presAssocID="{94315B6F-4FD0-41CA-8EC1-713DB40B2F14}" presName="compNode" presStyleCnt="0"/>
      <dgm:spPr/>
    </dgm:pt>
    <dgm:pt modelId="{D4FE11D8-7BB4-4523-82E4-76F2800EE6F8}" type="pres">
      <dgm:prSet presAssocID="{94315B6F-4FD0-41CA-8EC1-713DB40B2F14}" presName="iconBgRect" presStyleLbl="bgShp" presStyleIdx="3" presStyleCnt="4"/>
      <dgm:spPr/>
    </dgm:pt>
    <dgm:pt modelId="{A683EAA7-A659-4920-8932-26272FBA666D}" type="pres">
      <dgm:prSet presAssocID="{94315B6F-4FD0-41CA-8EC1-713DB40B2F1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hopping cart"/>
        </a:ext>
      </dgm:extLst>
    </dgm:pt>
    <dgm:pt modelId="{EB3EDA15-0C26-4250-8496-B255EF5AC4DD}" type="pres">
      <dgm:prSet presAssocID="{94315B6F-4FD0-41CA-8EC1-713DB40B2F14}" presName="spaceRect" presStyleCnt="0"/>
      <dgm:spPr/>
    </dgm:pt>
    <dgm:pt modelId="{9F18EA2B-2C58-4CF0-8FBE-25A62B3D1893}" type="pres">
      <dgm:prSet presAssocID="{94315B6F-4FD0-41CA-8EC1-713DB40B2F14}" presName="textRect" presStyleLbl="revTx" presStyleIdx="3" presStyleCnt="4">
        <dgm:presLayoutVars>
          <dgm:chMax val="1"/>
          <dgm:chPref val="1"/>
        </dgm:presLayoutVars>
      </dgm:prSet>
      <dgm:spPr/>
    </dgm:pt>
  </dgm:ptLst>
  <dgm:cxnLst>
    <dgm:cxn modelId="{E55E7F08-78AD-40A7-8E41-25550E3EE839}" type="presOf" srcId="{D64A7696-C7E6-4288-9975-481D70E4FF38}" destId="{2C2068C0-DC0E-46FB-B8BA-8320A0D6A957}" srcOrd="0" destOrd="0" presId="urn:microsoft.com/office/officeart/2018/2/layout/IconCircleList"/>
    <dgm:cxn modelId="{34EEBE15-A98A-4CCA-BECE-CE2740B2FCA3}" type="presOf" srcId="{8A06FE94-4696-4E49-98F6-2E1250DD8BCE}" destId="{8D0AC55C-4B41-4541-BC93-ADAD668CDC0E}" srcOrd="0" destOrd="0" presId="urn:microsoft.com/office/officeart/2018/2/layout/IconCircleList"/>
    <dgm:cxn modelId="{C489703D-3241-423F-890A-B4CB2D21D0FB}" type="presOf" srcId="{CBFB6913-D530-4AC4-AB5E-9DD0FA74C64C}" destId="{93E29458-8699-4B6F-B041-A3A40F75DC1A}" srcOrd="0" destOrd="0" presId="urn:microsoft.com/office/officeart/2018/2/layout/IconCircleList"/>
    <dgm:cxn modelId="{E53F725C-ACC5-4733-851D-BA21E7138DDA}" srcId="{B1507A88-9B1D-439A-91E1-5EB07D784DCF}" destId="{94AE61C4-38E1-4B26-AE52-97872C9B58F6}" srcOrd="2" destOrd="0" parTransId="{388A7858-D4C9-4D6A-B82B-8DBB8F29316D}" sibTransId="{7781C975-24F2-40D3-A5F2-5E636702759F}"/>
    <dgm:cxn modelId="{AFAFED77-7E5E-4B01-BBB9-09191128EEBB}" type="presOf" srcId="{94AE61C4-38E1-4B26-AE52-97872C9B58F6}" destId="{7F9293A5-7C89-42E6-ABEE-87C1413FD87D}" srcOrd="0" destOrd="0" presId="urn:microsoft.com/office/officeart/2018/2/layout/IconCircleList"/>
    <dgm:cxn modelId="{49C41194-E2A3-43F3-97A2-D9F1DF3AAF73}" srcId="{B1507A88-9B1D-439A-91E1-5EB07D784DCF}" destId="{94315B6F-4FD0-41CA-8EC1-713DB40B2F14}" srcOrd="3" destOrd="0" parTransId="{9692391F-F004-43B6-A979-B140BE312D78}" sibTransId="{8435A2AA-4A66-47C3-B711-73E5D1C74836}"/>
    <dgm:cxn modelId="{895CE2C5-80C6-40A2-89DE-7842EEC54362}" type="presOf" srcId="{B1507A88-9B1D-439A-91E1-5EB07D784DCF}" destId="{63BC055C-E546-4107-94ED-C802328D5FE2}" srcOrd="0" destOrd="0" presId="urn:microsoft.com/office/officeart/2018/2/layout/IconCircleList"/>
    <dgm:cxn modelId="{8B83F1CE-9FF4-43FF-AE67-EAF4A7029E03}" type="presOf" srcId="{7781C975-24F2-40D3-A5F2-5E636702759F}" destId="{B4E59D4B-DC74-4FEF-8E06-426872714507}" srcOrd="0" destOrd="0" presId="urn:microsoft.com/office/officeart/2018/2/layout/IconCircleList"/>
    <dgm:cxn modelId="{28DB25D0-46B2-482C-B9D5-CE3DDE1563E3}" srcId="{B1507A88-9B1D-439A-91E1-5EB07D784DCF}" destId="{A67F0A35-824B-4CA4-B022-A34CEC103A9A}" srcOrd="0" destOrd="0" parTransId="{EB77997C-14A1-4544-940F-19C86B912B46}" sibTransId="{CBFB6913-D530-4AC4-AB5E-9DD0FA74C64C}"/>
    <dgm:cxn modelId="{2A55FED3-724F-4AEF-AFB3-F944D1A48EA4}" type="presOf" srcId="{94315B6F-4FD0-41CA-8EC1-713DB40B2F14}" destId="{9F18EA2B-2C58-4CF0-8FBE-25A62B3D1893}" srcOrd="0" destOrd="0" presId="urn:microsoft.com/office/officeart/2018/2/layout/IconCircleList"/>
    <dgm:cxn modelId="{927F38D6-7B62-49B5-9081-6CD02094C84C}" srcId="{B1507A88-9B1D-439A-91E1-5EB07D784DCF}" destId="{8A06FE94-4696-4E49-98F6-2E1250DD8BCE}" srcOrd="1" destOrd="0" parTransId="{9C7701D5-0DCA-4E76-9C91-2BA191CA0D91}" sibTransId="{D64A7696-C7E6-4288-9975-481D70E4FF38}"/>
    <dgm:cxn modelId="{BE8332F1-E8F6-412A-9717-87201004F82D}" type="presOf" srcId="{A67F0A35-824B-4CA4-B022-A34CEC103A9A}" destId="{5C7B6E1D-A38D-4A00-87D1-39B229ED52C2}" srcOrd="0" destOrd="0" presId="urn:microsoft.com/office/officeart/2018/2/layout/IconCircleList"/>
    <dgm:cxn modelId="{C60F0F15-77CC-4F6F-A19C-D5C8E0C6082A}" type="presParOf" srcId="{63BC055C-E546-4107-94ED-C802328D5FE2}" destId="{A3DADAE4-152C-499A-9BD7-E6AEF26975A7}" srcOrd="0" destOrd="0" presId="urn:microsoft.com/office/officeart/2018/2/layout/IconCircleList"/>
    <dgm:cxn modelId="{3DB477F7-FA66-4D54-8AC6-E24C43871C53}" type="presParOf" srcId="{A3DADAE4-152C-499A-9BD7-E6AEF26975A7}" destId="{9810C023-7383-4C0F-B287-1B220FA7A6E0}" srcOrd="0" destOrd="0" presId="urn:microsoft.com/office/officeart/2018/2/layout/IconCircleList"/>
    <dgm:cxn modelId="{040C10BB-B06D-4FC7-BF9E-5B0C8785D2B0}" type="presParOf" srcId="{9810C023-7383-4C0F-B287-1B220FA7A6E0}" destId="{AED92A62-308B-4041-8C3F-9659DEB972C7}" srcOrd="0" destOrd="0" presId="urn:microsoft.com/office/officeart/2018/2/layout/IconCircleList"/>
    <dgm:cxn modelId="{937464F5-5657-4A17-A525-B52770BCAE2C}" type="presParOf" srcId="{9810C023-7383-4C0F-B287-1B220FA7A6E0}" destId="{3365B662-124C-45AE-88FA-9789178E5533}" srcOrd="1" destOrd="0" presId="urn:microsoft.com/office/officeart/2018/2/layout/IconCircleList"/>
    <dgm:cxn modelId="{99E61312-1DDD-446D-A83F-7139C6B81021}" type="presParOf" srcId="{9810C023-7383-4C0F-B287-1B220FA7A6E0}" destId="{120120F4-EC2D-45D3-A86A-278BAF65C394}" srcOrd="2" destOrd="0" presId="urn:microsoft.com/office/officeart/2018/2/layout/IconCircleList"/>
    <dgm:cxn modelId="{A3522803-68DB-40F6-9BBA-F8976518665A}" type="presParOf" srcId="{9810C023-7383-4C0F-B287-1B220FA7A6E0}" destId="{5C7B6E1D-A38D-4A00-87D1-39B229ED52C2}" srcOrd="3" destOrd="0" presId="urn:microsoft.com/office/officeart/2018/2/layout/IconCircleList"/>
    <dgm:cxn modelId="{E43ABC3B-3F51-4143-B308-F0020EE628B1}" type="presParOf" srcId="{A3DADAE4-152C-499A-9BD7-E6AEF26975A7}" destId="{93E29458-8699-4B6F-B041-A3A40F75DC1A}" srcOrd="1" destOrd="0" presId="urn:microsoft.com/office/officeart/2018/2/layout/IconCircleList"/>
    <dgm:cxn modelId="{9E5ACDD4-7522-47E8-A241-9BE3D3783CE6}" type="presParOf" srcId="{A3DADAE4-152C-499A-9BD7-E6AEF26975A7}" destId="{69E03982-8997-4252-ABB9-588A864FAEE2}" srcOrd="2" destOrd="0" presId="urn:microsoft.com/office/officeart/2018/2/layout/IconCircleList"/>
    <dgm:cxn modelId="{206F7BA5-C124-4533-9659-372F30F9ADE8}" type="presParOf" srcId="{69E03982-8997-4252-ABB9-588A864FAEE2}" destId="{207DDF6B-57DB-4885-BD2E-FBEB4BA59AB1}" srcOrd="0" destOrd="0" presId="urn:microsoft.com/office/officeart/2018/2/layout/IconCircleList"/>
    <dgm:cxn modelId="{7286CD90-0C19-4391-84C0-75C21AEA2266}" type="presParOf" srcId="{69E03982-8997-4252-ABB9-588A864FAEE2}" destId="{F2F58766-4605-4A9D-9407-E22E9A5BCF57}" srcOrd="1" destOrd="0" presId="urn:microsoft.com/office/officeart/2018/2/layout/IconCircleList"/>
    <dgm:cxn modelId="{5196A472-5DED-41CF-BDDE-449DF9066329}" type="presParOf" srcId="{69E03982-8997-4252-ABB9-588A864FAEE2}" destId="{AB0CAD85-D0FF-491D-A14D-F5BE79140EC9}" srcOrd="2" destOrd="0" presId="urn:microsoft.com/office/officeart/2018/2/layout/IconCircleList"/>
    <dgm:cxn modelId="{A17A98A6-93C7-424B-8C69-5209B710F1E2}" type="presParOf" srcId="{69E03982-8997-4252-ABB9-588A864FAEE2}" destId="{8D0AC55C-4B41-4541-BC93-ADAD668CDC0E}" srcOrd="3" destOrd="0" presId="urn:microsoft.com/office/officeart/2018/2/layout/IconCircleList"/>
    <dgm:cxn modelId="{DB9BD365-414E-4F42-80AD-9C29543CFB93}" type="presParOf" srcId="{A3DADAE4-152C-499A-9BD7-E6AEF26975A7}" destId="{2C2068C0-DC0E-46FB-B8BA-8320A0D6A957}" srcOrd="3" destOrd="0" presId="urn:microsoft.com/office/officeart/2018/2/layout/IconCircleList"/>
    <dgm:cxn modelId="{63AA0CC0-8210-495F-995D-AE143ACA0E57}" type="presParOf" srcId="{A3DADAE4-152C-499A-9BD7-E6AEF26975A7}" destId="{15F2A9C7-7421-4382-8E1F-C788E5C2BC5A}" srcOrd="4" destOrd="0" presId="urn:microsoft.com/office/officeart/2018/2/layout/IconCircleList"/>
    <dgm:cxn modelId="{65C4A908-95F0-4CEB-B88F-AAC2275382FE}" type="presParOf" srcId="{15F2A9C7-7421-4382-8E1F-C788E5C2BC5A}" destId="{B786E295-5298-49F6-95AC-D1B2EB01796C}" srcOrd="0" destOrd="0" presId="urn:microsoft.com/office/officeart/2018/2/layout/IconCircleList"/>
    <dgm:cxn modelId="{64C82078-A4D3-4A57-9649-2F57BCD5054F}" type="presParOf" srcId="{15F2A9C7-7421-4382-8E1F-C788E5C2BC5A}" destId="{148FDC9A-0819-41C2-843E-1589B3EF0D80}" srcOrd="1" destOrd="0" presId="urn:microsoft.com/office/officeart/2018/2/layout/IconCircleList"/>
    <dgm:cxn modelId="{96C34EEE-94FF-4210-80B6-29CB5D7BCE10}" type="presParOf" srcId="{15F2A9C7-7421-4382-8E1F-C788E5C2BC5A}" destId="{087BBEE5-7F9E-42D2-8A0B-4020E21425FD}" srcOrd="2" destOrd="0" presId="urn:microsoft.com/office/officeart/2018/2/layout/IconCircleList"/>
    <dgm:cxn modelId="{114EDA73-7A51-49BC-B2A4-CC877D59A26F}" type="presParOf" srcId="{15F2A9C7-7421-4382-8E1F-C788E5C2BC5A}" destId="{7F9293A5-7C89-42E6-ABEE-87C1413FD87D}" srcOrd="3" destOrd="0" presId="urn:microsoft.com/office/officeart/2018/2/layout/IconCircleList"/>
    <dgm:cxn modelId="{337BCD53-5680-4ECD-88E0-AE15900AB3B4}" type="presParOf" srcId="{A3DADAE4-152C-499A-9BD7-E6AEF26975A7}" destId="{B4E59D4B-DC74-4FEF-8E06-426872714507}" srcOrd="5" destOrd="0" presId="urn:microsoft.com/office/officeart/2018/2/layout/IconCircleList"/>
    <dgm:cxn modelId="{3387C9B4-EBAE-4EDC-B499-D1314B02767E}" type="presParOf" srcId="{A3DADAE4-152C-499A-9BD7-E6AEF26975A7}" destId="{9C14FCF7-B7B9-4CDD-9F7F-EEB527258D24}" srcOrd="6" destOrd="0" presId="urn:microsoft.com/office/officeart/2018/2/layout/IconCircleList"/>
    <dgm:cxn modelId="{667571FD-2416-4D67-AEE5-868A63775F89}" type="presParOf" srcId="{9C14FCF7-B7B9-4CDD-9F7F-EEB527258D24}" destId="{D4FE11D8-7BB4-4523-82E4-76F2800EE6F8}" srcOrd="0" destOrd="0" presId="urn:microsoft.com/office/officeart/2018/2/layout/IconCircleList"/>
    <dgm:cxn modelId="{1F917E56-2668-4EF5-A998-8F341207783A}" type="presParOf" srcId="{9C14FCF7-B7B9-4CDD-9F7F-EEB527258D24}" destId="{A683EAA7-A659-4920-8932-26272FBA666D}" srcOrd="1" destOrd="0" presId="urn:microsoft.com/office/officeart/2018/2/layout/IconCircleList"/>
    <dgm:cxn modelId="{5E8CB449-E461-4380-8B7B-65D7359FA5F7}" type="presParOf" srcId="{9C14FCF7-B7B9-4CDD-9F7F-EEB527258D24}" destId="{EB3EDA15-0C26-4250-8496-B255EF5AC4DD}" srcOrd="2" destOrd="0" presId="urn:microsoft.com/office/officeart/2018/2/layout/IconCircleList"/>
    <dgm:cxn modelId="{C49C16D1-6FB7-4F20-8EE6-5524C15800F0}" type="presParOf" srcId="{9C14FCF7-B7B9-4CDD-9F7F-EEB527258D24}" destId="{9F18EA2B-2C58-4CF0-8FBE-25A62B3D1893}"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05E6D3-B2CD-4099-AF29-1F63680FB2D9}">
      <dsp:nvSpPr>
        <dsp:cNvPr id="0" name=""/>
        <dsp:cNvSpPr/>
      </dsp:nvSpPr>
      <dsp:spPr>
        <a:xfrm>
          <a:off x="819983" y="2124"/>
          <a:ext cx="2868885" cy="1721331"/>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Basket</a:t>
          </a:r>
          <a:endParaRPr lang="en-US" sz="3000" kern="1200"/>
        </a:p>
      </dsp:txBody>
      <dsp:txXfrm>
        <a:off x="819983" y="2124"/>
        <a:ext cx="2868885" cy="1721331"/>
      </dsp:txXfrm>
    </dsp:sp>
    <dsp:sp modelId="{C2073882-FE2E-4D34-B2BA-380B942BE66D}">
      <dsp:nvSpPr>
        <dsp:cNvPr id="0" name=""/>
        <dsp:cNvSpPr/>
      </dsp:nvSpPr>
      <dsp:spPr>
        <a:xfrm>
          <a:off x="3975757" y="2124"/>
          <a:ext cx="2868885" cy="1721331"/>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BasketProducts</a:t>
          </a:r>
          <a:endParaRPr lang="en-US" sz="3000" kern="1200"/>
        </a:p>
      </dsp:txBody>
      <dsp:txXfrm>
        <a:off x="3975757" y="2124"/>
        <a:ext cx="2868885" cy="1721331"/>
      </dsp:txXfrm>
    </dsp:sp>
    <dsp:sp modelId="{94015B10-4ABC-4A28-9436-7CAD48E5C249}">
      <dsp:nvSpPr>
        <dsp:cNvPr id="0" name=""/>
        <dsp:cNvSpPr/>
      </dsp:nvSpPr>
      <dsp:spPr>
        <a:xfrm>
          <a:off x="7131531" y="2124"/>
          <a:ext cx="2868885" cy="172133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OrderProducts</a:t>
          </a:r>
          <a:endParaRPr lang="en-US" sz="3000" kern="1200"/>
        </a:p>
      </dsp:txBody>
      <dsp:txXfrm>
        <a:off x="7131531" y="2124"/>
        <a:ext cx="2868885" cy="1721331"/>
      </dsp:txXfrm>
    </dsp:sp>
    <dsp:sp modelId="{FA9DB355-2924-4A26-8A97-DC9555F5E57B}">
      <dsp:nvSpPr>
        <dsp:cNvPr id="0" name=""/>
        <dsp:cNvSpPr/>
      </dsp:nvSpPr>
      <dsp:spPr>
        <a:xfrm>
          <a:off x="819983" y="2010343"/>
          <a:ext cx="2868885" cy="1721331"/>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Orders</a:t>
          </a:r>
          <a:endParaRPr lang="en-US" sz="3000" kern="1200"/>
        </a:p>
      </dsp:txBody>
      <dsp:txXfrm>
        <a:off x="819983" y="2010343"/>
        <a:ext cx="2868885" cy="1721331"/>
      </dsp:txXfrm>
    </dsp:sp>
    <dsp:sp modelId="{E5EA3458-B986-46F8-885B-75AF0EB20137}">
      <dsp:nvSpPr>
        <dsp:cNvPr id="0" name=""/>
        <dsp:cNvSpPr/>
      </dsp:nvSpPr>
      <dsp:spPr>
        <a:xfrm>
          <a:off x="3975757" y="2010343"/>
          <a:ext cx="2868885" cy="172133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Products</a:t>
          </a:r>
          <a:endParaRPr lang="en-US" sz="3000" kern="1200"/>
        </a:p>
      </dsp:txBody>
      <dsp:txXfrm>
        <a:off x="3975757" y="2010343"/>
        <a:ext cx="2868885" cy="1721331"/>
      </dsp:txXfrm>
    </dsp:sp>
    <dsp:sp modelId="{E081C2BE-9D02-4056-8BDA-22A54EE69D20}">
      <dsp:nvSpPr>
        <dsp:cNvPr id="0" name=""/>
        <dsp:cNvSpPr/>
      </dsp:nvSpPr>
      <dsp:spPr>
        <a:xfrm>
          <a:off x="7131531" y="2010343"/>
          <a:ext cx="2868885" cy="1721331"/>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Suppliers</a:t>
          </a:r>
          <a:endParaRPr lang="en-US" sz="3000" kern="1200"/>
        </a:p>
      </dsp:txBody>
      <dsp:txXfrm>
        <a:off x="7131531" y="2010343"/>
        <a:ext cx="2868885" cy="172133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92A62-308B-4041-8C3F-9659DEB972C7}">
      <dsp:nvSpPr>
        <dsp:cNvPr id="0" name=""/>
        <dsp:cNvSpPr/>
      </dsp:nvSpPr>
      <dsp:spPr>
        <a:xfrm>
          <a:off x="282221" y="368029"/>
          <a:ext cx="1371985" cy="137198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365B662-124C-45AE-88FA-9789178E5533}">
      <dsp:nvSpPr>
        <dsp:cNvPr id="0" name=""/>
        <dsp:cNvSpPr/>
      </dsp:nvSpPr>
      <dsp:spPr>
        <a:xfrm>
          <a:off x="570337" y="656145"/>
          <a:ext cx="795751" cy="79575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7B6E1D-A38D-4A00-87D1-39B229ED52C2}">
      <dsp:nvSpPr>
        <dsp:cNvPr id="0" name=""/>
        <dsp:cNvSpPr/>
      </dsp:nvSpPr>
      <dsp:spPr>
        <a:xfrm>
          <a:off x="1948202"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a:t>Needs to be next to each product</a:t>
          </a:r>
          <a:endParaRPr lang="en-US" sz="2400" kern="1200"/>
        </a:p>
      </dsp:txBody>
      <dsp:txXfrm>
        <a:off x="1948202" y="368029"/>
        <a:ext cx="3233964" cy="1371985"/>
      </dsp:txXfrm>
    </dsp:sp>
    <dsp:sp modelId="{207DDF6B-57DB-4885-BD2E-FBEB4BA59AB1}">
      <dsp:nvSpPr>
        <dsp:cNvPr id="0" name=""/>
        <dsp:cNvSpPr/>
      </dsp:nvSpPr>
      <dsp:spPr>
        <a:xfrm>
          <a:off x="5745661" y="368029"/>
          <a:ext cx="1371985" cy="137198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2F58766-4605-4A9D-9407-E22E9A5BCF57}">
      <dsp:nvSpPr>
        <dsp:cNvPr id="0" name=""/>
        <dsp:cNvSpPr/>
      </dsp:nvSpPr>
      <dsp:spPr>
        <a:xfrm>
          <a:off x="6033778" y="656145"/>
          <a:ext cx="795751" cy="79575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0AC55C-4B41-4541-BC93-ADAD668CDC0E}">
      <dsp:nvSpPr>
        <dsp:cNvPr id="0" name=""/>
        <dsp:cNvSpPr/>
      </dsp:nvSpPr>
      <dsp:spPr>
        <a:xfrm>
          <a:off x="7411643" y="368029"/>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dirty="0"/>
            <a:t>When run, needs to send </a:t>
          </a:r>
          <a:r>
            <a:rPr lang="en-GB" sz="2400" kern="1200">
              <a:latin typeface="Aptos Display" panose="020F0302020204030204"/>
            </a:rPr>
            <a:t>and</a:t>
          </a:r>
          <a:r>
            <a:rPr lang="en-GB" sz="2400" kern="1200" dirty="0"/>
            <a:t> post that products data through to the basket</a:t>
          </a:r>
          <a:endParaRPr lang="en-US" sz="2400" kern="1200" dirty="0"/>
        </a:p>
      </dsp:txBody>
      <dsp:txXfrm>
        <a:off x="7411643" y="368029"/>
        <a:ext cx="3233964" cy="1371985"/>
      </dsp:txXfrm>
    </dsp:sp>
    <dsp:sp modelId="{B786E295-5298-49F6-95AC-D1B2EB01796C}">
      <dsp:nvSpPr>
        <dsp:cNvPr id="0" name=""/>
        <dsp:cNvSpPr/>
      </dsp:nvSpPr>
      <dsp:spPr>
        <a:xfrm>
          <a:off x="282221" y="2452790"/>
          <a:ext cx="1371985" cy="137198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48FDC9A-0819-41C2-843E-1589B3EF0D80}">
      <dsp:nvSpPr>
        <dsp:cNvPr id="0" name=""/>
        <dsp:cNvSpPr/>
      </dsp:nvSpPr>
      <dsp:spPr>
        <a:xfrm>
          <a:off x="570337" y="2740907"/>
          <a:ext cx="795751" cy="79575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9293A5-7C89-42E6-ABEE-87C1413FD87D}">
      <dsp:nvSpPr>
        <dsp:cNvPr id="0" name=""/>
        <dsp:cNvSpPr/>
      </dsp:nvSpPr>
      <dsp:spPr>
        <a:xfrm>
          <a:off x="1948202"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dirty="0"/>
            <a:t>If no basket exists for that currently logged in user then create a new basket</a:t>
          </a:r>
          <a:endParaRPr lang="en-US" sz="2400" kern="1200" dirty="0"/>
        </a:p>
      </dsp:txBody>
      <dsp:txXfrm>
        <a:off x="1948202" y="2452790"/>
        <a:ext cx="3233964" cy="1371985"/>
      </dsp:txXfrm>
    </dsp:sp>
    <dsp:sp modelId="{D4FE11D8-7BB4-4523-82E4-76F2800EE6F8}">
      <dsp:nvSpPr>
        <dsp:cNvPr id="0" name=""/>
        <dsp:cNvSpPr/>
      </dsp:nvSpPr>
      <dsp:spPr>
        <a:xfrm>
          <a:off x="5745661" y="2452790"/>
          <a:ext cx="1371985" cy="1371985"/>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83EAA7-A659-4920-8932-26272FBA666D}">
      <dsp:nvSpPr>
        <dsp:cNvPr id="0" name=""/>
        <dsp:cNvSpPr/>
      </dsp:nvSpPr>
      <dsp:spPr>
        <a:xfrm>
          <a:off x="6033778" y="2740907"/>
          <a:ext cx="795751" cy="795751"/>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F18EA2B-2C58-4CF0-8FBE-25A62B3D1893}">
      <dsp:nvSpPr>
        <dsp:cNvPr id="0" name=""/>
        <dsp:cNvSpPr/>
      </dsp:nvSpPr>
      <dsp:spPr>
        <a:xfrm>
          <a:off x="7411643" y="2452790"/>
          <a:ext cx="3233964" cy="13719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066800">
            <a:lnSpc>
              <a:spcPct val="90000"/>
            </a:lnSpc>
            <a:spcBef>
              <a:spcPct val="0"/>
            </a:spcBef>
            <a:spcAft>
              <a:spcPct val="35000"/>
            </a:spcAft>
            <a:buNone/>
          </a:pPr>
          <a:r>
            <a:rPr lang="en-GB" sz="2400" kern="1200"/>
            <a:t>Redirects them to the basket page to see their items</a:t>
          </a:r>
          <a:endParaRPr lang="en-US" sz="2400" kern="1200"/>
        </a:p>
      </dsp:txBody>
      <dsp:txXfrm>
        <a:off x="7411643" y="2452790"/>
        <a:ext cx="3233964" cy="1371985"/>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13/04/2026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0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25.png"/><Relationship Id="rId1" Type="http://schemas.openxmlformats.org/officeDocument/2006/relationships/slideLayout" Target="../slideLayouts/slideLayout2.xml"/><Relationship Id="rId4" Type="http://schemas.openxmlformats.org/officeDocument/2006/relationships/image" Target="../media/image127.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descr="Box Packages">
            <a:extLst>
              <a:ext uri="{FF2B5EF4-FFF2-40B4-BE49-F238E27FC236}">
                <a16:creationId xmlns:a16="http://schemas.microsoft.com/office/drawing/2014/main" id="{06BD873D-A4CF-760A-ADB8-64B3CE88943C}"/>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r="6250" b="6250"/>
          <a:stretch>
            <a:fillRect/>
          </a:stretch>
        </p:blipFill>
        <p:spPr>
          <a:xfrm>
            <a:off x="-3047" y="10"/>
            <a:ext cx="12191999" cy="6857990"/>
          </a:xfrm>
          <a:prstGeom prst="rect">
            <a:avLst/>
          </a:prstGeom>
        </p:spPr>
      </p:pic>
      <p:sp>
        <p:nvSpPr>
          <p:cNvPr id="25" name="Rectangle 24">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97280" y="325550"/>
            <a:ext cx="10058400" cy="3574778"/>
          </a:xfrm>
          <a:effectLst>
            <a:outerShdw blurRad="50800" dist="38100" dir="2700000" algn="tl" rotWithShape="0">
              <a:prstClr val="black">
                <a:alpha val="40000"/>
              </a:prstClr>
            </a:outerShdw>
          </a:effectLst>
        </p:spPr>
        <p:txBody>
          <a:bodyPr>
            <a:normAutofit/>
          </a:bodyPr>
          <a:lstStyle/>
          <a:p>
            <a:r>
              <a:rPr lang="en-GB" sz="5200">
                <a:solidFill>
                  <a:srgbClr val="FFFFFF"/>
                </a:solidFill>
              </a:rPr>
              <a:t>Building an E-Commerce System</a:t>
            </a:r>
          </a:p>
        </p:txBody>
      </p:sp>
      <p:sp>
        <p:nvSpPr>
          <p:cNvPr id="3" name="Subtitle 2"/>
          <p:cNvSpPr>
            <a:spLocks noGrp="1"/>
          </p:cNvSpPr>
          <p:nvPr>
            <p:ph type="subTitle"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r>
              <a:rPr lang="en-GB">
                <a:solidFill>
                  <a:srgbClr val="FFFFFF"/>
                </a:solidFill>
              </a:rPr>
              <a:t>Muhammed</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4D90BF1-97FC-6E45-80F9-C807C36122CC}"/>
              </a:ext>
            </a:extLst>
          </p:cNvPr>
          <p:cNvSpPr>
            <a:spLocks noGrp="1"/>
          </p:cNvSpPr>
          <p:nvPr>
            <p:ph type="title"/>
          </p:nvPr>
        </p:nvSpPr>
        <p:spPr>
          <a:xfrm>
            <a:off x="838200" y="1412488"/>
            <a:ext cx="2899189" cy="4363844"/>
          </a:xfrm>
        </p:spPr>
        <p:txBody>
          <a:bodyPr vert="horz" lIns="91440" tIns="45720" rIns="91440" bIns="45720" rtlCol="0" anchor="t">
            <a:normAutofit/>
          </a:bodyPr>
          <a:lstStyle/>
          <a:p>
            <a:r>
              <a:rPr lang="en-US" sz="4000" kern="1200">
                <a:solidFill>
                  <a:srgbClr val="FFFFFF"/>
                </a:solidFill>
                <a:latin typeface="+mj-lt"/>
                <a:ea typeface="+mj-ea"/>
                <a:cs typeface="+mj-cs"/>
              </a:rPr>
              <a:t>In this PowerPoint</a:t>
            </a:r>
          </a:p>
        </p:txBody>
      </p:sp>
      <p:sp>
        <p:nvSpPr>
          <p:cNvPr id="3" name="Content Placeholder 2">
            <a:extLst>
              <a:ext uri="{FF2B5EF4-FFF2-40B4-BE49-F238E27FC236}">
                <a16:creationId xmlns:a16="http://schemas.microsoft.com/office/drawing/2014/main" id="{F1CEF68A-E29A-7877-DA01-AD0D5DE7D833}"/>
              </a:ext>
            </a:extLst>
          </p:cNvPr>
          <p:cNvSpPr>
            <a:spLocks noGrp="1"/>
          </p:cNvSpPr>
          <p:nvPr>
            <p:ph idx="1"/>
          </p:nvPr>
        </p:nvSpPr>
        <p:spPr>
          <a:xfrm>
            <a:off x="4380855" y="1248514"/>
            <a:ext cx="3427283" cy="4363844"/>
          </a:xfrm>
        </p:spPr>
        <p:txBody>
          <a:bodyPr vert="horz" lIns="91440" tIns="45720" rIns="91440" bIns="45720" rtlCol="0" anchor="t">
            <a:noAutofit/>
          </a:bodyPr>
          <a:lstStyle/>
          <a:p>
            <a:r>
              <a:rPr lang="en-US" sz="2000"/>
              <a:t>Creating the Initial Project</a:t>
            </a:r>
            <a:endParaRPr lang="en-US" sz="2000" dirty="0"/>
          </a:p>
          <a:p>
            <a:endParaRPr lang="en-US" sz="2000" dirty="0"/>
          </a:p>
          <a:p>
            <a:r>
              <a:rPr lang="en-US" sz="2000"/>
              <a:t>Creating Models</a:t>
            </a:r>
            <a:endParaRPr lang="en-US" sz="2000" dirty="0"/>
          </a:p>
          <a:p>
            <a:endParaRPr lang="en-US" sz="2000" dirty="0"/>
          </a:p>
          <a:p>
            <a:r>
              <a:rPr lang="en-US" sz="2000"/>
              <a:t>Scaffolding Models</a:t>
            </a:r>
            <a:endParaRPr lang="en-US" sz="2000" dirty="0"/>
          </a:p>
          <a:p>
            <a:endParaRPr lang="en-US" sz="2000" dirty="0"/>
          </a:p>
          <a:p>
            <a:r>
              <a:rPr lang="en-US" sz="2000"/>
              <a:t>Editing Controllers to be able to add an item to the basket</a:t>
            </a:r>
            <a:endParaRPr lang="en-US" sz="2000" dirty="0"/>
          </a:p>
          <a:p>
            <a:endParaRPr lang="en-US" sz="2000" dirty="0"/>
          </a:p>
          <a:p>
            <a:r>
              <a:rPr lang="en-US" sz="2000"/>
              <a:t>Checkout Process</a:t>
            </a:r>
            <a:endParaRPr lang="en-US" sz="2000" dirty="0"/>
          </a:p>
          <a:p>
            <a:endParaRPr lang="en-US" sz="2000" dirty="0"/>
          </a:p>
          <a:p>
            <a:r>
              <a:rPr lang="en-US" sz="2000"/>
              <a:t>Viewing Order History and Tracking Options</a:t>
            </a:r>
            <a:endParaRPr lang="en-US" sz="2000" dirty="0"/>
          </a:p>
          <a:p>
            <a:endParaRPr lang="en-US" sz="2000" dirty="0"/>
          </a:p>
          <a:p>
            <a:endParaRPr lang="en-US" sz="2000" dirty="0"/>
          </a:p>
          <a:p>
            <a:endParaRPr lang="en-US" sz="2000" dirty="0"/>
          </a:p>
          <a:p>
            <a:endParaRPr lang="en-US" sz="2000" dirty="0"/>
          </a:p>
          <a:p>
            <a:endParaRPr lang="en-US" sz="2000" dirty="0"/>
          </a:p>
        </p:txBody>
      </p:sp>
      <p:cxnSp>
        <p:nvCxnSpPr>
          <p:cNvPr id="14" name="Straight Connector 13">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2">
            <a:extLst>
              <a:ext uri="{FF2B5EF4-FFF2-40B4-BE49-F238E27FC236}">
                <a16:creationId xmlns:a16="http://schemas.microsoft.com/office/drawing/2014/main" id="{D8C5AA52-DC97-EEAA-F50C-C347B6B1F4D3}"/>
              </a:ext>
            </a:extLst>
          </p:cNvPr>
          <p:cNvSpPr txBox="1">
            <a:spLocks/>
          </p:cNvSpPr>
          <p:nvPr/>
        </p:nvSpPr>
        <p:spPr>
          <a:xfrm>
            <a:off x="8451604" y="1412489"/>
            <a:ext cx="3197701" cy="43638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a:t>Creating a Dashboard</a:t>
            </a:r>
          </a:p>
          <a:p>
            <a:pPr marL="0"/>
            <a:endParaRPr lang="en-US" sz="2000"/>
          </a:p>
          <a:p>
            <a:r>
              <a:rPr lang="en-US" sz="2000"/>
              <a:t>Linking External CSS</a:t>
            </a:r>
          </a:p>
          <a:p>
            <a:endParaRPr lang="en-US" sz="2000"/>
          </a:p>
          <a:p>
            <a:r>
              <a:rPr lang="en-US" sz="2000"/>
              <a:t>Authorisation</a:t>
            </a:r>
          </a:p>
          <a:p>
            <a:endParaRPr lang="en-US" sz="2000"/>
          </a:p>
          <a:p>
            <a:r>
              <a:rPr lang="en-US" sz="2000"/>
              <a:t>Seed Data</a:t>
            </a:r>
          </a:p>
          <a:p>
            <a:endParaRPr lang="en-US" sz="2000"/>
          </a:p>
          <a:p>
            <a:r>
              <a:rPr lang="en-US" sz="2000"/>
              <a:t>Gmail Login Integration</a:t>
            </a:r>
          </a:p>
          <a:p>
            <a:endParaRPr lang="en-US" sz="2000"/>
          </a:p>
          <a:p>
            <a:endParaRPr lang="en-US" sz="2000"/>
          </a:p>
          <a:p>
            <a:endParaRPr lang="en-US" sz="2000"/>
          </a:p>
          <a:p>
            <a:endParaRPr lang="en-US" sz="2000"/>
          </a:p>
          <a:p>
            <a:endParaRPr lang="en-US" sz="2000"/>
          </a:p>
          <a:p>
            <a:endParaRPr lang="en-US" sz="2000"/>
          </a:p>
        </p:txBody>
      </p:sp>
    </p:spTree>
    <p:extLst>
      <p:ext uri="{BB962C8B-B14F-4D97-AF65-F5344CB8AC3E}">
        <p14:creationId xmlns:p14="http://schemas.microsoft.com/office/powerpoint/2010/main" val="816219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BB057D50-C027-A7D6-8811-4998F534688A}"/>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Creating the </a:t>
            </a:r>
            <a:r>
              <a:rPr lang="en-US" sz="4800">
                <a:solidFill>
                  <a:srgbClr val="FFFFFF"/>
                </a:solidFill>
              </a:rPr>
              <a:t>Initial</a:t>
            </a:r>
            <a:r>
              <a:rPr lang="en-US" sz="4800" kern="1200" dirty="0">
                <a:solidFill>
                  <a:srgbClr val="FFFFFF"/>
                </a:solidFill>
                <a:latin typeface="+mj-lt"/>
                <a:ea typeface="+mj-ea"/>
                <a:cs typeface="+mj-cs"/>
              </a:rPr>
              <a:t> Project</a:t>
            </a:r>
          </a:p>
        </p:txBody>
      </p:sp>
    </p:spTree>
    <p:extLst>
      <p:ext uri="{BB962C8B-B14F-4D97-AF65-F5344CB8AC3E}">
        <p14:creationId xmlns:p14="http://schemas.microsoft.com/office/powerpoint/2010/main" val="7751523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E54B1C4-7152-87DF-E01E-9BFF6E882612}"/>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lang="en-US" sz="3800" kern="1200">
                <a:solidFill>
                  <a:schemeClr val="tx1"/>
                </a:solidFill>
                <a:latin typeface="+mj-lt"/>
                <a:ea typeface="+mj-ea"/>
                <a:cs typeface="+mj-cs"/>
              </a:rPr>
              <a:t>Open Visual Studio 2022 and select Create a new Project</a:t>
            </a: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3" descr="A screenshot of a computer&#10;&#10;AI-generated content may be incorrect.">
            <a:extLst>
              <a:ext uri="{FF2B5EF4-FFF2-40B4-BE49-F238E27FC236}">
                <a16:creationId xmlns:a16="http://schemas.microsoft.com/office/drawing/2014/main" id="{77A3C679-CED1-906C-C478-2E03CEB35BD3}"/>
              </a:ext>
            </a:extLst>
          </p:cNvPr>
          <p:cNvPicPr>
            <a:picLocks noChangeAspect="1"/>
          </p:cNvPicPr>
          <p:nvPr/>
        </p:nvPicPr>
        <p:blipFill>
          <a:blip r:embed="rId2"/>
          <a:stretch>
            <a:fillRect/>
          </a:stretch>
        </p:blipFill>
        <p:spPr>
          <a:xfrm>
            <a:off x="5922492" y="1718063"/>
            <a:ext cx="5536001" cy="3363120"/>
          </a:xfrm>
          <a:prstGeom prst="rect">
            <a:avLst/>
          </a:prstGeom>
        </p:spPr>
      </p:pic>
    </p:spTree>
    <p:extLst>
      <p:ext uri="{BB962C8B-B14F-4D97-AF65-F5344CB8AC3E}">
        <p14:creationId xmlns:p14="http://schemas.microsoft.com/office/powerpoint/2010/main" val="11461626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3000"/>
                <a:satMod val="150000"/>
                <a:shade val="98000"/>
                <a:lumMod val="102000"/>
              </a:schemeClr>
            </a:gs>
            <a:gs pos="50000">
              <a:schemeClr val="bg2">
                <a:tint val="98000"/>
                <a:satMod val="130000"/>
                <a:shade val="90000"/>
                <a:lumMod val="103000"/>
              </a:schemeClr>
            </a:gs>
            <a:gs pos="100000">
              <a:schemeClr val="bg2">
                <a:shade val="63000"/>
                <a:satMod val="120000"/>
              </a:schemeClr>
            </a:gs>
          </a:gsLst>
          <a:lin ang="5400000" scaled="0"/>
        </a:gradFill>
        <a:effectLst/>
      </p:bgPr>
    </p:bg>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AA24DE7-C336-4994-8C52-D9B3F3D0F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311" y="953311"/>
            <a:ext cx="10603149" cy="5263867"/>
          </a:xfrm>
          <a:prstGeom prst="roundRect">
            <a:avLst>
              <a:gd name="adj" fmla="val 1566"/>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6E42E0-F883-7616-FD5D-0FEA693C3E80}"/>
              </a:ext>
            </a:extLst>
          </p:cNvPr>
          <p:cNvSpPr>
            <a:spLocks noGrp="1"/>
          </p:cNvSpPr>
          <p:nvPr>
            <p:ph type="title"/>
          </p:nvPr>
        </p:nvSpPr>
        <p:spPr>
          <a:xfrm>
            <a:off x="640080" y="640080"/>
            <a:ext cx="2752354" cy="2709275"/>
          </a:xfrm>
          <a:prstGeom prst="rect">
            <a:avLst/>
          </a:prstGeom>
          <a:solidFill>
            <a:srgbClr val="465C73"/>
          </a:solidFill>
          <a:ln>
            <a:solidFill>
              <a:srgbClr val="465C73"/>
            </a:solidFill>
          </a:ln>
        </p:spPr>
        <p:txBody>
          <a:bodyPr vert="horz" lIns="91440" tIns="45720" rIns="91440" bIns="45720" rtlCol="0" anchor="ctr">
            <a:normAutofit/>
          </a:bodyPr>
          <a:lstStyle/>
          <a:p>
            <a:pPr algn="ctr"/>
            <a:r>
              <a:rPr lang="en-US" sz="2800" kern="1200" dirty="0">
                <a:solidFill>
                  <a:srgbClr val="FFFFFF"/>
                </a:solidFill>
                <a:latin typeface="+mj-lt"/>
                <a:ea typeface="+mj-ea"/>
                <a:cs typeface="+mj-cs"/>
              </a:rPr>
              <a:t>Select the </a:t>
            </a:r>
            <a:r>
              <a:rPr lang="en-US" sz="2800" kern="1200">
                <a:solidFill>
                  <a:srgbClr val="FFFFFF"/>
                </a:solidFill>
                <a:latin typeface="+mj-lt"/>
                <a:ea typeface="+mj-ea"/>
                <a:cs typeface="+mj-cs"/>
              </a:rPr>
              <a:t>ASP.</a:t>
            </a:r>
            <a:r>
              <a:rPr lang="en-US" sz="2800">
                <a:solidFill>
                  <a:srgbClr val="FFFFFF"/>
                </a:solidFill>
              </a:rPr>
              <a:t>NET </a:t>
            </a:r>
            <a:r>
              <a:rPr lang="en-US" sz="2800" dirty="0">
                <a:solidFill>
                  <a:srgbClr val="FFFFFF"/>
                </a:solidFill>
              </a:rPr>
              <a:t>Core</a:t>
            </a:r>
            <a:r>
              <a:rPr lang="en-US" sz="2800" kern="1200" dirty="0">
                <a:solidFill>
                  <a:srgbClr val="FFFFFF"/>
                </a:solidFill>
                <a:latin typeface="+mj-lt"/>
                <a:ea typeface="+mj-ea"/>
                <a:cs typeface="+mj-cs"/>
              </a:rPr>
              <a:t> Web App (Model-View-Controller) C#</a:t>
            </a:r>
          </a:p>
        </p:txBody>
      </p:sp>
      <p:pic>
        <p:nvPicPr>
          <p:cNvPr id="4" name="Content Placeholder 3" descr="A screenshot of a computer program&#10;&#10;AI-generated content may be incorrect.">
            <a:extLst>
              <a:ext uri="{FF2B5EF4-FFF2-40B4-BE49-F238E27FC236}">
                <a16:creationId xmlns:a16="http://schemas.microsoft.com/office/drawing/2014/main" id="{2D3AC437-CAE7-45D9-0F51-8649427D7BF9}"/>
              </a:ext>
            </a:extLst>
          </p:cNvPr>
          <p:cNvPicPr>
            <a:picLocks noGrp="1" noChangeAspect="1"/>
          </p:cNvPicPr>
          <p:nvPr>
            <p:ph idx="1"/>
          </p:nvPr>
        </p:nvPicPr>
        <p:blipFill>
          <a:blip r:embed="rId2"/>
          <a:stretch>
            <a:fillRect/>
          </a:stretch>
        </p:blipFill>
        <p:spPr>
          <a:xfrm>
            <a:off x="4252864" y="1596707"/>
            <a:ext cx="6519680" cy="3977003"/>
          </a:xfrm>
          <a:prstGeom prst="rect">
            <a:avLst/>
          </a:prstGeom>
        </p:spPr>
      </p:pic>
    </p:spTree>
    <p:extLst>
      <p:ext uri="{BB962C8B-B14F-4D97-AF65-F5344CB8AC3E}">
        <p14:creationId xmlns:p14="http://schemas.microsoft.com/office/powerpoint/2010/main" val="3360212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F090EF-80A1-3AE5-361D-B460378C8A51}"/>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Name the Project </a:t>
            </a:r>
          </a:p>
        </p:txBody>
      </p:sp>
      <p:pic>
        <p:nvPicPr>
          <p:cNvPr id="4" name="Content Placeholder 3" descr="A screenshot of a computer&#10;&#10;AI-generated content may be incorrect.">
            <a:extLst>
              <a:ext uri="{FF2B5EF4-FFF2-40B4-BE49-F238E27FC236}">
                <a16:creationId xmlns:a16="http://schemas.microsoft.com/office/drawing/2014/main" id="{4083F413-C1F6-6467-A55D-189482AEAE3A}"/>
              </a:ext>
            </a:extLst>
          </p:cNvPr>
          <p:cNvPicPr>
            <a:picLocks noGrp="1" noChangeAspect="1"/>
          </p:cNvPicPr>
          <p:nvPr>
            <p:ph idx="1"/>
          </p:nvPr>
        </p:nvPicPr>
        <p:blipFill>
          <a:blip r:embed="rId2"/>
          <a:stretch>
            <a:fillRect/>
          </a:stretch>
        </p:blipFill>
        <p:spPr>
          <a:xfrm>
            <a:off x="4777316" y="1385150"/>
            <a:ext cx="6780700" cy="4085371"/>
          </a:xfrm>
          <a:prstGeom prst="rect">
            <a:avLst/>
          </a:prstGeom>
        </p:spPr>
      </p:pic>
    </p:spTree>
    <p:extLst>
      <p:ext uri="{BB962C8B-B14F-4D97-AF65-F5344CB8AC3E}">
        <p14:creationId xmlns:p14="http://schemas.microsoft.com/office/powerpoint/2010/main" val="23865232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D46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8F1661-9CCE-F4EC-8868-48F50A4EE29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200" kern="1200">
                <a:solidFill>
                  <a:srgbClr val="FFFFFF"/>
                </a:solidFill>
                <a:latin typeface="+mj-lt"/>
                <a:ea typeface="+mj-ea"/>
                <a:cs typeface="+mj-cs"/>
              </a:rPr>
              <a:t>Select .NET 9.O and then Individual Accounts for Authentication Type</a:t>
            </a:r>
          </a:p>
        </p:txBody>
      </p:sp>
      <p:pic>
        <p:nvPicPr>
          <p:cNvPr id="4" name="Content Placeholder 3" descr="A screenshot of a computer&#10;&#10;AI-generated content may be incorrect.">
            <a:extLst>
              <a:ext uri="{FF2B5EF4-FFF2-40B4-BE49-F238E27FC236}">
                <a16:creationId xmlns:a16="http://schemas.microsoft.com/office/drawing/2014/main" id="{F7343984-B8D3-C0A9-74A5-0ABF4DCDDF3D}"/>
              </a:ext>
            </a:extLst>
          </p:cNvPr>
          <p:cNvPicPr>
            <a:picLocks noGrp="1" noChangeAspect="1"/>
          </p:cNvPicPr>
          <p:nvPr>
            <p:ph idx="1"/>
          </p:nvPr>
        </p:nvPicPr>
        <p:blipFill>
          <a:blip r:embed="rId2"/>
          <a:stretch>
            <a:fillRect/>
          </a:stretch>
        </p:blipFill>
        <p:spPr>
          <a:xfrm>
            <a:off x="4038600" y="1243890"/>
            <a:ext cx="7188199" cy="4366830"/>
          </a:xfrm>
          <a:prstGeom prst="rect">
            <a:avLst/>
          </a:prstGeom>
        </p:spPr>
      </p:pic>
    </p:spTree>
    <p:extLst>
      <p:ext uri="{BB962C8B-B14F-4D97-AF65-F5344CB8AC3E}">
        <p14:creationId xmlns:p14="http://schemas.microsoft.com/office/powerpoint/2010/main" val="1749630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F7364C-8B81-9045-9B76-24418C26181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Project Created</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9209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7D5EA8B-8965-BEFF-2D7D-B31E31DF1F54}"/>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Installing the Packages (Has to be 9.0.12)</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94972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945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3ED3C3-1038-84DA-1D2B-29629D3D8DE2}"/>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Open the Package Manager Console</a:t>
            </a:r>
          </a:p>
        </p:txBody>
      </p:sp>
      <p:pic>
        <p:nvPicPr>
          <p:cNvPr id="7" name="Content Placeholder 6" descr="A screenshot of a computer program&#10;&#10;AI-generated content may be incorrect.">
            <a:extLst>
              <a:ext uri="{FF2B5EF4-FFF2-40B4-BE49-F238E27FC236}">
                <a16:creationId xmlns:a16="http://schemas.microsoft.com/office/drawing/2014/main" id="{F27EA04C-A562-07B7-42A6-289F763B59A8}"/>
              </a:ext>
            </a:extLst>
          </p:cNvPr>
          <p:cNvPicPr>
            <a:picLocks noChangeAspect="1"/>
          </p:cNvPicPr>
          <p:nvPr/>
        </p:nvPicPr>
        <p:blipFill>
          <a:blip r:embed="rId2"/>
          <a:stretch>
            <a:fillRect/>
          </a:stretch>
        </p:blipFill>
        <p:spPr>
          <a:xfrm>
            <a:off x="4038600" y="1971695"/>
            <a:ext cx="7188199" cy="2911221"/>
          </a:xfrm>
          <a:prstGeom prst="rect">
            <a:avLst/>
          </a:prstGeom>
        </p:spPr>
      </p:pic>
    </p:spTree>
    <p:extLst>
      <p:ext uri="{BB962C8B-B14F-4D97-AF65-F5344CB8AC3E}">
        <p14:creationId xmlns:p14="http://schemas.microsoft.com/office/powerpoint/2010/main" val="4147972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932291-38B7-45E6-7838-0C6A97E620D9}"/>
              </a:ext>
            </a:extLst>
          </p:cNvPr>
          <p:cNvSpPr>
            <a:spLocks noGrp="1"/>
          </p:cNvSpPr>
          <p:nvPr>
            <p:ph type="title"/>
          </p:nvPr>
        </p:nvSpPr>
        <p:spPr>
          <a:xfrm>
            <a:off x="373069" y="1153572"/>
            <a:ext cx="3200400" cy="4461163"/>
          </a:xfrm>
        </p:spPr>
        <p:txBody>
          <a:bodyPr>
            <a:normAutofit/>
          </a:bodyPr>
          <a:lstStyle/>
          <a:p>
            <a:r>
              <a:rPr lang="en-GB" dirty="0">
                <a:solidFill>
                  <a:srgbClr val="FFFFFF"/>
                </a:solidFill>
              </a:rPr>
              <a:t>Install the following </a:t>
            </a:r>
            <a:r>
              <a:rPr lang="en-GB">
                <a:solidFill>
                  <a:srgbClr val="FFFFFF"/>
                </a:solidFill>
              </a:rPr>
              <a:t>Packages</a:t>
            </a:r>
            <a:endParaRPr lang="en-GB"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35CD6BD-F18F-B710-2A5C-320B5D9E6CB7}"/>
              </a:ext>
            </a:extLst>
          </p:cNvPr>
          <p:cNvSpPr>
            <a:spLocks noGrp="1"/>
          </p:cNvSpPr>
          <p:nvPr>
            <p:ph idx="1"/>
          </p:nvPr>
        </p:nvSpPr>
        <p:spPr>
          <a:xfrm>
            <a:off x="4447308" y="591344"/>
            <a:ext cx="7388344" cy="5585619"/>
          </a:xfrm>
        </p:spPr>
        <p:txBody>
          <a:bodyPr vert="horz" lIns="91440" tIns="45720" rIns="91440" bIns="45720" rtlCol="0" anchor="ctr">
            <a:noAutofit/>
          </a:bodyPr>
          <a:lstStyle/>
          <a:p>
            <a:endParaRPr lang="en-GB" sz="1800" dirty="0">
              <a:ea typeface="+mn-lt"/>
              <a:cs typeface="+mn-lt"/>
            </a:endParaRPr>
          </a:p>
          <a:p>
            <a:endParaRPr lang="en-GB" sz="1800" dirty="0">
              <a:ea typeface="+mn-lt"/>
              <a:cs typeface="+mn-lt"/>
            </a:endParaRPr>
          </a:p>
          <a:p>
            <a:r>
              <a:rPr lang="en-GB" sz="1800">
                <a:ea typeface="+mn-lt"/>
                <a:cs typeface="+mn-lt"/>
              </a:rPr>
              <a:t>Install-Package </a:t>
            </a:r>
            <a:r>
              <a:rPr lang="en-GB" sz="1800" err="1">
                <a:ea typeface="+mn-lt"/>
                <a:cs typeface="+mn-lt"/>
              </a:rPr>
              <a:t>Microsoft.VisualStudio.Web.CodeGeneration.Design</a:t>
            </a:r>
            <a:r>
              <a:rPr lang="en-GB" sz="1800" dirty="0">
                <a:ea typeface="+mn-lt"/>
                <a:cs typeface="+mn-lt"/>
              </a:rPr>
              <a:t> -Version 9.0.12</a:t>
            </a:r>
            <a:endParaRPr lang="en-US" sz="1800"/>
          </a:p>
          <a:p>
            <a:endParaRPr lang="en-GB" sz="1800" dirty="0"/>
          </a:p>
          <a:p>
            <a:r>
              <a:rPr lang="en-GB" sz="1800" dirty="0">
                <a:ea typeface="+mn-lt"/>
                <a:cs typeface="+mn-lt"/>
              </a:rPr>
              <a:t>Install-Package </a:t>
            </a:r>
            <a:r>
              <a:rPr lang="en-GB" sz="1800" dirty="0" err="1">
                <a:ea typeface="+mn-lt"/>
                <a:cs typeface="+mn-lt"/>
              </a:rPr>
              <a:t>Microsoft.EntityFrameworkCore.Design</a:t>
            </a:r>
            <a:r>
              <a:rPr lang="en-GB" sz="1800" dirty="0">
                <a:ea typeface="+mn-lt"/>
                <a:cs typeface="+mn-lt"/>
              </a:rPr>
              <a:t> -Version 9.0.12</a:t>
            </a:r>
          </a:p>
          <a:p>
            <a:endParaRPr lang="en-GB" sz="1800" dirty="0"/>
          </a:p>
          <a:p>
            <a:endParaRPr lang="en-GB" sz="1800" dirty="0"/>
          </a:p>
          <a:p>
            <a:r>
              <a:rPr lang="en-GB" sz="1800" dirty="0">
                <a:ea typeface="+mn-lt"/>
                <a:cs typeface="+mn-lt"/>
              </a:rPr>
              <a:t>Install-Package </a:t>
            </a:r>
            <a:r>
              <a:rPr lang="en-GB" sz="1800" dirty="0" err="1">
                <a:ea typeface="+mn-lt"/>
                <a:cs typeface="+mn-lt"/>
              </a:rPr>
              <a:t>Microsoft.EntityFrameworkCore.SqlServer</a:t>
            </a:r>
            <a:r>
              <a:rPr lang="en-GB" sz="1800" dirty="0">
                <a:ea typeface="+mn-lt"/>
                <a:cs typeface="+mn-lt"/>
              </a:rPr>
              <a:t> -Version 9.0.12</a:t>
            </a:r>
          </a:p>
          <a:p>
            <a:endParaRPr lang="en-GB" dirty="0"/>
          </a:p>
          <a:p>
            <a:endParaRPr lang="en-GB" dirty="0"/>
          </a:p>
        </p:txBody>
      </p:sp>
    </p:spTree>
    <p:extLst>
      <p:ext uri="{BB962C8B-B14F-4D97-AF65-F5344CB8AC3E}">
        <p14:creationId xmlns:p14="http://schemas.microsoft.com/office/powerpoint/2010/main" val="42064883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7EE6B9-9C78-F51D-586A-A9D12EE65185}"/>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67AA0F08-159A-1A8C-8B01-7E5AE11604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3FA4984-0E33-5D42-1E72-165375D658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945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A2DC2B-7403-374B-07FC-BDC9E0F8A2A3}"/>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a:solidFill>
                  <a:srgbClr val="FFFFFF"/>
                </a:solidFill>
              </a:rPr>
              <a:t>Add-Migration</a:t>
            </a:r>
            <a:br>
              <a:rPr lang="en-US" sz="2600" dirty="0">
                <a:solidFill>
                  <a:srgbClr val="FFFFFF"/>
                </a:solidFill>
              </a:rPr>
            </a:br>
            <a:r>
              <a:rPr lang="en-US" sz="2600">
                <a:solidFill>
                  <a:srgbClr val="FFFFFF"/>
                </a:solidFill>
              </a:rPr>
              <a:t>Update-Database</a:t>
            </a:r>
            <a:endParaRPr lang="en-US" sz="2600" dirty="0">
              <a:solidFill>
                <a:srgbClr val="FFFFFF"/>
              </a:solidFill>
            </a:endParaRPr>
          </a:p>
        </p:txBody>
      </p:sp>
      <p:pic>
        <p:nvPicPr>
          <p:cNvPr id="5" name="Content Placeholder 3" descr="A close up of a logo&#10;&#10;AI-generated content may be incorrect.">
            <a:extLst>
              <a:ext uri="{FF2B5EF4-FFF2-40B4-BE49-F238E27FC236}">
                <a16:creationId xmlns:a16="http://schemas.microsoft.com/office/drawing/2014/main" id="{BC8E9061-63E2-A0AD-5D6D-63C772012902}"/>
              </a:ext>
            </a:extLst>
          </p:cNvPr>
          <p:cNvPicPr>
            <a:picLocks noGrp="1" noChangeAspect="1"/>
          </p:cNvPicPr>
          <p:nvPr>
            <p:ph idx="1"/>
          </p:nvPr>
        </p:nvPicPr>
        <p:blipFill>
          <a:blip r:embed="rId2"/>
          <a:stretch>
            <a:fillRect/>
          </a:stretch>
        </p:blipFill>
        <p:spPr>
          <a:xfrm>
            <a:off x="3846139" y="2079766"/>
            <a:ext cx="7839075" cy="638175"/>
          </a:xfrm>
          <a:prstGeom prst="rect">
            <a:avLst/>
          </a:prstGeom>
        </p:spPr>
      </p:pic>
      <p:pic>
        <p:nvPicPr>
          <p:cNvPr id="8" name="Picture 7" descr="A close up of a sign&#10;&#10;AI-generated content may be incorrect.">
            <a:extLst>
              <a:ext uri="{FF2B5EF4-FFF2-40B4-BE49-F238E27FC236}">
                <a16:creationId xmlns:a16="http://schemas.microsoft.com/office/drawing/2014/main" id="{1A173AEE-1D67-B282-B446-BAE6D9E71C4D}"/>
              </a:ext>
            </a:extLst>
          </p:cNvPr>
          <p:cNvPicPr>
            <a:picLocks noChangeAspect="1"/>
          </p:cNvPicPr>
          <p:nvPr/>
        </p:nvPicPr>
        <p:blipFill>
          <a:blip r:embed="rId3"/>
          <a:stretch>
            <a:fillRect/>
          </a:stretch>
        </p:blipFill>
        <p:spPr>
          <a:xfrm>
            <a:off x="5319432" y="3955956"/>
            <a:ext cx="4914900" cy="828675"/>
          </a:xfrm>
          <a:prstGeom prst="rect">
            <a:avLst/>
          </a:prstGeom>
        </p:spPr>
      </p:pic>
    </p:spTree>
    <p:extLst>
      <p:ext uri="{BB962C8B-B14F-4D97-AF65-F5344CB8AC3E}">
        <p14:creationId xmlns:p14="http://schemas.microsoft.com/office/powerpoint/2010/main" val="2381919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1B2CD-1C21-9ECE-FCC4-411503463DD2}"/>
              </a:ext>
            </a:extLst>
          </p:cNvPr>
          <p:cNvSpPr>
            <a:spLocks noGrp="1"/>
          </p:cNvSpPr>
          <p:nvPr>
            <p:ph type="title"/>
          </p:nvPr>
        </p:nvSpPr>
        <p:spPr>
          <a:xfrm>
            <a:off x="762000" y="1141712"/>
            <a:ext cx="8029572" cy="1061161"/>
          </a:xfrm>
        </p:spPr>
        <p:txBody>
          <a:bodyPr vert="horz" lIns="91440" tIns="45720" rIns="91440" bIns="45720" rtlCol="0" anchor="t">
            <a:normAutofit/>
          </a:bodyPr>
          <a:lstStyle/>
          <a:p>
            <a:r>
              <a:rPr lang="en-US" sz="3400"/>
              <a:t>Run the Application with HTTP and test the login and register system</a:t>
            </a:r>
          </a:p>
        </p:txBody>
      </p:sp>
      <p:sp>
        <p:nvSpPr>
          <p:cNvPr id="3" name="Content Placeholder 2">
            <a:extLst>
              <a:ext uri="{FF2B5EF4-FFF2-40B4-BE49-F238E27FC236}">
                <a16:creationId xmlns:a16="http://schemas.microsoft.com/office/drawing/2014/main" id="{A9903FF5-BEA0-4357-BDB1-92C1D8E5FD43}"/>
              </a:ext>
            </a:extLst>
          </p:cNvPr>
          <p:cNvSpPr>
            <a:spLocks noGrp="1"/>
          </p:cNvSpPr>
          <p:nvPr>
            <p:ph idx="1"/>
          </p:nvPr>
        </p:nvSpPr>
        <p:spPr>
          <a:xfrm>
            <a:off x="760418" y="5497592"/>
            <a:ext cx="10462753" cy="683095"/>
          </a:xfrm>
        </p:spPr>
        <p:txBody>
          <a:bodyPr vert="horz" lIns="91440" tIns="45720" rIns="91440" bIns="45720" rtlCol="0" anchor="t">
            <a:normAutofit/>
          </a:bodyPr>
          <a:lstStyle/>
          <a:p>
            <a:pPr marL="0" indent="0" algn="ctr">
              <a:buNone/>
            </a:pPr>
            <a:r>
              <a:rPr lang="en-US" b="1"/>
              <a:t>Register a new User and login with it</a:t>
            </a:r>
            <a:endParaRPr lang="en-US"/>
          </a:p>
        </p:txBody>
      </p:sp>
      <p:cxnSp>
        <p:nvCxnSpPr>
          <p:cNvPr id="21" name="Straight Connector 20">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Picture 4" descr="A screenshot of a login page&#10;&#10;AI-generated content may be incorrect.">
            <a:extLst>
              <a:ext uri="{FF2B5EF4-FFF2-40B4-BE49-F238E27FC236}">
                <a16:creationId xmlns:a16="http://schemas.microsoft.com/office/drawing/2014/main" id="{B786DCFA-B403-DB6E-F828-64EE44BD67A5}"/>
              </a:ext>
            </a:extLst>
          </p:cNvPr>
          <p:cNvPicPr>
            <a:picLocks noChangeAspect="1"/>
          </p:cNvPicPr>
          <p:nvPr/>
        </p:nvPicPr>
        <p:blipFill>
          <a:blip r:embed="rId2"/>
          <a:stretch>
            <a:fillRect/>
          </a:stretch>
        </p:blipFill>
        <p:spPr>
          <a:xfrm>
            <a:off x="4313680" y="2665003"/>
            <a:ext cx="3352404" cy="2304777"/>
          </a:xfrm>
          <a:prstGeom prst="rect">
            <a:avLst/>
          </a:prstGeom>
        </p:spPr>
      </p:pic>
      <p:pic>
        <p:nvPicPr>
          <p:cNvPr id="4" name="Picture 3" descr="A green arrow with white text&#10;&#10;AI-generated content may be incorrect.">
            <a:extLst>
              <a:ext uri="{FF2B5EF4-FFF2-40B4-BE49-F238E27FC236}">
                <a16:creationId xmlns:a16="http://schemas.microsoft.com/office/drawing/2014/main" id="{1EE1891D-4C0D-8BDD-464E-7152A259201E}"/>
              </a:ext>
            </a:extLst>
          </p:cNvPr>
          <p:cNvPicPr>
            <a:picLocks noChangeAspect="1"/>
          </p:cNvPicPr>
          <p:nvPr/>
        </p:nvPicPr>
        <p:blipFill>
          <a:blip r:embed="rId3"/>
          <a:stretch>
            <a:fillRect/>
          </a:stretch>
        </p:blipFill>
        <p:spPr>
          <a:xfrm>
            <a:off x="760149" y="2714836"/>
            <a:ext cx="3350982" cy="2000945"/>
          </a:xfrm>
          <a:prstGeom prst="rect">
            <a:avLst/>
          </a:prstGeom>
        </p:spPr>
      </p:pic>
      <p:pic>
        <p:nvPicPr>
          <p:cNvPr id="6" name="Picture 5" descr="A screenshot of a login page&#10;&#10;AI-generated content may be incorrect.">
            <a:extLst>
              <a:ext uri="{FF2B5EF4-FFF2-40B4-BE49-F238E27FC236}">
                <a16:creationId xmlns:a16="http://schemas.microsoft.com/office/drawing/2014/main" id="{89E63611-6DBC-CD61-D0C9-4577B54CC1B5}"/>
              </a:ext>
            </a:extLst>
          </p:cNvPr>
          <p:cNvPicPr>
            <a:picLocks noChangeAspect="1"/>
          </p:cNvPicPr>
          <p:nvPr/>
        </p:nvPicPr>
        <p:blipFill>
          <a:blip r:embed="rId4"/>
          <a:stretch>
            <a:fillRect/>
          </a:stretch>
        </p:blipFill>
        <p:spPr>
          <a:xfrm>
            <a:off x="8024145" y="2468885"/>
            <a:ext cx="3185854" cy="2500896"/>
          </a:xfrm>
          <a:prstGeom prst="rect">
            <a:avLst/>
          </a:prstGeom>
        </p:spPr>
      </p:pic>
      <p:cxnSp>
        <p:nvCxnSpPr>
          <p:cNvPr id="22" name="Straight Connector 21">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2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92C2EE-A204-72A3-BD0F-AFA2E092D435}"/>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Time to add the models</a:t>
            </a:r>
          </a:p>
        </p:txBody>
      </p:sp>
      <p:pic>
        <p:nvPicPr>
          <p:cNvPr id="4" name="Content Placeholder 3" descr="A screenshot of a computer&#10;&#10;AI-generated content may be incorrect.">
            <a:extLst>
              <a:ext uri="{FF2B5EF4-FFF2-40B4-BE49-F238E27FC236}">
                <a16:creationId xmlns:a16="http://schemas.microsoft.com/office/drawing/2014/main" id="{0F8CC79C-F130-0450-B5A0-FAB40B523F80}"/>
              </a:ext>
            </a:extLst>
          </p:cNvPr>
          <p:cNvPicPr>
            <a:picLocks noGrp="1" noChangeAspect="1"/>
          </p:cNvPicPr>
          <p:nvPr>
            <p:ph idx="1"/>
          </p:nvPr>
        </p:nvPicPr>
        <p:blipFill>
          <a:blip r:embed="rId2"/>
          <a:stretch>
            <a:fillRect/>
          </a:stretch>
        </p:blipFill>
        <p:spPr>
          <a:xfrm>
            <a:off x="5452905" y="643466"/>
            <a:ext cx="5429521" cy="5568739"/>
          </a:xfrm>
          <a:prstGeom prst="rect">
            <a:avLst/>
          </a:prstGeom>
        </p:spPr>
      </p:pic>
    </p:spTree>
    <p:extLst>
      <p:ext uri="{BB962C8B-B14F-4D97-AF65-F5344CB8AC3E}">
        <p14:creationId xmlns:p14="http://schemas.microsoft.com/office/powerpoint/2010/main" val="3987147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C8908E2-EE49-44D2-9428-A28D2312A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11" name="Group 10">
            <a:extLst>
              <a:ext uri="{FF2B5EF4-FFF2-40B4-BE49-F238E27FC236}">
                <a16:creationId xmlns:a16="http://schemas.microsoft.com/office/drawing/2014/main" id="{05314994-6337-4875-8CF5-652CAFE834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1999" cy="4267200"/>
            <a:chOff x="7467600" y="0"/>
            <a:chExt cx="4724400" cy="6858000"/>
          </a:xfrm>
        </p:grpSpPr>
        <p:sp>
          <p:nvSpPr>
            <p:cNvPr id="12" name="Rectangle 11">
              <a:extLst>
                <a:ext uri="{FF2B5EF4-FFF2-40B4-BE49-F238E27FC236}">
                  <a16:creationId xmlns:a16="http://schemas.microsoft.com/office/drawing/2014/main" id="{B3A2D4D6-D501-439A-9FC6-397879C465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5CD20BAA-1998-4EBB-AD61-13A92072EC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5" name="Freeform: Shape 14">
            <a:extLst>
              <a:ext uri="{FF2B5EF4-FFF2-40B4-BE49-F238E27FC236}">
                <a16:creationId xmlns:a16="http://schemas.microsoft.com/office/drawing/2014/main" id="{7449A6C7-D15F-4AA5-BFA5-71A404B47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2672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17" name="Rectangle 16">
            <a:extLst>
              <a:ext uri="{FF2B5EF4-FFF2-40B4-BE49-F238E27FC236}">
                <a16:creationId xmlns:a16="http://schemas.microsoft.com/office/drawing/2014/main" id="{ED888B23-07FA-482A-96DF-47E31AF1A6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457201"/>
            <a:ext cx="11277600" cy="5943598"/>
          </a:xfrm>
          <a:prstGeom prst="rect">
            <a:avLst/>
          </a:prstGeom>
          <a:ln w="12700" cap="flat" cmpd="sng" algn="ctr">
            <a:noFill/>
            <a:prstDash val="solid"/>
            <a:miter lim="800000"/>
          </a:ln>
          <a:effectLst>
            <a:outerShdw blurRad="317500" algn="ctr" rotWithShape="0">
              <a:schemeClr val="tx1">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F237FAC4-8A69-F8ED-BA57-85A43BADAD9E}"/>
              </a:ext>
            </a:extLst>
          </p:cNvPr>
          <p:cNvSpPr>
            <a:spLocks noGrp="1"/>
          </p:cNvSpPr>
          <p:nvPr>
            <p:ph type="title"/>
          </p:nvPr>
        </p:nvSpPr>
        <p:spPr>
          <a:xfrm>
            <a:off x="1143000" y="990599"/>
            <a:ext cx="9906000" cy="685800"/>
          </a:xfrm>
        </p:spPr>
        <p:txBody>
          <a:bodyPr anchor="t">
            <a:normAutofit/>
          </a:bodyPr>
          <a:lstStyle/>
          <a:p>
            <a:r>
              <a:rPr lang="en-GB" sz="2800"/>
              <a:t>These are the models I am using (May not be the same for you)</a:t>
            </a:r>
          </a:p>
        </p:txBody>
      </p:sp>
      <p:graphicFrame>
        <p:nvGraphicFramePr>
          <p:cNvPr id="5" name="Content Placeholder 2">
            <a:extLst>
              <a:ext uri="{FF2B5EF4-FFF2-40B4-BE49-F238E27FC236}">
                <a16:creationId xmlns:a16="http://schemas.microsoft.com/office/drawing/2014/main" id="{8C986D6C-F978-A040-2935-36CC66247D87}"/>
              </a:ext>
            </a:extLst>
          </p:cNvPr>
          <p:cNvGraphicFramePr>
            <a:graphicFrameLocks noGrp="1"/>
          </p:cNvGraphicFramePr>
          <p:nvPr>
            <p:ph idx="1"/>
            <p:extLst>
              <p:ext uri="{D42A27DB-BD31-4B8C-83A1-F6EECF244321}">
                <p14:modId xmlns:p14="http://schemas.microsoft.com/office/powerpoint/2010/main" val="470128426"/>
              </p:ext>
            </p:extLst>
          </p:nvPr>
        </p:nvGraphicFramePr>
        <p:xfrm>
          <a:off x="685800" y="2137228"/>
          <a:ext cx="10820400" cy="3733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281385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048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688C1A-FF58-4B32-BED6-76F278CBF292}"/>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Suppliers </a:t>
            </a:r>
            <a:r>
              <a:rPr lang="en-US" sz="2600">
                <a:solidFill>
                  <a:srgbClr val="FFFFFF"/>
                </a:solidFill>
              </a:rPr>
              <a:t>(Producers) Model</a:t>
            </a:r>
            <a:endParaRPr lang="en-US" sz="2600" kern="1200">
              <a:solidFill>
                <a:srgbClr val="FFFFFF"/>
              </a:solidFill>
              <a:latin typeface="+mj-lt"/>
              <a:ea typeface="+mj-ea"/>
              <a:cs typeface="+mj-cs"/>
            </a:endParaRPr>
          </a:p>
        </p:txBody>
      </p:sp>
      <p:pic>
        <p:nvPicPr>
          <p:cNvPr id="4" name="Content Placeholder 3" descr="A screenshot of a computer program&#10;&#10;AI-generated content may be incorrect.">
            <a:extLst>
              <a:ext uri="{FF2B5EF4-FFF2-40B4-BE49-F238E27FC236}">
                <a16:creationId xmlns:a16="http://schemas.microsoft.com/office/drawing/2014/main" id="{2A456A00-8FE5-10F4-3171-0812E3F3735C}"/>
              </a:ext>
            </a:extLst>
          </p:cNvPr>
          <p:cNvPicPr>
            <a:picLocks noGrp="1" noChangeAspect="1"/>
          </p:cNvPicPr>
          <p:nvPr>
            <p:ph idx="1"/>
          </p:nvPr>
        </p:nvPicPr>
        <p:blipFill>
          <a:blip r:embed="rId2"/>
          <a:stretch>
            <a:fillRect/>
          </a:stretch>
        </p:blipFill>
        <p:spPr>
          <a:xfrm>
            <a:off x="4046527" y="961812"/>
            <a:ext cx="7172345" cy="4930987"/>
          </a:xfrm>
          <a:prstGeom prst="rect">
            <a:avLst/>
          </a:prstGeom>
        </p:spPr>
      </p:pic>
    </p:spTree>
    <p:extLst>
      <p:ext uri="{BB962C8B-B14F-4D97-AF65-F5344CB8AC3E}">
        <p14:creationId xmlns:p14="http://schemas.microsoft.com/office/powerpoint/2010/main" val="4894596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6E4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C6BF02-E680-FBFC-D1B6-3F7ABF7623A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Products Model</a:t>
            </a:r>
          </a:p>
        </p:txBody>
      </p:sp>
      <p:pic>
        <p:nvPicPr>
          <p:cNvPr id="4" name="Content Placeholder 3" descr="A screenshot of a computer program&#10;&#10;AI-generated content may be incorrect.">
            <a:extLst>
              <a:ext uri="{FF2B5EF4-FFF2-40B4-BE49-F238E27FC236}">
                <a16:creationId xmlns:a16="http://schemas.microsoft.com/office/drawing/2014/main" id="{E57B6E4C-C312-E3F3-5842-01802D3F3335}"/>
              </a:ext>
            </a:extLst>
          </p:cNvPr>
          <p:cNvPicPr>
            <a:picLocks noGrp="1" noChangeAspect="1"/>
          </p:cNvPicPr>
          <p:nvPr>
            <p:ph idx="1"/>
          </p:nvPr>
        </p:nvPicPr>
        <p:blipFill>
          <a:blip r:embed="rId2"/>
          <a:stretch>
            <a:fillRect/>
          </a:stretch>
        </p:blipFill>
        <p:spPr>
          <a:xfrm>
            <a:off x="4289658" y="961812"/>
            <a:ext cx="6686083" cy="4930987"/>
          </a:xfrm>
          <a:prstGeom prst="rect">
            <a:avLst/>
          </a:prstGeom>
        </p:spPr>
      </p:pic>
    </p:spTree>
    <p:extLst>
      <p:ext uri="{BB962C8B-B14F-4D97-AF65-F5344CB8AC3E}">
        <p14:creationId xmlns:p14="http://schemas.microsoft.com/office/powerpoint/2010/main" val="15678380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6D45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2857B5-0E5B-285D-B44F-9223A3509E8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Basket Model</a:t>
            </a:r>
          </a:p>
        </p:txBody>
      </p:sp>
      <p:pic>
        <p:nvPicPr>
          <p:cNvPr id="4" name="Content Placeholder 3" descr="A screen shot of a computer&#10;&#10;AI-generated content may be incorrect.">
            <a:extLst>
              <a:ext uri="{FF2B5EF4-FFF2-40B4-BE49-F238E27FC236}">
                <a16:creationId xmlns:a16="http://schemas.microsoft.com/office/drawing/2014/main" id="{FD7857DC-D146-988B-6DE2-5F0390B4CBFA}"/>
              </a:ext>
            </a:extLst>
          </p:cNvPr>
          <p:cNvPicPr>
            <a:picLocks noGrp="1" noChangeAspect="1"/>
          </p:cNvPicPr>
          <p:nvPr>
            <p:ph idx="1"/>
          </p:nvPr>
        </p:nvPicPr>
        <p:blipFill>
          <a:blip r:embed="rId2"/>
          <a:stretch>
            <a:fillRect/>
          </a:stretch>
        </p:blipFill>
        <p:spPr>
          <a:xfrm>
            <a:off x="4038600" y="1720108"/>
            <a:ext cx="7188199" cy="3414395"/>
          </a:xfrm>
          <a:prstGeom prst="rect">
            <a:avLst/>
          </a:prstGeom>
        </p:spPr>
      </p:pic>
    </p:spTree>
    <p:extLst>
      <p:ext uri="{BB962C8B-B14F-4D97-AF65-F5344CB8AC3E}">
        <p14:creationId xmlns:p14="http://schemas.microsoft.com/office/powerpoint/2010/main" val="30348089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F82CD-1C6B-70D9-AAAA-B767E2059763}"/>
              </a:ext>
            </a:extLst>
          </p:cNvPr>
          <p:cNvSpPr>
            <a:spLocks noGrp="1"/>
          </p:cNvSpPr>
          <p:nvPr>
            <p:ph type="title"/>
          </p:nvPr>
        </p:nvSpPr>
        <p:spPr>
          <a:xfrm>
            <a:off x="951914" y="2074363"/>
            <a:ext cx="2752354" cy="2709275"/>
          </a:xfrm>
          <a:prstGeom prst="rect">
            <a:avLst/>
          </a:prstGeom>
          <a:solidFill>
            <a:srgbClr val="6E453B"/>
          </a:solidFill>
          <a:ln>
            <a:solidFill>
              <a:srgbClr val="6E453B"/>
            </a:solidFill>
          </a:ln>
        </p:spPr>
        <p:txBody>
          <a:bodyPr vert="horz" lIns="91440" tIns="45720" rIns="91440" bIns="45720" rtlCol="0" anchor="ctr">
            <a:normAutofit/>
          </a:bodyPr>
          <a:lstStyle/>
          <a:p>
            <a:pPr algn="ctr"/>
            <a:r>
              <a:rPr lang="en-US" sz="2800" kern="1200">
                <a:solidFill>
                  <a:srgbClr val="FFFFFF"/>
                </a:solidFill>
                <a:latin typeface="+mj-lt"/>
                <a:ea typeface="+mj-ea"/>
                <a:cs typeface="+mj-cs"/>
              </a:rPr>
              <a:t>BasketProducts Model</a:t>
            </a:r>
          </a:p>
        </p:txBody>
      </p:sp>
      <p:pic>
        <p:nvPicPr>
          <p:cNvPr id="4" name="Content Placeholder 3" descr="A screenshot of a computer program&#10;&#10;AI-generated content may be incorrect.">
            <a:extLst>
              <a:ext uri="{FF2B5EF4-FFF2-40B4-BE49-F238E27FC236}">
                <a16:creationId xmlns:a16="http://schemas.microsoft.com/office/drawing/2014/main" id="{00B0E928-EA34-14B5-DDBC-8C986E273ECC}"/>
              </a:ext>
            </a:extLst>
          </p:cNvPr>
          <p:cNvPicPr>
            <a:picLocks noGrp="1" noChangeAspect="1"/>
          </p:cNvPicPr>
          <p:nvPr>
            <p:ph idx="1"/>
          </p:nvPr>
        </p:nvPicPr>
        <p:blipFill>
          <a:blip r:embed="rId2"/>
          <a:stretch>
            <a:fillRect/>
          </a:stretch>
        </p:blipFill>
        <p:spPr>
          <a:xfrm>
            <a:off x="4110665" y="1370768"/>
            <a:ext cx="6804078" cy="4116465"/>
          </a:xfrm>
          <a:prstGeom prst="rect">
            <a:avLst/>
          </a:prstGeom>
        </p:spPr>
      </p:pic>
    </p:spTree>
    <p:extLst>
      <p:ext uri="{BB962C8B-B14F-4D97-AF65-F5344CB8AC3E}">
        <p14:creationId xmlns:p14="http://schemas.microsoft.com/office/powerpoint/2010/main" val="29214609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271DCA3-1B2D-2CEC-94D8-6DA3F69F436A}"/>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Orders Model</a:t>
            </a:r>
          </a:p>
        </p:txBody>
      </p:sp>
      <p:pic>
        <p:nvPicPr>
          <p:cNvPr id="4" name="Content Placeholder 3" descr="A screenshot of a computer program&#10;&#10;AI-generated content may be incorrect.">
            <a:extLst>
              <a:ext uri="{FF2B5EF4-FFF2-40B4-BE49-F238E27FC236}">
                <a16:creationId xmlns:a16="http://schemas.microsoft.com/office/drawing/2014/main" id="{4C3ACA0E-4E65-22BD-F9B1-89157213738E}"/>
              </a:ext>
            </a:extLst>
          </p:cNvPr>
          <p:cNvPicPr>
            <a:picLocks noGrp="1" noChangeAspect="1"/>
          </p:cNvPicPr>
          <p:nvPr>
            <p:ph idx="1"/>
          </p:nvPr>
        </p:nvPicPr>
        <p:blipFill>
          <a:blip r:embed="rId2"/>
          <a:stretch>
            <a:fillRect/>
          </a:stretch>
        </p:blipFill>
        <p:spPr>
          <a:xfrm>
            <a:off x="4777316" y="1368198"/>
            <a:ext cx="6780700" cy="4119275"/>
          </a:xfrm>
          <a:prstGeom prst="rect">
            <a:avLst/>
          </a:prstGeom>
        </p:spPr>
      </p:pic>
    </p:spTree>
    <p:extLst>
      <p:ext uri="{BB962C8B-B14F-4D97-AF65-F5344CB8AC3E}">
        <p14:creationId xmlns:p14="http://schemas.microsoft.com/office/powerpoint/2010/main" val="9403207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A2CCDB-D37E-F781-6183-20E40937EB9C}"/>
              </a:ext>
            </a:extLst>
          </p:cNvPr>
          <p:cNvSpPr>
            <a:spLocks noGrp="1"/>
          </p:cNvSpPr>
          <p:nvPr>
            <p:ph type="title"/>
          </p:nvPr>
        </p:nvSpPr>
        <p:spPr>
          <a:xfrm>
            <a:off x="1113810" y="2960716"/>
            <a:ext cx="4036334" cy="2387600"/>
          </a:xfrm>
        </p:spPr>
        <p:txBody>
          <a:bodyPr vert="horz" lIns="91440" tIns="45720" rIns="91440" bIns="45720" rtlCol="0" anchor="t">
            <a:normAutofit/>
          </a:bodyPr>
          <a:lstStyle/>
          <a:p>
            <a:r>
              <a:rPr lang="en-US" sz="5000" kern="1200">
                <a:solidFill>
                  <a:schemeClr val="tx1"/>
                </a:solidFill>
                <a:latin typeface="+mj-lt"/>
                <a:ea typeface="+mj-ea"/>
                <a:cs typeface="+mj-cs"/>
              </a:rPr>
              <a:t>OrderProducts Model</a:t>
            </a:r>
          </a:p>
        </p:txBody>
      </p:sp>
      <p:grpSp>
        <p:nvGrpSpPr>
          <p:cNvPr id="11" name="Group 1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screen shot of a computer program&#10;&#10;AI-generated content may be incorrect.">
            <a:extLst>
              <a:ext uri="{FF2B5EF4-FFF2-40B4-BE49-F238E27FC236}">
                <a16:creationId xmlns:a16="http://schemas.microsoft.com/office/drawing/2014/main" id="{6C0DB3B9-8ABF-B48E-70A1-AB81815A75E7}"/>
              </a:ext>
            </a:extLst>
          </p:cNvPr>
          <p:cNvPicPr>
            <a:picLocks noChangeAspect="1"/>
          </p:cNvPicPr>
          <p:nvPr/>
        </p:nvPicPr>
        <p:blipFill>
          <a:blip r:embed="rId2"/>
          <a:stretch>
            <a:fillRect/>
          </a:stretch>
        </p:blipFill>
        <p:spPr>
          <a:xfrm>
            <a:off x="5922492" y="2354703"/>
            <a:ext cx="5536001" cy="2089841"/>
          </a:xfrm>
          <a:prstGeom prst="rect">
            <a:avLst/>
          </a:prstGeom>
        </p:spPr>
      </p:pic>
    </p:spTree>
    <p:extLst>
      <p:ext uri="{BB962C8B-B14F-4D97-AF65-F5344CB8AC3E}">
        <p14:creationId xmlns:p14="http://schemas.microsoft.com/office/powerpoint/2010/main" val="32634653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CE7319E-A40A-89A6-F574-E775A3491084}"/>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6100" kern="1200">
                <a:solidFill>
                  <a:schemeClr val="tx1"/>
                </a:solidFill>
                <a:latin typeface="+mj-lt"/>
                <a:ea typeface="+mj-ea"/>
                <a:cs typeface="+mj-cs"/>
              </a:rPr>
              <a:t>Now we scaffold all the models as Controllers with Views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037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EA242B-6CDB-D616-3861-12BE60416F68}"/>
              </a:ext>
            </a:extLst>
          </p:cNvPr>
          <p:cNvSpPr>
            <a:spLocks noGrp="1"/>
          </p:cNvSpPr>
          <p:nvPr>
            <p:ph type="title"/>
          </p:nvPr>
        </p:nvSpPr>
        <p:spPr>
          <a:xfrm>
            <a:off x="599609" y="679731"/>
            <a:ext cx="4171994" cy="3736540"/>
          </a:xfrm>
        </p:spPr>
        <p:txBody>
          <a:bodyPr vert="horz" lIns="91440" tIns="45720" rIns="91440" bIns="45720" rtlCol="0" anchor="b">
            <a:normAutofit/>
          </a:bodyPr>
          <a:lstStyle/>
          <a:p>
            <a:r>
              <a:rPr lang="en-US" sz="5100" kern="1200" dirty="0">
                <a:latin typeface="+mj-lt"/>
                <a:ea typeface="+mj-ea"/>
                <a:cs typeface="+mj-cs"/>
              </a:rPr>
              <a:t>Right Click the Controllers Folder -&gt; </a:t>
            </a:r>
            <a:r>
              <a:rPr lang="en-US" sz="5100" kern="1200">
                <a:latin typeface="+mj-lt"/>
                <a:ea typeface="+mj-ea"/>
                <a:cs typeface="+mj-cs"/>
              </a:rPr>
              <a:t>Add</a:t>
            </a:r>
            <a:r>
              <a:rPr lang="en-US" sz="5100"/>
              <a:t>  </a:t>
            </a:r>
            <a:r>
              <a:rPr lang="en-US" sz="5100" kern="1200">
                <a:latin typeface="+mj-lt"/>
                <a:ea typeface="+mj-ea"/>
                <a:cs typeface="+mj-cs"/>
              </a:rPr>
              <a:t>-</a:t>
            </a:r>
            <a:r>
              <a:rPr lang="en-US" sz="5100" kern="1200" dirty="0">
                <a:latin typeface="+mj-lt"/>
                <a:ea typeface="+mj-ea"/>
                <a:cs typeface="+mj-cs"/>
              </a:rPr>
              <a:t>&gt; Controller</a:t>
            </a:r>
          </a:p>
        </p:txBody>
      </p:sp>
      <p:grpSp>
        <p:nvGrpSpPr>
          <p:cNvPr id="11" name="Group 10">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416432" y="1"/>
            <a:ext cx="2446384" cy="5777808"/>
            <a:chOff x="329184" y="1"/>
            <a:chExt cx="524256" cy="5777808"/>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3054D050-DA62-2E5D-F9F3-15D749EAFCCB}"/>
              </a:ext>
            </a:extLst>
          </p:cNvPr>
          <p:cNvPicPr>
            <a:picLocks noGrp="1" noChangeAspect="1"/>
          </p:cNvPicPr>
          <p:nvPr>
            <p:ph idx="1"/>
          </p:nvPr>
        </p:nvPicPr>
        <p:blipFill>
          <a:blip r:embed="rId2"/>
          <a:stretch>
            <a:fillRect/>
          </a:stretch>
        </p:blipFill>
        <p:spPr>
          <a:xfrm>
            <a:off x="5656798" y="557360"/>
            <a:ext cx="5576377" cy="5632704"/>
          </a:xfrm>
          <a:prstGeom prst="rect">
            <a:avLst/>
          </a:prstGeom>
        </p:spPr>
      </p:pic>
    </p:spTree>
    <p:extLst>
      <p:ext uri="{BB962C8B-B14F-4D97-AF65-F5344CB8AC3E}">
        <p14:creationId xmlns:p14="http://schemas.microsoft.com/office/powerpoint/2010/main" val="32003953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09DCA3-B480-27AF-A453-21CE538EFFD3}"/>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200" kern="1200">
                <a:solidFill>
                  <a:srgbClr val="FFFFFF"/>
                </a:solidFill>
                <a:latin typeface="+mj-lt"/>
                <a:ea typeface="+mj-ea"/>
                <a:cs typeface="+mj-cs"/>
              </a:rPr>
              <a:t>Select MVC Controller with views, using Entity Framework and Select Add</a:t>
            </a:r>
          </a:p>
        </p:txBody>
      </p:sp>
      <p:pic>
        <p:nvPicPr>
          <p:cNvPr id="4" name="Content Placeholder 3" descr="A screenshot of a computer&#10;&#10;AI-generated content may be incorrect.">
            <a:extLst>
              <a:ext uri="{FF2B5EF4-FFF2-40B4-BE49-F238E27FC236}">
                <a16:creationId xmlns:a16="http://schemas.microsoft.com/office/drawing/2014/main" id="{7DB5F483-4050-36B6-DC68-CE17DAEF9073}"/>
              </a:ext>
            </a:extLst>
          </p:cNvPr>
          <p:cNvPicPr>
            <a:picLocks noGrp="1" noChangeAspect="1"/>
          </p:cNvPicPr>
          <p:nvPr>
            <p:ph idx="1"/>
          </p:nvPr>
        </p:nvPicPr>
        <p:blipFill>
          <a:blip r:embed="rId2"/>
          <a:stretch>
            <a:fillRect/>
          </a:stretch>
        </p:blipFill>
        <p:spPr>
          <a:xfrm>
            <a:off x="4085228" y="961812"/>
            <a:ext cx="7094943" cy="4930987"/>
          </a:xfrm>
          <a:prstGeom prst="rect">
            <a:avLst/>
          </a:prstGeom>
        </p:spPr>
      </p:pic>
    </p:spTree>
    <p:extLst>
      <p:ext uri="{BB962C8B-B14F-4D97-AF65-F5344CB8AC3E}">
        <p14:creationId xmlns:p14="http://schemas.microsoft.com/office/powerpoint/2010/main" val="12143251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521EC1-1EAF-7DA5-7163-9A01729D2EB8}"/>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lang="en-US" sz="2000" kern="1200">
                <a:solidFill>
                  <a:schemeClr val="tx1"/>
                </a:solidFill>
                <a:latin typeface="+mj-lt"/>
                <a:ea typeface="+mj-ea"/>
                <a:cs typeface="+mj-cs"/>
              </a:rPr>
              <a:t>Select the first model you want to scaffold and then choose the ApplicationDbContext</a:t>
            </a:r>
          </a:p>
        </p:txBody>
      </p:sp>
      <p:sp>
        <p:nvSpPr>
          <p:cNvPr id="11" name="Rectangle 10">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screenshot of a computer&#10;&#10;AI-generated content may be incorrect.">
            <a:extLst>
              <a:ext uri="{FF2B5EF4-FFF2-40B4-BE49-F238E27FC236}">
                <a16:creationId xmlns:a16="http://schemas.microsoft.com/office/drawing/2014/main" id="{A9D58E17-9639-618B-72EF-104D7D7B73FF}"/>
              </a:ext>
            </a:extLst>
          </p:cNvPr>
          <p:cNvPicPr>
            <a:picLocks noChangeAspect="1"/>
          </p:cNvPicPr>
          <p:nvPr/>
        </p:nvPicPr>
        <p:blipFill>
          <a:blip r:embed="rId2"/>
          <a:stretch>
            <a:fillRect/>
          </a:stretch>
        </p:blipFill>
        <p:spPr>
          <a:xfrm>
            <a:off x="639847" y="858525"/>
            <a:ext cx="7419085" cy="5211906"/>
          </a:xfrm>
          <a:prstGeom prst="rect">
            <a:avLst/>
          </a:prstGeom>
        </p:spPr>
      </p:pic>
      <p:sp>
        <p:nvSpPr>
          <p:cNvPr id="15" name="Rectangle 14">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24652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675E95-CB69-F93E-E118-75F537A99281}"/>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5100"/>
              <a:t>Now have that controller and the views </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8A86EF82-D939-8E45-7E53-4D77D3D07F5A}"/>
              </a:ext>
            </a:extLst>
          </p:cNvPr>
          <p:cNvPicPr>
            <a:picLocks noChangeAspect="1"/>
          </p:cNvPicPr>
          <p:nvPr/>
        </p:nvPicPr>
        <p:blipFill>
          <a:blip r:embed="rId2"/>
          <a:stretch>
            <a:fillRect/>
          </a:stretch>
        </p:blipFill>
        <p:spPr>
          <a:xfrm>
            <a:off x="320040" y="2726093"/>
            <a:ext cx="5614416" cy="3438829"/>
          </a:xfrm>
          <a:prstGeom prst="rect">
            <a:avLst/>
          </a:prstGeom>
        </p:spPr>
      </p:pic>
      <p:pic>
        <p:nvPicPr>
          <p:cNvPr id="4" name="Content Placeholder 3" descr="A screenshot of a computer&#10;&#10;AI-generated content may be incorrect.">
            <a:extLst>
              <a:ext uri="{FF2B5EF4-FFF2-40B4-BE49-F238E27FC236}">
                <a16:creationId xmlns:a16="http://schemas.microsoft.com/office/drawing/2014/main" id="{98EEDC25-0BA3-AC9B-4562-BFD2C29C7012}"/>
              </a:ext>
            </a:extLst>
          </p:cNvPr>
          <p:cNvPicPr>
            <a:picLocks noGrp="1" noChangeAspect="1"/>
          </p:cNvPicPr>
          <p:nvPr>
            <p:ph idx="1"/>
          </p:nvPr>
        </p:nvPicPr>
        <p:blipFill>
          <a:blip r:embed="rId3"/>
          <a:stretch>
            <a:fillRect/>
          </a:stretch>
        </p:blipFill>
        <p:spPr>
          <a:xfrm>
            <a:off x="6254496" y="3808196"/>
            <a:ext cx="5614416" cy="1274623"/>
          </a:xfrm>
          <a:prstGeom prst="rect">
            <a:avLst/>
          </a:prstGeom>
        </p:spPr>
      </p:pic>
    </p:spTree>
    <p:extLst>
      <p:ext uri="{BB962C8B-B14F-4D97-AF65-F5344CB8AC3E}">
        <p14:creationId xmlns:p14="http://schemas.microsoft.com/office/powerpoint/2010/main" val="39574846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466513B-3973-D8D3-9457-AB74A51C160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Repeat the same step with all of the models </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43807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BF65200E-BE19-61BA-8C12-E73CE7790A3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0" y="4850097"/>
            <a:ext cx="12202175" cy="2021488"/>
            <a:chOff x="-1" y="-29768"/>
            <a:chExt cx="12202175" cy="1519356"/>
          </a:xfrm>
        </p:grpSpPr>
        <p:sp>
          <p:nvSpPr>
            <p:cNvPr id="11" name="Rectangle 10">
              <a:extLst>
                <a:ext uri="{FF2B5EF4-FFF2-40B4-BE49-F238E27FC236}">
                  <a16:creationId xmlns:a16="http://schemas.microsoft.com/office/drawing/2014/main" id="{4DCB7929-1F93-E966-9A22-29A959C2A5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5341412" y="-5371175"/>
              <a:ext cx="1519350" cy="12202174"/>
            </a:xfrm>
            <a:prstGeom prst="rect">
              <a:avLst/>
            </a:prstGeom>
            <a:gradFill>
              <a:gsLst>
                <a:gs pos="0">
                  <a:schemeClr val="accent5"/>
                </a:gs>
                <a:gs pos="100000">
                  <a:schemeClr val="accent2"/>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E9333BF-F59E-1341-F162-50F5832385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289101" y="-1429602"/>
              <a:ext cx="1507122" cy="4319024"/>
            </a:xfrm>
            <a:prstGeom prst="rect">
              <a:avLst/>
            </a:prstGeom>
            <a:gradFill>
              <a:gsLst>
                <a:gs pos="59000">
                  <a:schemeClr val="accent5">
                    <a:lumMod val="60000"/>
                    <a:lumOff val="40000"/>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F345832-F005-417F-6A2A-8481A275FF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3962663" y="-3992432"/>
              <a:ext cx="1519356" cy="9444683"/>
            </a:xfrm>
            <a:prstGeom prst="rect">
              <a:avLst/>
            </a:prstGeom>
            <a:gradFill>
              <a:gsLst>
                <a:gs pos="29000">
                  <a:schemeClr val="accent5">
                    <a:lumMod val="60000"/>
                    <a:lumOff val="40000"/>
                    <a:alpha val="0"/>
                  </a:schemeClr>
                </a:gs>
                <a:gs pos="100000">
                  <a:schemeClr val="accent5">
                    <a:lumMod val="75000"/>
                    <a:alpha val="70000"/>
                  </a:schemeClr>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26CD92F-D87A-AA4A-F669-145CD5AE8BDF}"/>
              </a:ext>
            </a:extLst>
          </p:cNvPr>
          <p:cNvSpPr>
            <a:spLocks noGrp="1"/>
          </p:cNvSpPr>
          <p:nvPr>
            <p:ph type="title"/>
          </p:nvPr>
        </p:nvSpPr>
        <p:spPr>
          <a:xfrm>
            <a:off x="1611630" y="5167418"/>
            <a:ext cx="8949690" cy="702264"/>
          </a:xfrm>
        </p:spPr>
        <p:txBody>
          <a:bodyPr vert="horz" lIns="91440" tIns="45720" rIns="91440" bIns="45720" rtlCol="0" anchor="b">
            <a:normAutofit/>
          </a:bodyPr>
          <a:lstStyle/>
          <a:p>
            <a:pPr algn="ctr"/>
            <a:r>
              <a:rPr lang="en-US" sz="3600">
                <a:solidFill>
                  <a:srgbClr val="FFFFFF"/>
                </a:solidFill>
              </a:rPr>
              <a:t>My End Result</a:t>
            </a:r>
          </a:p>
        </p:txBody>
      </p:sp>
      <p:pic>
        <p:nvPicPr>
          <p:cNvPr id="5" name="Picture 4" descr="A screenshot of a computer&#10;&#10;AI-generated content may be incorrect.">
            <a:extLst>
              <a:ext uri="{FF2B5EF4-FFF2-40B4-BE49-F238E27FC236}">
                <a16:creationId xmlns:a16="http://schemas.microsoft.com/office/drawing/2014/main" id="{2BE66021-3E38-E6D4-24AE-B99B9122C9D2}"/>
              </a:ext>
            </a:extLst>
          </p:cNvPr>
          <p:cNvPicPr>
            <a:picLocks noChangeAspect="1"/>
          </p:cNvPicPr>
          <p:nvPr/>
        </p:nvPicPr>
        <p:blipFill>
          <a:blip r:embed="rId2"/>
          <a:stretch>
            <a:fillRect/>
          </a:stretch>
        </p:blipFill>
        <p:spPr>
          <a:xfrm>
            <a:off x="1457704" y="869989"/>
            <a:ext cx="4526977" cy="3217333"/>
          </a:xfrm>
          <a:prstGeom prst="rect">
            <a:avLst/>
          </a:prstGeom>
        </p:spPr>
      </p:pic>
      <p:pic>
        <p:nvPicPr>
          <p:cNvPr id="4" name="Content Placeholder 3" descr="A screenshot of a computer&#10;&#10;AI-generated content may be incorrect.">
            <a:extLst>
              <a:ext uri="{FF2B5EF4-FFF2-40B4-BE49-F238E27FC236}">
                <a16:creationId xmlns:a16="http://schemas.microsoft.com/office/drawing/2014/main" id="{7040BF9A-E65D-CFE7-5621-E34C654D28D8}"/>
              </a:ext>
            </a:extLst>
          </p:cNvPr>
          <p:cNvPicPr>
            <a:picLocks noGrp="1" noChangeAspect="1"/>
          </p:cNvPicPr>
          <p:nvPr>
            <p:ph idx="1"/>
          </p:nvPr>
        </p:nvPicPr>
        <p:blipFill>
          <a:blip r:embed="rId3"/>
          <a:stretch>
            <a:fillRect/>
          </a:stretch>
        </p:blipFill>
        <p:spPr>
          <a:xfrm>
            <a:off x="6207318" y="1103996"/>
            <a:ext cx="4997064" cy="2750121"/>
          </a:xfrm>
          <a:prstGeom prst="rect">
            <a:avLst/>
          </a:prstGeom>
        </p:spPr>
      </p:pic>
    </p:spTree>
    <p:extLst>
      <p:ext uri="{BB962C8B-B14F-4D97-AF65-F5344CB8AC3E}">
        <p14:creationId xmlns:p14="http://schemas.microsoft.com/office/powerpoint/2010/main" val="37352880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C435CE-9D51-0497-DFEA-9105509143A1}"/>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2EC5C495-CA7C-6C02-DBE0-D4BBB3FF36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26DE20-7F7C-FB96-C1E3-3D9A575A9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945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24B713-1F52-AAB5-4C22-2468A37FBE01}"/>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a:solidFill>
                  <a:srgbClr val="FFFFFF"/>
                </a:solidFill>
              </a:rPr>
              <a:t>Add-Migration</a:t>
            </a:r>
            <a:br>
              <a:rPr lang="en-US" sz="2600" dirty="0">
                <a:solidFill>
                  <a:srgbClr val="FFFFFF"/>
                </a:solidFill>
              </a:rPr>
            </a:br>
            <a:r>
              <a:rPr lang="en-US" sz="2600">
                <a:solidFill>
                  <a:srgbClr val="FFFFFF"/>
                </a:solidFill>
              </a:rPr>
              <a:t>Update-Database</a:t>
            </a:r>
            <a:endParaRPr lang="en-US" sz="2600" dirty="0">
              <a:solidFill>
                <a:srgbClr val="FFFFFF"/>
              </a:solidFill>
            </a:endParaRPr>
          </a:p>
        </p:txBody>
      </p:sp>
      <p:pic>
        <p:nvPicPr>
          <p:cNvPr id="8" name="Picture 7" descr="A close up of a sign&#10;&#10;AI-generated content may be incorrect.">
            <a:extLst>
              <a:ext uri="{FF2B5EF4-FFF2-40B4-BE49-F238E27FC236}">
                <a16:creationId xmlns:a16="http://schemas.microsoft.com/office/drawing/2014/main" id="{407CE4DE-6AF3-4CDB-26D0-E0AB52D21BD8}"/>
              </a:ext>
            </a:extLst>
          </p:cNvPr>
          <p:cNvPicPr>
            <a:picLocks noChangeAspect="1"/>
          </p:cNvPicPr>
          <p:nvPr/>
        </p:nvPicPr>
        <p:blipFill>
          <a:blip r:embed="rId2"/>
          <a:stretch>
            <a:fillRect/>
          </a:stretch>
        </p:blipFill>
        <p:spPr>
          <a:xfrm>
            <a:off x="5319432" y="3428418"/>
            <a:ext cx="4914900" cy="828675"/>
          </a:xfrm>
          <a:prstGeom prst="rect">
            <a:avLst/>
          </a:prstGeom>
        </p:spPr>
      </p:pic>
      <p:pic>
        <p:nvPicPr>
          <p:cNvPr id="4" name="Content Placeholder 3" descr="A close up of a screen&#10;&#10;AI-generated content may be incorrect.">
            <a:extLst>
              <a:ext uri="{FF2B5EF4-FFF2-40B4-BE49-F238E27FC236}">
                <a16:creationId xmlns:a16="http://schemas.microsoft.com/office/drawing/2014/main" id="{20B1C988-F2D4-9E86-A4BA-1CCC623A2106}"/>
              </a:ext>
            </a:extLst>
          </p:cNvPr>
          <p:cNvPicPr>
            <a:picLocks noChangeAspect="1"/>
          </p:cNvPicPr>
          <p:nvPr/>
        </p:nvPicPr>
        <p:blipFill>
          <a:blip r:embed="rId3"/>
          <a:stretch>
            <a:fillRect/>
          </a:stretch>
        </p:blipFill>
        <p:spPr>
          <a:xfrm>
            <a:off x="4166333" y="2075534"/>
            <a:ext cx="7219950" cy="666750"/>
          </a:xfrm>
          <a:prstGeom prst="rect">
            <a:avLst/>
          </a:prstGeom>
        </p:spPr>
      </p:pic>
    </p:spTree>
    <p:extLst>
      <p:ext uri="{BB962C8B-B14F-4D97-AF65-F5344CB8AC3E}">
        <p14:creationId xmlns:p14="http://schemas.microsoft.com/office/powerpoint/2010/main" val="26466430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333FAB-356D-99A4-B406-EED8C299610F}"/>
              </a:ext>
            </a:extLst>
          </p:cNvPr>
          <p:cNvSpPr>
            <a:spLocks noGrp="1"/>
          </p:cNvSpPr>
          <p:nvPr>
            <p:ph type="title"/>
          </p:nvPr>
        </p:nvSpPr>
        <p:spPr>
          <a:xfrm>
            <a:off x="1285241" y="1008993"/>
            <a:ext cx="9231410" cy="3542045"/>
          </a:xfrm>
        </p:spPr>
        <p:txBody>
          <a:bodyPr vert="horz" lIns="91440" tIns="45720" rIns="91440" bIns="45720" rtlCol="0" anchor="b">
            <a:normAutofit/>
          </a:bodyPr>
          <a:lstStyle/>
          <a:p>
            <a:r>
              <a:rPr lang="en-US" sz="6300" kern="1200">
                <a:solidFill>
                  <a:schemeClr val="tx1"/>
                </a:solidFill>
                <a:latin typeface="+mj-lt"/>
                <a:ea typeface="+mj-ea"/>
                <a:cs typeface="+mj-cs"/>
              </a:rPr>
              <a:t>You can test the web application and try all the end points if you want now</a:t>
            </a:r>
          </a:p>
        </p:txBody>
      </p:sp>
    </p:spTree>
    <p:extLst>
      <p:ext uri="{BB962C8B-B14F-4D97-AF65-F5344CB8AC3E}">
        <p14:creationId xmlns:p14="http://schemas.microsoft.com/office/powerpoint/2010/main" val="1593593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8E5E02-CC62-439E-A4FA-10D1AAD3A105}"/>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kern="1200">
                <a:solidFill>
                  <a:schemeClr val="tx1"/>
                </a:solidFill>
                <a:latin typeface="+mj-lt"/>
                <a:ea typeface="+mj-ea"/>
                <a:cs typeface="+mj-cs"/>
              </a:rPr>
              <a:t>First Function is Seeding Users and Roles</a:t>
            </a:r>
          </a:p>
        </p:txBody>
      </p:sp>
      <p:sp>
        <p:nvSpPr>
          <p:cNvPr id="9" name="Rectangle 8">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 name="Rectangle 10">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553929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889365-6D38-009D-F9D5-73935906BEEC}"/>
              </a:ext>
            </a:extLst>
          </p:cNvPr>
          <p:cNvSpPr>
            <a:spLocks noGrp="1"/>
          </p:cNvSpPr>
          <p:nvPr>
            <p:ph type="title"/>
          </p:nvPr>
        </p:nvSpPr>
        <p:spPr>
          <a:xfrm>
            <a:off x="762001" y="1141711"/>
            <a:ext cx="3234466" cy="3474364"/>
          </a:xfrm>
        </p:spPr>
        <p:txBody>
          <a:bodyPr vert="horz" lIns="91440" tIns="45720" rIns="91440" bIns="45720" rtlCol="0" anchor="t">
            <a:normAutofit/>
          </a:bodyPr>
          <a:lstStyle/>
          <a:p>
            <a:r>
              <a:rPr lang="en-US" sz="3600" kern="1200">
                <a:solidFill>
                  <a:schemeClr val="tx1"/>
                </a:solidFill>
                <a:latin typeface="+mj-lt"/>
                <a:ea typeface="+mj-ea"/>
                <a:cs typeface="+mj-cs"/>
              </a:rPr>
              <a:t>Right click the data folder and select Add -&gt; Class</a:t>
            </a:r>
          </a:p>
        </p:txBody>
      </p:sp>
      <p:cxnSp>
        <p:nvCxnSpPr>
          <p:cNvPr id="12" name="Straight Connector 11">
            <a:extLst>
              <a:ext uri="{FF2B5EF4-FFF2-40B4-BE49-F238E27FC236}">
                <a16:creationId xmlns:a16="http://schemas.microsoft.com/office/drawing/2014/main" id="{33193FD5-6A49-7562-EA76-F15D42E1580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Content Placeholder 6" descr="A screenshot of a computer program&#10;&#10;AI-generated content may be incorrect.">
            <a:extLst>
              <a:ext uri="{FF2B5EF4-FFF2-40B4-BE49-F238E27FC236}">
                <a16:creationId xmlns:a16="http://schemas.microsoft.com/office/drawing/2014/main" id="{91789F99-9125-A5C4-E76A-1B8AE3107AA1}"/>
              </a:ext>
            </a:extLst>
          </p:cNvPr>
          <p:cNvPicPr>
            <a:picLocks noGrp="1" noChangeAspect="1"/>
          </p:cNvPicPr>
          <p:nvPr>
            <p:ph idx="1"/>
          </p:nvPr>
        </p:nvPicPr>
        <p:blipFill>
          <a:blip r:embed="rId2"/>
          <a:stretch>
            <a:fillRect/>
          </a:stretch>
        </p:blipFill>
        <p:spPr>
          <a:xfrm>
            <a:off x="4615543" y="980919"/>
            <a:ext cx="6711317" cy="4916040"/>
          </a:xfrm>
          <a:prstGeom prst="rect">
            <a:avLst/>
          </a:prstGeom>
        </p:spPr>
      </p:pic>
    </p:spTree>
    <p:extLst>
      <p:ext uri="{BB962C8B-B14F-4D97-AF65-F5344CB8AC3E}">
        <p14:creationId xmlns:p14="http://schemas.microsoft.com/office/powerpoint/2010/main" val="30447199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E3E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A1717F-C083-0B46-0C48-C418FE43D4E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Create the new class called SeedData</a:t>
            </a:r>
          </a:p>
        </p:txBody>
      </p:sp>
      <p:pic>
        <p:nvPicPr>
          <p:cNvPr id="4" name="Content Placeholder 3" descr="A screenshot of a computer&#10;&#10;AI-generated content may be incorrect.">
            <a:extLst>
              <a:ext uri="{FF2B5EF4-FFF2-40B4-BE49-F238E27FC236}">
                <a16:creationId xmlns:a16="http://schemas.microsoft.com/office/drawing/2014/main" id="{31388907-660C-087D-C674-CC75C3BD0644}"/>
              </a:ext>
            </a:extLst>
          </p:cNvPr>
          <p:cNvPicPr>
            <a:picLocks noGrp="1" noChangeAspect="1"/>
          </p:cNvPicPr>
          <p:nvPr>
            <p:ph idx="1"/>
          </p:nvPr>
        </p:nvPicPr>
        <p:blipFill>
          <a:blip r:embed="rId2"/>
          <a:stretch>
            <a:fillRect/>
          </a:stretch>
        </p:blipFill>
        <p:spPr>
          <a:xfrm>
            <a:off x="4085228" y="961812"/>
            <a:ext cx="7094943" cy="4930987"/>
          </a:xfrm>
          <a:prstGeom prst="rect">
            <a:avLst/>
          </a:prstGeom>
        </p:spPr>
      </p:pic>
    </p:spTree>
    <p:extLst>
      <p:ext uri="{BB962C8B-B14F-4D97-AF65-F5344CB8AC3E}">
        <p14:creationId xmlns:p14="http://schemas.microsoft.com/office/powerpoint/2010/main" val="3133554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FA9295-FB93-BF49-0375-F557124AA9CD}"/>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Going to create the following method called SeedUsersAndRoles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1B3DE2F9-64C8-8D90-3EC2-C3B01ABDC5F3}"/>
              </a:ext>
            </a:extLst>
          </p:cNvPr>
          <p:cNvPicPr>
            <a:picLocks noGrp="1" noChangeAspect="1"/>
          </p:cNvPicPr>
          <p:nvPr>
            <p:ph idx="1"/>
          </p:nvPr>
        </p:nvPicPr>
        <p:blipFill>
          <a:blip r:embed="rId2"/>
          <a:stretch>
            <a:fillRect/>
          </a:stretch>
        </p:blipFill>
        <p:spPr>
          <a:xfrm>
            <a:off x="320040" y="3834769"/>
            <a:ext cx="11548872" cy="1183759"/>
          </a:xfrm>
          <a:prstGeom prst="rect">
            <a:avLst/>
          </a:prstGeom>
        </p:spPr>
      </p:pic>
    </p:spTree>
    <p:extLst>
      <p:ext uri="{BB962C8B-B14F-4D97-AF65-F5344CB8AC3E}">
        <p14:creationId xmlns:p14="http://schemas.microsoft.com/office/powerpoint/2010/main" val="4798042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50957C-60CD-136C-CF1C-342C64B579E0}"/>
              </a:ext>
            </a:extLst>
          </p:cNvPr>
          <p:cNvSpPr>
            <a:spLocks noGrp="1"/>
          </p:cNvSpPr>
          <p:nvPr>
            <p:ph type="title"/>
          </p:nvPr>
        </p:nvSpPr>
        <p:spPr>
          <a:xfrm>
            <a:off x="630936" y="640823"/>
            <a:ext cx="3419856" cy="5583148"/>
          </a:xfrm>
        </p:spPr>
        <p:txBody>
          <a:bodyPr anchor="ctr">
            <a:normAutofit/>
          </a:bodyPr>
          <a:lstStyle/>
          <a:p>
            <a:r>
              <a:rPr lang="en-GB" sz="5400"/>
              <a:t>First lets add the roles -&gt;&gt; Inside the method we just made</a:t>
            </a:r>
          </a:p>
        </p:txBody>
      </p:sp>
      <p:sp>
        <p:nvSpPr>
          <p:cNvPr id="16"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onnsiteX0" fmla="*/ 0 w 18288"/>
              <a:gd name="connsiteY0" fmla="*/ 0 h 5590381"/>
              <a:gd name="connsiteX1" fmla="*/ 18288 w 18288"/>
              <a:gd name="connsiteY1" fmla="*/ 0 h 5590381"/>
              <a:gd name="connsiteX2" fmla="*/ 18288 w 18288"/>
              <a:gd name="connsiteY2" fmla="*/ 754701 h 5590381"/>
              <a:gd name="connsiteX3" fmla="*/ 18288 w 18288"/>
              <a:gd name="connsiteY3" fmla="*/ 1565307 h 5590381"/>
              <a:gd name="connsiteX4" fmla="*/ 18288 w 18288"/>
              <a:gd name="connsiteY4" fmla="*/ 2152297 h 5590381"/>
              <a:gd name="connsiteX5" fmla="*/ 18288 w 18288"/>
              <a:gd name="connsiteY5" fmla="*/ 2906998 h 5590381"/>
              <a:gd name="connsiteX6" fmla="*/ 18288 w 18288"/>
              <a:gd name="connsiteY6" fmla="*/ 3549892 h 5590381"/>
              <a:gd name="connsiteX7" fmla="*/ 18288 w 18288"/>
              <a:gd name="connsiteY7" fmla="*/ 4080978 h 5590381"/>
              <a:gd name="connsiteX8" fmla="*/ 18288 w 18288"/>
              <a:gd name="connsiteY8" fmla="*/ 4835680 h 5590381"/>
              <a:gd name="connsiteX9" fmla="*/ 18288 w 18288"/>
              <a:gd name="connsiteY9" fmla="*/ 5590381 h 5590381"/>
              <a:gd name="connsiteX10" fmla="*/ 0 w 18288"/>
              <a:gd name="connsiteY10" fmla="*/ 5590381 h 5590381"/>
              <a:gd name="connsiteX11" fmla="*/ 0 w 18288"/>
              <a:gd name="connsiteY11" fmla="*/ 4835680 h 5590381"/>
              <a:gd name="connsiteX12" fmla="*/ 0 w 18288"/>
              <a:gd name="connsiteY12" fmla="*/ 4304593 h 5590381"/>
              <a:gd name="connsiteX13" fmla="*/ 0 w 18288"/>
              <a:gd name="connsiteY13" fmla="*/ 3773507 h 5590381"/>
              <a:gd name="connsiteX14" fmla="*/ 0 w 18288"/>
              <a:gd name="connsiteY14" fmla="*/ 3186517 h 5590381"/>
              <a:gd name="connsiteX15" fmla="*/ 0 w 18288"/>
              <a:gd name="connsiteY15" fmla="*/ 2487720 h 5590381"/>
              <a:gd name="connsiteX16" fmla="*/ 0 w 18288"/>
              <a:gd name="connsiteY16" fmla="*/ 1956633 h 5590381"/>
              <a:gd name="connsiteX17" fmla="*/ 0 w 18288"/>
              <a:gd name="connsiteY17" fmla="*/ 1425547 h 5590381"/>
              <a:gd name="connsiteX18" fmla="*/ 0 w 18288"/>
              <a:gd name="connsiteY18" fmla="*/ 614942 h 5590381"/>
              <a:gd name="connsiteX19" fmla="*/ 0 w 18288"/>
              <a:gd name="connsiteY19" fmla="*/ 0 h 5590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descr="A screen shot of a computer program&#10;&#10;AI-generated content may be incorrect.">
            <a:extLst>
              <a:ext uri="{FF2B5EF4-FFF2-40B4-BE49-F238E27FC236}">
                <a16:creationId xmlns:a16="http://schemas.microsoft.com/office/drawing/2014/main" id="{75670F02-F579-4BFB-160D-731EA458F00A}"/>
              </a:ext>
            </a:extLst>
          </p:cNvPr>
          <p:cNvPicPr>
            <a:picLocks noChangeAspect="1"/>
          </p:cNvPicPr>
          <p:nvPr/>
        </p:nvPicPr>
        <p:blipFill>
          <a:blip r:embed="rId2"/>
          <a:stretch>
            <a:fillRect/>
          </a:stretch>
        </p:blipFill>
        <p:spPr>
          <a:xfrm>
            <a:off x="4654296" y="1312256"/>
            <a:ext cx="6894576" cy="2550992"/>
          </a:xfrm>
          <a:prstGeom prst="rect">
            <a:avLst/>
          </a:prstGeom>
        </p:spPr>
      </p:pic>
    </p:spTree>
    <p:extLst>
      <p:ext uri="{BB962C8B-B14F-4D97-AF65-F5344CB8AC3E}">
        <p14:creationId xmlns:p14="http://schemas.microsoft.com/office/powerpoint/2010/main" val="14944331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5CF6A68-4EEF-8FA4-B327-033662429F4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Still inside the method under what we just wrote let's create the different users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49F22A00-DEA7-AE72-8C37-89C7952B4D12}"/>
              </a:ext>
            </a:extLst>
          </p:cNvPr>
          <p:cNvPicPr>
            <a:picLocks noGrp="1" noChangeAspect="1"/>
          </p:cNvPicPr>
          <p:nvPr>
            <p:ph idx="1"/>
          </p:nvPr>
        </p:nvPicPr>
        <p:blipFill>
          <a:blip r:embed="rId2"/>
          <a:stretch>
            <a:fillRect/>
          </a:stretch>
        </p:blipFill>
        <p:spPr>
          <a:xfrm>
            <a:off x="320040" y="3069657"/>
            <a:ext cx="11548872" cy="2713983"/>
          </a:xfrm>
          <a:prstGeom prst="rect">
            <a:avLst/>
          </a:prstGeom>
        </p:spPr>
      </p:pic>
    </p:spTree>
    <p:extLst>
      <p:ext uri="{BB962C8B-B14F-4D97-AF65-F5344CB8AC3E}">
        <p14:creationId xmlns:p14="http://schemas.microsoft.com/office/powerpoint/2010/main" val="19528626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7365EEE-841D-6257-6EBA-39A54235581D}"/>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Adding the 3 supplier users for different suppliers</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D6F8E1A1-6F52-703D-A668-95EB609B631D}"/>
              </a:ext>
            </a:extLst>
          </p:cNvPr>
          <p:cNvPicPr>
            <a:picLocks noGrp="1" noChangeAspect="1"/>
          </p:cNvPicPr>
          <p:nvPr>
            <p:ph idx="1"/>
          </p:nvPr>
        </p:nvPicPr>
        <p:blipFill>
          <a:blip r:embed="rId2"/>
          <a:stretch>
            <a:fillRect/>
          </a:stretch>
        </p:blipFill>
        <p:spPr>
          <a:xfrm>
            <a:off x="4654296" y="1458320"/>
            <a:ext cx="7214616" cy="3913928"/>
          </a:xfrm>
          <a:prstGeom prst="rect">
            <a:avLst/>
          </a:prstGeom>
        </p:spPr>
      </p:pic>
    </p:spTree>
    <p:extLst>
      <p:ext uri="{BB962C8B-B14F-4D97-AF65-F5344CB8AC3E}">
        <p14:creationId xmlns:p14="http://schemas.microsoft.com/office/powerpoint/2010/main" val="19310735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168F99-7737-6B77-A14D-3A97EBEC45ED}"/>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5600"/>
              <a:t>Now adding the normal and dev user</a:t>
            </a:r>
          </a:p>
        </p:txBody>
      </p:sp>
      <p:sp>
        <p:nvSpPr>
          <p:cNvPr id="21"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 shot of a computer program&#10;&#10;AI-generated content may be incorrect.">
            <a:extLst>
              <a:ext uri="{FF2B5EF4-FFF2-40B4-BE49-F238E27FC236}">
                <a16:creationId xmlns:a16="http://schemas.microsoft.com/office/drawing/2014/main" id="{6B8D8ED8-C827-1753-647D-4C20BD99AD48}"/>
              </a:ext>
            </a:extLst>
          </p:cNvPr>
          <p:cNvPicPr>
            <a:picLocks noChangeAspect="1"/>
          </p:cNvPicPr>
          <p:nvPr/>
        </p:nvPicPr>
        <p:blipFill>
          <a:blip r:embed="rId2"/>
          <a:stretch>
            <a:fillRect/>
          </a:stretch>
        </p:blipFill>
        <p:spPr>
          <a:xfrm>
            <a:off x="2446265" y="2270578"/>
            <a:ext cx="7298191" cy="1664425"/>
          </a:xfrm>
          <a:prstGeom prst="rect">
            <a:avLst/>
          </a:prstGeom>
        </p:spPr>
      </p:pic>
      <p:pic>
        <p:nvPicPr>
          <p:cNvPr id="5" name="Picture 4" descr="A screen shot of a computer program&#10;&#10;AI-generated content may be incorrect.">
            <a:extLst>
              <a:ext uri="{FF2B5EF4-FFF2-40B4-BE49-F238E27FC236}">
                <a16:creationId xmlns:a16="http://schemas.microsoft.com/office/drawing/2014/main" id="{B2F3EAA6-8A7C-84F7-57C8-B06216ADBF9B}"/>
              </a:ext>
            </a:extLst>
          </p:cNvPr>
          <p:cNvPicPr>
            <a:picLocks noChangeAspect="1"/>
          </p:cNvPicPr>
          <p:nvPr/>
        </p:nvPicPr>
        <p:blipFill>
          <a:blip r:embed="rId3"/>
          <a:stretch>
            <a:fillRect/>
          </a:stretch>
        </p:blipFill>
        <p:spPr>
          <a:xfrm>
            <a:off x="2444495" y="4703155"/>
            <a:ext cx="7298191" cy="1549481"/>
          </a:xfrm>
          <a:prstGeom prst="rect">
            <a:avLst/>
          </a:prstGeom>
        </p:spPr>
      </p:pic>
    </p:spTree>
    <p:extLst>
      <p:ext uri="{BB962C8B-B14F-4D97-AF65-F5344CB8AC3E}">
        <p14:creationId xmlns:p14="http://schemas.microsoft.com/office/powerpoint/2010/main" val="37245156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4601B2-2374-163A-77CE-50F21126E049}"/>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6600"/>
              <a:t>Program.cs code  </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computer code&#10;&#10;AI-generated content may be incorrect.">
            <a:extLst>
              <a:ext uri="{FF2B5EF4-FFF2-40B4-BE49-F238E27FC236}">
                <a16:creationId xmlns:a16="http://schemas.microsoft.com/office/drawing/2014/main" id="{A4F64E60-ED7E-F9F1-EA16-DB147A03C33E}"/>
              </a:ext>
            </a:extLst>
          </p:cNvPr>
          <p:cNvPicPr>
            <a:picLocks noChangeAspect="1"/>
          </p:cNvPicPr>
          <p:nvPr/>
        </p:nvPicPr>
        <p:blipFill>
          <a:blip r:embed="rId2"/>
          <a:stretch>
            <a:fillRect/>
          </a:stretch>
        </p:blipFill>
        <p:spPr>
          <a:xfrm>
            <a:off x="320040" y="3575274"/>
            <a:ext cx="5614416" cy="1740467"/>
          </a:xfrm>
          <a:prstGeom prst="rect">
            <a:avLst/>
          </a:prstGeom>
        </p:spPr>
      </p:pic>
      <p:pic>
        <p:nvPicPr>
          <p:cNvPr id="4" name="Content Placeholder 3" descr="A computer screen with text and symbols&#10;&#10;AI-generated content may be incorrect.">
            <a:extLst>
              <a:ext uri="{FF2B5EF4-FFF2-40B4-BE49-F238E27FC236}">
                <a16:creationId xmlns:a16="http://schemas.microsoft.com/office/drawing/2014/main" id="{1BA42B62-F58D-F3A7-0F34-41CF15DB208F}"/>
              </a:ext>
            </a:extLst>
          </p:cNvPr>
          <p:cNvPicPr>
            <a:picLocks noGrp="1" noChangeAspect="1"/>
          </p:cNvPicPr>
          <p:nvPr>
            <p:ph idx="1"/>
          </p:nvPr>
        </p:nvPicPr>
        <p:blipFill>
          <a:blip r:embed="rId3"/>
          <a:stretch>
            <a:fillRect/>
          </a:stretch>
        </p:blipFill>
        <p:spPr>
          <a:xfrm>
            <a:off x="6254496" y="4164788"/>
            <a:ext cx="5614416" cy="561440"/>
          </a:xfrm>
          <a:prstGeom prst="rect">
            <a:avLst/>
          </a:prstGeom>
        </p:spPr>
      </p:pic>
    </p:spTree>
    <p:extLst>
      <p:ext uri="{BB962C8B-B14F-4D97-AF65-F5344CB8AC3E}">
        <p14:creationId xmlns:p14="http://schemas.microsoft.com/office/powerpoint/2010/main" val="12363911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2D907F9-0BDD-4841-0EDA-E0CFF33FB14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Run the program and test logging in to each account to ensure they are working</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62572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843E82-F4D0-EC71-260F-194E6FC5E1A0}"/>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Now lets seed the Suppliers as the next set of data we need</a:t>
            </a:r>
          </a:p>
        </p:txBody>
      </p:sp>
      <p:sp>
        <p:nvSpPr>
          <p:cNvPr id="13" name="Rectangle 12">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onnsiteX0" fmla="*/ 0 w 3647661"/>
              <a:gd name="connsiteY0" fmla="*/ 0 h 4436126"/>
              <a:gd name="connsiteX1" fmla="*/ 498514 w 3647661"/>
              <a:gd name="connsiteY1" fmla="*/ 0 h 4436126"/>
              <a:gd name="connsiteX2" fmla="*/ 1069981 w 3647661"/>
              <a:gd name="connsiteY2" fmla="*/ 0 h 4436126"/>
              <a:gd name="connsiteX3" fmla="*/ 1714401 w 3647661"/>
              <a:gd name="connsiteY3" fmla="*/ 0 h 4436126"/>
              <a:gd name="connsiteX4" fmla="*/ 2285868 w 3647661"/>
              <a:gd name="connsiteY4" fmla="*/ 0 h 4436126"/>
              <a:gd name="connsiteX5" fmla="*/ 2784381 w 3647661"/>
              <a:gd name="connsiteY5" fmla="*/ 0 h 4436126"/>
              <a:gd name="connsiteX6" fmla="*/ 3647661 w 3647661"/>
              <a:gd name="connsiteY6" fmla="*/ 0 h 4436126"/>
              <a:gd name="connsiteX7" fmla="*/ 3647661 w 3647661"/>
              <a:gd name="connsiteY7" fmla="*/ 633732 h 4436126"/>
              <a:gd name="connsiteX8" fmla="*/ 3647661 w 3647661"/>
              <a:gd name="connsiteY8" fmla="*/ 1267465 h 4436126"/>
              <a:gd name="connsiteX9" fmla="*/ 3647661 w 3647661"/>
              <a:gd name="connsiteY9" fmla="*/ 1768113 h 4436126"/>
              <a:gd name="connsiteX10" fmla="*/ 3647661 w 3647661"/>
              <a:gd name="connsiteY10" fmla="*/ 2446207 h 4436126"/>
              <a:gd name="connsiteX11" fmla="*/ 3647661 w 3647661"/>
              <a:gd name="connsiteY11" fmla="*/ 2946855 h 4436126"/>
              <a:gd name="connsiteX12" fmla="*/ 3647661 w 3647661"/>
              <a:gd name="connsiteY12" fmla="*/ 3580587 h 4436126"/>
              <a:gd name="connsiteX13" fmla="*/ 3647661 w 3647661"/>
              <a:gd name="connsiteY13" fmla="*/ 4436126 h 4436126"/>
              <a:gd name="connsiteX14" fmla="*/ 3039718 w 3647661"/>
              <a:gd name="connsiteY14" fmla="*/ 4436126 h 4436126"/>
              <a:gd name="connsiteX15" fmla="*/ 2431774 w 3647661"/>
              <a:gd name="connsiteY15" fmla="*/ 4436126 h 4436126"/>
              <a:gd name="connsiteX16" fmla="*/ 1823831 w 3647661"/>
              <a:gd name="connsiteY16" fmla="*/ 4436126 h 4436126"/>
              <a:gd name="connsiteX17" fmla="*/ 1288840 w 3647661"/>
              <a:gd name="connsiteY17" fmla="*/ 4436126 h 4436126"/>
              <a:gd name="connsiteX18" fmla="*/ 607943 w 3647661"/>
              <a:gd name="connsiteY18" fmla="*/ 4436126 h 4436126"/>
              <a:gd name="connsiteX19" fmla="*/ 0 w 3647661"/>
              <a:gd name="connsiteY19" fmla="*/ 4436126 h 4436126"/>
              <a:gd name="connsiteX20" fmla="*/ 0 w 3647661"/>
              <a:gd name="connsiteY20" fmla="*/ 3758032 h 4436126"/>
              <a:gd name="connsiteX21" fmla="*/ 0 w 3647661"/>
              <a:gd name="connsiteY21" fmla="*/ 3035578 h 4436126"/>
              <a:gd name="connsiteX22" fmla="*/ 0 w 3647661"/>
              <a:gd name="connsiteY22" fmla="*/ 2401845 h 4436126"/>
              <a:gd name="connsiteX23" fmla="*/ 0 w 3647661"/>
              <a:gd name="connsiteY23" fmla="*/ 1768113 h 4436126"/>
              <a:gd name="connsiteX24" fmla="*/ 0 w 3647661"/>
              <a:gd name="connsiteY24" fmla="*/ 1178742 h 4436126"/>
              <a:gd name="connsiteX25" fmla="*/ 0 w 3647661"/>
              <a:gd name="connsiteY25" fmla="*/ 589371 h 4436126"/>
              <a:gd name="connsiteX26" fmla="*/ 0 w 3647661"/>
              <a:gd name="connsiteY26" fmla="*/ 0 h 4436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onnsiteX0" fmla="*/ 0 w 6281928"/>
              <a:gd name="connsiteY0" fmla="*/ 0 h 18288"/>
              <a:gd name="connsiteX1" fmla="*/ 572353 w 6281928"/>
              <a:gd name="connsiteY1" fmla="*/ 0 h 18288"/>
              <a:gd name="connsiteX2" fmla="*/ 1207526 w 6281928"/>
              <a:gd name="connsiteY2" fmla="*/ 0 h 18288"/>
              <a:gd name="connsiteX3" fmla="*/ 1779880 w 6281928"/>
              <a:gd name="connsiteY3" fmla="*/ 0 h 18288"/>
              <a:gd name="connsiteX4" fmla="*/ 2540691 w 6281928"/>
              <a:gd name="connsiteY4" fmla="*/ 0 h 18288"/>
              <a:gd name="connsiteX5" fmla="*/ 3238683 w 6281928"/>
              <a:gd name="connsiteY5" fmla="*/ 0 h 18288"/>
              <a:gd name="connsiteX6" fmla="*/ 3936675 w 6281928"/>
              <a:gd name="connsiteY6" fmla="*/ 0 h 18288"/>
              <a:gd name="connsiteX7" fmla="*/ 4760305 w 6281928"/>
              <a:gd name="connsiteY7" fmla="*/ 0 h 18288"/>
              <a:gd name="connsiteX8" fmla="*/ 5521117 w 6281928"/>
              <a:gd name="connsiteY8" fmla="*/ 0 h 18288"/>
              <a:gd name="connsiteX9" fmla="*/ 6281928 w 6281928"/>
              <a:gd name="connsiteY9" fmla="*/ 0 h 18288"/>
              <a:gd name="connsiteX10" fmla="*/ 6281928 w 6281928"/>
              <a:gd name="connsiteY10" fmla="*/ 18288 h 18288"/>
              <a:gd name="connsiteX11" fmla="*/ 5772394 w 6281928"/>
              <a:gd name="connsiteY11" fmla="*/ 18288 h 18288"/>
              <a:gd name="connsiteX12" fmla="*/ 5200040 w 6281928"/>
              <a:gd name="connsiteY12" fmla="*/ 18288 h 18288"/>
              <a:gd name="connsiteX13" fmla="*/ 4439229 w 6281928"/>
              <a:gd name="connsiteY13" fmla="*/ 18288 h 18288"/>
              <a:gd name="connsiteX14" fmla="*/ 3615599 w 6281928"/>
              <a:gd name="connsiteY14" fmla="*/ 18288 h 18288"/>
              <a:gd name="connsiteX15" fmla="*/ 2980426 w 6281928"/>
              <a:gd name="connsiteY15" fmla="*/ 18288 h 18288"/>
              <a:gd name="connsiteX16" fmla="*/ 2156795 w 6281928"/>
              <a:gd name="connsiteY16" fmla="*/ 18288 h 18288"/>
              <a:gd name="connsiteX17" fmla="*/ 1584442 w 6281928"/>
              <a:gd name="connsiteY17" fmla="*/ 18288 h 18288"/>
              <a:gd name="connsiteX18" fmla="*/ 1074908 w 6281928"/>
              <a:gd name="connsiteY18" fmla="*/ 18288 h 18288"/>
              <a:gd name="connsiteX19" fmla="*/ 0 w 6281928"/>
              <a:gd name="connsiteY19" fmla="*/ 18288 h 18288"/>
              <a:gd name="connsiteX20" fmla="*/ 0 w 6281928"/>
              <a:gd name="connsiteY2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593169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6EFC6F-FB3B-64CA-3C49-4FDDC109B85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Add this method in the SeedData.cs file under the SeedUsersAndRoles method</a:t>
            </a:r>
          </a:p>
        </p:txBody>
      </p:sp>
      <p:sp>
        <p:nvSpPr>
          <p:cNvPr id="14"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descr="A screen shot of a computer&#10;&#10;AI-generated content may be incorrect.">
            <a:extLst>
              <a:ext uri="{FF2B5EF4-FFF2-40B4-BE49-F238E27FC236}">
                <a16:creationId xmlns:a16="http://schemas.microsoft.com/office/drawing/2014/main" id="{A90FF296-651A-AD26-9D87-5B0F2A9631CC}"/>
              </a:ext>
            </a:extLst>
          </p:cNvPr>
          <p:cNvPicPr>
            <a:picLocks noGrp="1" noChangeAspect="1"/>
          </p:cNvPicPr>
          <p:nvPr>
            <p:ph idx="1"/>
          </p:nvPr>
        </p:nvPicPr>
        <p:blipFill>
          <a:blip r:embed="rId2"/>
          <a:stretch>
            <a:fillRect/>
          </a:stretch>
        </p:blipFill>
        <p:spPr>
          <a:xfrm>
            <a:off x="320040" y="3444996"/>
            <a:ext cx="11548872" cy="1963305"/>
          </a:xfrm>
          <a:prstGeom prst="rect">
            <a:avLst/>
          </a:prstGeom>
        </p:spPr>
      </p:pic>
    </p:spTree>
    <p:extLst>
      <p:ext uri="{BB962C8B-B14F-4D97-AF65-F5344CB8AC3E}">
        <p14:creationId xmlns:p14="http://schemas.microsoft.com/office/powerpoint/2010/main" val="14952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D67C1D-296B-2F2F-976B-594D79380BAB}"/>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100" kern="1200">
                <a:solidFill>
                  <a:schemeClr val="tx1"/>
                </a:solidFill>
                <a:latin typeface="+mj-lt"/>
                <a:ea typeface="+mj-ea"/>
                <a:cs typeface="+mj-cs"/>
              </a:rPr>
              <a:t>Write the following code to find the supplier you want to link</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computer screen with text&#10;&#10;AI-generated content may be incorrect.">
            <a:extLst>
              <a:ext uri="{FF2B5EF4-FFF2-40B4-BE49-F238E27FC236}">
                <a16:creationId xmlns:a16="http://schemas.microsoft.com/office/drawing/2014/main" id="{58845825-CFEF-C654-AD07-96D31DED7936}"/>
              </a:ext>
            </a:extLst>
          </p:cNvPr>
          <p:cNvPicPr>
            <a:picLocks noGrp="1" noChangeAspect="1"/>
          </p:cNvPicPr>
          <p:nvPr>
            <p:ph idx="1"/>
          </p:nvPr>
        </p:nvPicPr>
        <p:blipFill>
          <a:blip r:embed="rId2"/>
          <a:stretch>
            <a:fillRect/>
          </a:stretch>
        </p:blipFill>
        <p:spPr>
          <a:xfrm>
            <a:off x="4654296" y="2089598"/>
            <a:ext cx="7214616" cy="2651372"/>
          </a:xfrm>
          <a:prstGeom prst="rect">
            <a:avLst/>
          </a:prstGeom>
        </p:spPr>
      </p:pic>
    </p:spTree>
    <p:extLst>
      <p:ext uri="{BB962C8B-B14F-4D97-AF65-F5344CB8AC3E}">
        <p14:creationId xmlns:p14="http://schemas.microsoft.com/office/powerpoint/2010/main" val="26226784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D75142-2029-1610-8193-85BC00108FEE}"/>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Now to seed the suppliers </a:t>
            </a: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descr="A screenshot of a computer program&#10;&#10;AI-generated content may be incorrect.">
            <a:extLst>
              <a:ext uri="{FF2B5EF4-FFF2-40B4-BE49-F238E27FC236}">
                <a16:creationId xmlns:a16="http://schemas.microsoft.com/office/drawing/2014/main" id="{33EFE36D-C470-2758-213B-FD15BE51EF07}"/>
              </a:ext>
            </a:extLst>
          </p:cNvPr>
          <p:cNvPicPr>
            <a:picLocks noGrp="1" noChangeAspect="1"/>
          </p:cNvPicPr>
          <p:nvPr>
            <p:ph idx="1"/>
          </p:nvPr>
        </p:nvPicPr>
        <p:blipFill>
          <a:blip r:embed="rId2"/>
          <a:stretch>
            <a:fillRect/>
          </a:stretch>
        </p:blipFill>
        <p:spPr>
          <a:xfrm>
            <a:off x="4654296" y="1178752"/>
            <a:ext cx="7214616" cy="4473063"/>
          </a:xfrm>
          <a:prstGeom prst="rect">
            <a:avLst/>
          </a:prstGeom>
        </p:spPr>
      </p:pic>
    </p:spTree>
    <p:extLst>
      <p:ext uri="{BB962C8B-B14F-4D97-AF65-F5344CB8AC3E}">
        <p14:creationId xmlns:p14="http://schemas.microsoft.com/office/powerpoint/2010/main" val="26621089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A22910-1519-F0B1-6CC2-011395E8C667}"/>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Full Function</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0B564571-D231-16CB-EA0F-89F89D0860C7}"/>
              </a:ext>
            </a:extLst>
          </p:cNvPr>
          <p:cNvPicPr>
            <a:picLocks noGrp="1" noChangeAspect="1"/>
          </p:cNvPicPr>
          <p:nvPr>
            <p:ph idx="1"/>
          </p:nvPr>
        </p:nvPicPr>
        <p:blipFill>
          <a:blip r:embed="rId2"/>
          <a:stretch>
            <a:fillRect/>
          </a:stretch>
        </p:blipFill>
        <p:spPr>
          <a:xfrm>
            <a:off x="4654296" y="682748"/>
            <a:ext cx="7214616" cy="5465071"/>
          </a:xfrm>
          <a:prstGeom prst="rect">
            <a:avLst/>
          </a:prstGeom>
        </p:spPr>
      </p:pic>
    </p:spTree>
    <p:extLst>
      <p:ext uri="{BB962C8B-B14F-4D97-AF65-F5344CB8AC3E}">
        <p14:creationId xmlns:p14="http://schemas.microsoft.com/office/powerpoint/2010/main" val="4820303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1387E3-8248-77F1-3AC6-E760F96053A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Edit the Program.cs Code to call this function now</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599A2859-DAC6-77C0-0136-D9962881F26E}"/>
              </a:ext>
            </a:extLst>
          </p:cNvPr>
          <p:cNvPicPr>
            <a:picLocks noGrp="1" noChangeAspect="1"/>
          </p:cNvPicPr>
          <p:nvPr>
            <p:ph idx="1"/>
          </p:nvPr>
        </p:nvPicPr>
        <p:blipFill>
          <a:blip r:embed="rId2"/>
          <a:stretch>
            <a:fillRect/>
          </a:stretch>
        </p:blipFill>
        <p:spPr>
          <a:xfrm>
            <a:off x="320040" y="2997475"/>
            <a:ext cx="11548872" cy="2858346"/>
          </a:xfrm>
          <a:prstGeom prst="rect">
            <a:avLst/>
          </a:prstGeom>
        </p:spPr>
      </p:pic>
    </p:spTree>
    <p:extLst>
      <p:ext uri="{BB962C8B-B14F-4D97-AF65-F5344CB8AC3E}">
        <p14:creationId xmlns:p14="http://schemas.microsoft.com/office/powerpoint/2010/main" val="37185767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04D5DE-E075-67CB-D235-800CB4298135}"/>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Run the Program and test the homepage for Suppliers to ensure that is working</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website&#10;&#10;AI-generated content may be incorrect.">
            <a:extLst>
              <a:ext uri="{FF2B5EF4-FFF2-40B4-BE49-F238E27FC236}">
                <a16:creationId xmlns:a16="http://schemas.microsoft.com/office/drawing/2014/main" id="{8D68EA93-4195-F37A-7638-718F7D775B39}"/>
              </a:ext>
            </a:extLst>
          </p:cNvPr>
          <p:cNvPicPr>
            <a:picLocks noGrp="1" noChangeAspect="1"/>
          </p:cNvPicPr>
          <p:nvPr>
            <p:ph idx="1"/>
          </p:nvPr>
        </p:nvPicPr>
        <p:blipFill>
          <a:blip r:embed="rId2"/>
          <a:stretch>
            <a:fillRect/>
          </a:stretch>
        </p:blipFill>
        <p:spPr>
          <a:xfrm>
            <a:off x="1496585" y="2633472"/>
            <a:ext cx="9195782" cy="3586353"/>
          </a:xfrm>
          <a:prstGeom prst="rect">
            <a:avLst/>
          </a:prstGeom>
        </p:spPr>
      </p:pic>
    </p:spTree>
    <p:extLst>
      <p:ext uri="{BB962C8B-B14F-4D97-AF65-F5344CB8AC3E}">
        <p14:creationId xmlns:p14="http://schemas.microsoft.com/office/powerpoint/2010/main" val="22758088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EB8ACCE-5AA8-DE53-1AF1-A11AF94E4D91}"/>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Time to Seed the Products next</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988139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6DECB6-8E92-9F42-9E92-765826D14C7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Create the method under the seedSuppliers method</a:t>
            </a:r>
          </a:p>
        </p:txBody>
      </p:sp>
      <p:sp>
        <p:nvSpPr>
          <p:cNvPr id="33"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9E56A5A9-0093-CD6F-8F0B-0808B07A4C0B}"/>
              </a:ext>
            </a:extLst>
          </p:cNvPr>
          <p:cNvPicPr>
            <a:picLocks noChangeAspect="1"/>
          </p:cNvPicPr>
          <p:nvPr/>
        </p:nvPicPr>
        <p:blipFill>
          <a:blip r:embed="rId2"/>
          <a:stretch>
            <a:fillRect/>
          </a:stretch>
        </p:blipFill>
        <p:spPr>
          <a:xfrm>
            <a:off x="320040" y="3647099"/>
            <a:ext cx="11548872" cy="1559098"/>
          </a:xfrm>
          <a:prstGeom prst="rect">
            <a:avLst/>
          </a:prstGeom>
        </p:spPr>
      </p:pic>
    </p:spTree>
    <p:extLst>
      <p:ext uri="{BB962C8B-B14F-4D97-AF65-F5344CB8AC3E}">
        <p14:creationId xmlns:p14="http://schemas.microsoft.com/office/powerpoint/2010/main" val="28262597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computer screen shot of text&#10;&#10;AI-generated content may be incorrect.">
            <a:extLst>
              <a:ext uri="{FF2B5EF4-FFF2-40B4-BE49-F238E27FC236}">
                <a16:creationId xmlns:a16="http://schemas.microsoft.com/office/drawing/2014/main" id="{513E0008-4FA1-84AF-4FE7-2E80479E97DD}"/>
              </a:ext>
            </a:extLst>
          </p:cNvPr>
          <p:cNvPicPr>
            <a:picLocks noChangeAspect="1"/>
          </p:cNvPicPr>
          <p:nvPr/>
        </p:nvPicPr>
        <p:blipFill>
          <a:blip r:embed="rId2"/>
          <a:stretch>
            <a:fillRect/>
          </a:stretch>
        </p:blipFill>
        <p:spPr>
          <a:xfrm>
            <a:off x="1289303" y="1144427"/>
            <a:ext cx="9613397" cy="2163013"/>
          </a:xfrm>
          <a:prstGeom prst="rect">
            <a:avLst/>
          </a:prstGeom>
        </p:spPr>
      </p:pic>
      <p:sp>
        <p:nvSpPr>
          <p:cNvPr id="28" name="Right Triangle 27">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89DAE-9F7F-284A-9DD1-8081336EB9E5}"/>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3800" kern="1200">
                <a:solidFill>
                  <a:schemeClr val="tx1"/>
                </a:solidFill>
                <a:latin typeface="+mj-lt"/>
                <a:ea typeface="+mj-ea"/>
                <a:cs typeface="+mj-cs"/>
              </a:rPr>
              <a:t>Inside this method find the suppliers which we are going to link to the products</a:t>
            </a:r>
          </a:p>
        </p:txBody>
      </p:sp>
    </p:spTree>
    <p:extLst>
      <p:ext uri="{BB962C8B-B14F-4D97-AF65-F5344CB8AC3E}">
        <p14:creationId xmlns:p14="http://schemas.microsoft.com/office/powerpoint/2010/main" val="29705166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2C0A4C-772E-1BE7-0A82-BE36A0BD8C62}"/>
              </a:ext>
            </a:extLst>
          </p:cNvPr>
          <p:cNvSpPr>
            <a:spLocks noGrp="1"/>
          </p:cNvSpPr>
          <p:nvPr>
            <p:ph type="title"/>
          </p:nvPr>
        </p:nvSpPr>
        <p:spPr>
          <a:xfrm>
            <a:off x="1285241" y="1008993"/>
            <a:ext cx="9231410" cy="3542045"/>
          </a:xfrm>
        </p:spPr>
        <p:txBody>
          <a:bodyPr vert="horz" lIns="91440" tIns="45720" rIns="91440" bIns="45720" rtlCol="0" anchor="b">
            <a:normAutofit/>
          </a:bodyPr>
          <a:lstStyle/>
          <a:p>
            <a:r>
              <a:rPr lang="en-US" sz="5500" kern="1200">
                <a:solidFill>
                  <a:schemeClr val="tx1"/>
                </a:solidFill>
                <a:latin typeface="+mj-lt"/>
                <a:ea typeface="+mj-ea"/>
                <a:cs typeface="+mj-cs"/>
              </a:rPr>
              <a:t>Now before we can continue seeding products we need to find the images and save them to the right folder</a:t>
            </a:r>
          </a:p>
        </p:txBody>
      </p:sp>
    </p:spTree>
    <p:extLst>
      <p:ext uri="{BB962C8B-B14F-4D97-AF65-F5344CB8AC3E}">
        <p14:creationId xmlns:p14="http://schemas.microsoft.com/office/powerpoint/2010/main" val="32880041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96646FC9-C66D-4EC7-8310-0DD4ACC49C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DEDEDE"/>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15A19A3-8C96-F72A-F8F8-868243637373}"/>
              </a:ext>
            </a:extLst>
          </p:cNvPr>
          <p:cNvSpPr>
            <a:spLocks noGrp="1"/>
          </p:cNvSpPr>
          <p:nvPr>
            <p:ph type="title"/>
          </p:nvPr>
        </p:nvSpPr>
        <p:spPr>
          <a:xfrm>
            <a:off x="2103121" y="310343"/>
            <a:ext cx="7985759" cy="868823"/>
          </a:xfrm>
        </p:spPr>
        <p:txBody>
          <a:bodyPr vert="horz" lIns="91440" tIns="45720" rIns="91440" bIns="45720" rtlCol="0" anchor="ctr">
            <a:normAutofit/>
          </a:bodyPr>
          <a:lstStyle/>
          <a:p>
            <a:pPr algn="ctr"/>
            <a:r>
              <a:rPr lang="en-US" sz="2800"/>
              <a:t>Right click the wwwroot folder and create a new folder called images</a:t>
            </a:r>
          </a:p>
        </p:txBody>
      </p:sp>
      <p:sp>
        <p:nvSpPr>
          <p:cNvPr id="14" name="Rectangle: Rounded Corners 13">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Avenir Next LT Pro"/>
            </a:endParaRPr>
          </a:p>
        </p:txBody>
      </p:sp>
      <p:pic>
        <p:nvPicPr>
          <p:cNvPr id="4" name="Content Placeholder 3" descr="A screenshot of a computer program&#10;&#10;AI-generated content may be incorrect.">
            <a:extLst>
              <a:ext uri="{FF2B5EF4-FFF2-40B4-BE49-F238E27FC236}">
                <a16:creationId xmlns:a16="http://schemas.microsoft.com/office/drawing/2014/main" id="{B97C433E-E91F-9CF7-9A78-65C1C3FA70E8}"/>
              </a:ext>
            </a:extLst>
          </p:cNvPr>
          <p:cNvPicPr>
            <a:picLocks noGrp="1" noChangeAspect="1"/>
          </p:cNvPicPr>
          <p:nvPr>
            <p:ph idx="1"/>
          </p:nvPr>
        </p:nvPicPr>
        <p:blipFill>
          <a:blip r:embed="rId2"/>
          <a:stretch>
            <a:fillRect/>
          </a:stretch>
        </p:blipFill>
        <p:spPr>
          <a:xfrm>
            <a:off x="452627" y="2139484"/>
            <a:ext cx="5462017" cy="4096512"/>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A5B8F60C-B6BD-EF90-F6C1-F4824E5A0BF7}"/>
              </a:ext>
            </a:extLst>
          </p:cNvPr>
          <p:cNvPicPr>
            <a:picLocks noChangeAspect="1"/>
          </p:cNvPicPr>
          <p:nvPr/>
        </p:nvPicPr>
        <p:blipFill>
          <a:blip r:embed="rId3"/>
          <a:stretch>
            <a:fillRect/>
          </a:stretch>
        </p:blipFill>
        <p:spPr>
          <a:xfrm>
            <a:off x="6210302" y="3050718"/>
            <a:ext cx="5596128" cy="2274044"/>
          </a:xfrm>
          <a:prstGeom prst="rect">
            <a:avLst/>
          </a:prstGeom>
        </p:spPr>
      </p:pic>
    </p:spTree>
    <p:extLst>
      <p:ext uri="{BB962C8B-B14F-4D97-AF65-F5344CB8AC3E}">
        <p14:creationId xmlns:p14="http://schemas.microsoft.com/office/powerpoint/2010/main" val="36648296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31C6C1-E3F3-1E9A-2DF6-C8ED5D19E056}"/>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100" kern="1200">
                <a:solidFill>
                  <a:srgbClr val="FFFFFF"/>
                </a:solidFill>
                <a:latin typeface="+mj-lt"/>
                <a:ea typeface="+mj-ea"/>
                <a:cs typeface="+mj-cs"/>
              </a:rPr>
              <a:t>Find images for your products as long as they are png's or jpeg's</a:t>
            </a:r>
          </a:p>
        </p:txBody>
      </p:sp>
      <p:pic>
        <p:nvPicPr>
          <p:cNvPr id="4" name="Content Placeholder 3" descr="A screenshot of a computer&#10;&#10;AI-generated content may be incorrect.">
            <a:extLst>
              <a:ext uri="{FF2B5EF4-FFF2-40B4-BE49-F238E27FC236}">
                <a16:creationId xmlns:a16="http://schemas.microsoft.com/office/drawing/2014/main" id="{E44C8172-6C41-AB7F-D001-CDBCD2844793}"/>
              </a:ext>
            </a:extLst>
          </p:cNvPr>
          <p:cNvPicPr>
            <a:picLocks noGrp="1" noChangeAspect="1"/>
          </p:cNvPicPr>
          <p:nvPr>
            <p:ph idx="1"/>
          </p:nvPr>
        </p:nvPicPr>
        <p:blipFill>
          <a:blip r:embed="rId2"/>
          <a:stretch>
            <a:fillRect/>
          </a:stretch>
        </p:blipFill>
        <p:spPr>
          <a:xfrm>
            <a:off x="4777316" y="1016783"/>
            <a:ext cx="6780700" cy="4822105"/>
          </a:xfrm>
          <a:prstGeom prst="rect">
            <a:avLst/>
          </a:prstGeom>
        </p:spPr>
      </p:pic>
    </p:spTree>
    <p:extLst>
      <p:ext uri="{BB962C8B-B14F-4D97-AF65-F5344CB8AC3E}">
        <p14:creationId xmlns:p14="http://schemas.microsoft.com/office/powerpoint/2010/main" val="34567447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FB6DE3-4653-ECD3-5A6C-0A35A1953BD3}"/>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2800" kern="1200">
                <a:solidFill>
                  <a:srgbClr val="FFFFFF"/>
                </a:solidFill>
                <a:latin typeface="+mj-lt"/>
                <a:ea typeface="+mj-ea"/>
                <a:cs typeface="+mj-cs"/>
              </a:rPr>
              <a:t>Now write your Seed Products code under the section where we found the suppliers</a:t>
            </a:r>
          </a:p>
        </p:txBody>
      </p:sp>
      <p:pic>
        <p:nvPicPr>
          <p:cNvPr id="4" name="Content Placeholder 3" descr="A screen shot of a computer program&#10;&#10;AI-generated content may be incorrect.">
            <a:extLst>
              <a:ext uri="{FF2B5EF4-FFF2-40B4-BE49-F238E27FC236}">
                <a16:creationId xmlns:a16="http://schemas.microsoft.com/office/drawing/2014/main" id="{E71A14CF-BE64-EF29-AAEE-D1C0848F8870}"/>
              </a:ext>
            </a:extLst>
          </p:cNvPr>
          <p:cNvPicPr>
            <a:picLocks noGrp="1" noChangeAspect="1"/>
          </p:cNvPicPr>
          <p:nvPr>
            <p:ph idx="1"/>
          </p:nvPr>
        </p:nvPicPr>
        <p:blipFill>
          <a:blip r:embed="rId2"/>
          <a:stretch>
            <a:fillRect/>
          </a:stretch>
        </p:blipFill>
        <p:spPr>
          <a:xfrm>
            <a:off x="5515554" y="643466"/>
            <a:ext cx="5304224" cy="5568739"/>
          </a:xfrm>
          <a:prstGeom prst="rect">
            <a:avLst/>
          </a:prstGeom>
        </p:spPr>
      </p:pic>
    </p:spTree>
    <p:extLst>
      <p:ext uri="{BB962C8B-B14F-4D97-AF65-F5344CB8AC3E}">
        <p14:creationId xmlns:p14="http://schemas.microsoft.com/office/powerpoint/2010/main" val="312557030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362CF4-A31C-15AB-256B-3E15FB87EE6F}"/>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Add to Program.cs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D979B884-A7F1-96FA-8C2D-A037B44B51B9}"/>
              </a:ext>
            </a:extLst>
          </p:cNvPr>
          <p:cNvPicPr>
            <a:picLocks noGrp="1" noChangeAspect="1"/>
          </p:cNvPicPr>
          <p:nvPr>
            <p:ph idx="1"/>
          </p:nvPr>
        </p:nvPicPr>
        <p:blipFill>
          <a:blip r:embed="rId2"/>
          <a:stretch>
            <a:fillRect/>
          </a:stretch>
        </p:blipFill>
        <p:spPr>
          <a:xfrm>
            <a:off x="320040" y="2867550"/>
            <a:ext cx="11548872" cy="3118196"/>
          </a:xfrm>
          <a:prstGeom prst="rect">
            <a:avLst/>
          </a:prstGeom>
        </p:spPr>
      </p:pic>
    </p:spTree>
    <p:extLst>
      <p:ext uri="{BB962C8B-B14F-4D97-AF65-F5344CB8AC3E}">
        <p14:creationId xmlns:p14="http://schemas.microsoft.com/office/powerpoint/2010/main" val="2344048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D1B856-3D8B-E0B3-2F79-B958FCDC0814}"/>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Run the web application and test the products page to see if everything is there </a:t>
            </a:r>
          </a:p>
        </p:txBody>
      </p:sp>
      <p:sp>
        <p:nvSpPr>
          <p:cNvPr id="24"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A500B779-F8F4-9EDA-80BF-AD57E688C021}"/>
              </a:ext>
            </a:extLst>
          </p:cNvPr>
          <p:cNvPicPr>
            <a:picLocks noChangeAspect="1"/>
          </p:cNvPicPr>
          <p:nvPr/>
        </p:nvPicPr>
        <p:blipFill>
          <a:blip r:embed="rId2"/>
          <a:srcRect t="16224" r="1" b="1"/>
          <a:stretch>
            <a:fillRect/>
          </a:stretch>
        </p:blipFill>
        <p:spPr>
          <a:xfrm>
            <a:off x="348313" y="2633472"/>
            <a:ext cx="11492326" cy="3586353"/>
          </a:xfrm>
          <a:prstGeom prst="rect">
            <a:avLst/>
          </a:prstGeom>
        </p:spPr>
      </p:pic>
    </p:spTree>
    <p:extLst>
      <p:ext uri="{BB962C8B-B14F-4D97-AF65-F5344CB8AC3E}">
        <p14:creationId xmlns:p14="http://schemas.microsoft.com/office/powerpoint/2010/main" val="361898669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72F6F8-FC81-210E-F550-CA3EA738ECF9}"/>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2600"/>
              <a:t>Images don't work because they are not inside of an  img tag can fix this later. If you implement this now images will be oddly sized and you need to use CSS to format this properly</a:t>
            </a:r>
          </a:p>
        </p:txBody>
      </p:sp>
      <p:sp>
        <p:nvSpPr>
          <p:cNvPr id="21"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computer program&#10;&#10;AI-generated content may be incorrect.">
            <a:extLst>
              <a:ext uri="{FF2B5EF4-FFF2-40B4-BE49-F238E27FC236}">
                <a16:creationId xmlns:a16="http://schemas.microsoft.com/office/drawing/2014/main" id="{7D3E9306-054D-0169-2FB1-E60DAF431444}"/>
              </a:ext>
            </a:extLst>
          </p:cNvPr>
          <p:cNvPicPr>
            <a:picLocks noChangeAspect="1"/>
          </p:cNvPicPr>
          <p:nvPr/>
        </p:nvPicPr>
        <p:blipFill>
          <a:blip r:embed="rId2"/>
          <a:stretch>
            <a:fillRect/>
          </a:stretch>
        </p:blipFill>
        <p:spPr>
          <a:xfrm>
            <a:off x="320040" y="3055940"/>
            <a:ext cx="5614416" cy="2779136"/>
          </a:xfrm>
          <a:prstGeom prst="rect">
            <a:avLst/>
          </a:prstGeom>
        </p:spPr>
      </p:pic>
      <p:pic>
        <p:nvPicPr>
          <p:cNvPr id="4" name="Content Placeholder 3" descr="A screen shot of a computer program&#10;&#10;AI-generated content may be incorrect.">
            <a:extLst>
              <a:ext uri="{FF2B5EF4-FFF2-40B4-BE49-F238E27FC236}">
                <a16:creationId xmlns:a16="http://schemas.microsoft.com/office/drawing/2014/main" id="{968CCA09-EADB-0426-76E1-DF22242AD549}"/>
              </a:ext>
            </a:extLst>
          </p:cNvPr>
          <p:cNvPicPr>
            <a:picLocks noChangeAspect="1"/>
          </p:cNvPicPr>
          <p:nvPr/>
        </p:nvPicPr>
        <p:blipFill>
          <a:blip r:embed="rId3"/>
          <a:stretch>
            <a:fillRect/>
          </a:stretch>
        </p:blipFill>
        <p:spPr>
          <a:xfrm>
            <a:off x="6254496" y="3168229"/>
            <a:ext cx="5614416" cy="2554558"/>
          </a:xfrm>
          <a:prstGeom prst="rect">
            <a:avLst/>
          </a:prstGeom>
        </p:spPr>
      </p:pic>
    </p:spTree>
    <p:extLst>
      <p:ext uri="{BB962C8B-B14F-4D97-AF65-F5344CB8AC3E}">
        <p14:creationId xmlns:p14="http://schemas.microsoft.com/office/powerpoint/2010/main" val="41249919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BDE7EBF-7151-FCE9-3187-7774F21F605F}"/>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Checkpoint to save and back up for sure</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964964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54DCAC5-854D-1B52-71AD-D10742664F1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6100" kern="1200">
                <a:solidFill>
                  <a:schemeClr val="tx1"/>
                </a:solidFill>
                <a:latin typeface="+mj-lt"/>
                <a:ea typeface="+mj-ea"/>
                <a:cs typeface="+mj-cs"/>
              </a:rPr>
              <a:t>First Core Function -&gt; Adding Products to the basket</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27644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4E32AEA-A959-067E-3F43-4501C2FDFBF2}"/>
              </a:ext>
            </a:extLst>
          </p:cNvPr>
          <p:cNvSpPr>
            <a:spLocks noGrp="1"/>
          </p:cNvSpPr>
          <p:nvPr>
            <p:ph type="title"/>
          </p:nvPr>
        </p:nvSpPr>
        <p:spPr>
          <a:xfrm>
            <a:off x="1371597" y="348865"/>
            <a:ext cx="10044023" cy="877729"/>
          </a:xfrm>
        </p:spPr>
        <p:txBody>
          <a:bodyPr anchor="ctr">
            <a:normAutofit/>
          </a:bodyPr>
          <a:lstStyle/>
          <a:p>
            <a:r>
              <a:rPr lang="en-GB" sz="3100">
                <a:solidFill>
                  <a:srgbClr val="FFFFFF"/>
                </a:solidFill>
              </a:rPr>
              <a:t>First we need to add the button to add a product to the basket</a:t>
            </a:r>
          </a:p>
        </p:txBody>
      </p:sp>
      <p:graphicFrame>
        <p:nvGraphicFramePr>
          <p:cNvPr id="5" name="Content Placeholder 2">
            <a:extLst>
              <a:ext uri="{FF2B5EF4-FFF2-40B4-BE49-F238E27FC236}">
                <a16:creationId xmlns:a16="http://schemas.microsoft.com/office/drawing/2014/main" id="{98663956-0411-4D65-8F70-08BDDF3FA8F5}"/>
              </a:ext>
            </a:extLst>
          </p:cNvPr>
          <p:cNvGraphicFramePr>
            <a:graphicFrameLocks noGrp="1"/>
          </p:cNvGraphicFramePr>
          <p:nvPr>
            <p:ph idx="1"/>
            <p:extLst>
              <p:ext uri="{D42A27DB-BD31-4B8C-83A1-F6EECF244321}">
                <p14:modId xmlns:p14="http://schemas.microsoft.com/office/powerpoint/2010/main" val="81232037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36337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6408A8-4C77-21FE-0045-52A5EB16117F}"/>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5600" kern="1200">
                <a:solidFill>
                  <a:schemeClr val="tx1"/>
                </a:solidFill>
                <a:latin typeface="+mj-lt"/>
                <a:ea typeface="+mj-ea"/>
                <a:cs typeface="+mj-cs"/>
              </a:rPr>
              <a:t>In the Products -&gt; Index.cshtml page</a:t>
            </a:r>
          </a:p>
        </p:txBody>
      </p:sp>
      <p:sp>
        <p:nvSpPr>
          <p:cNvPr id="12"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3" descr="A screenshot of a computer&#10;&#10;AI-generated content may be incorrect.">
            <a:extLst>
              <a:ext uri="{FF2B5EF4-FFF2-40B4-BE49-F238E27FC236}">
                <a16:creationId xmlns:a16="http://schemas.microsoft.com/office/drawing/2014/main" id="{9883854F-4B15-9953-3191-DAD57087E57E}"/>
              </a:ext>
            </a:extLst>
          </p:cNvPr>
          <p:cNvPicPr>
            <a:picLocks noChangeAspect="1"/>
          </p:cNvPicPr>
          <p:nvPr/>
        </p:nvPicPr>
        <p:blipFill>
          <a:blip r:embed="rId2"/>
          <a:stretch>
            <a:fillRect/>
          </a:stretch>
        </p:blipFill>
        <p:spPr>
          <a:xfrm>
            <a:off x="1312670" y="2633472"/>
            <a:ext cx="9563611" cy="3586353"/>
          </a:xfrm>
          <a:prstGeom prst="rect">
            <a:avLst/>
          </a:prstGeom>
        </p:spPr>
      </p:pic>
    </p:spTree>
    <p:extLst>
      <p:ext uri="{BB962C8B-B14F-4D97-AF65-F5344CB8AC3E}">
        <p14:creationId xmlns:p14="http://schemas.microsoft.com/office/powerpoint/2010/main" val="28979661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D65163-715A-4B41-2072-75D2FBFC15D8}"/>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6600"/>
              <a:t>Add the "Add to Basket" Form</a:t>
            </a:r>
          </a:p>
        </p:txBody>
      </p:sp>
      <p:sp>
        <p:nvSpPr>
          <p:cNvPr id="14"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computer screen shot of a program&#10;&#10;AI-generated content may be incorrect.">
            <a:extLst>
              <a:ext uri="{FF2B5EF4-FFF2-40B4-BE49-F238E27FC236}">
                <a16:creationId xmlns:a16="http://schemas.microsoft.com/office/drawing/2014/main" id="{3E27B135-E450-C58C-D33B-0EFA6001106D}"/>
              </a:ext>
            </a:extLst>
          </p:cNvPr>
          <p:cNvPicPr>
            <a:picLocks noChangeAspect="1"/>
          </p:cNvPicPr>
          <p:nvPr/>
        </p:nvPicPr>
        <p:blipFill>
          <a:blip r:embed="rId2"/>
          <a:stretch>
            <a:fillRect/>
          </a:stretch>
        </p:blipFill>
        <p:spPr>
          <a:xfrm>
            <a:off x="1012418" y="2642616"/>
            <a:ext cx="4229659" cy="3605784"/>
          </a:xfrm>
          <a:prstGeom prst="rect">
            <a:avLst/>
          </a:prstGeom>
        </p:spPr>
      </p:pic>
      <p:pic>
        <p:nvPicPr>
          <p:cNvPr id="6" name="Picture 5" descr="A screen shot of a computer program&#10;&#10;AI-generated content may be incorrect.">
            <a:extLst>
              <a:ext uri="{FF2B5EF4-FFF2-40B4-BE49-F238E27FC236}">
                <a16:creationId xmlns:a16="http://schemas.microsoft.com/office/drawing/2014/main" id="{31D7961E-8323-6D70-02E7-543EE4D10DD6}"/>
              </a:ext>
            </a:extLst>
          </p:cNvPr>
          <p:cNvPicPr>
            <a:picLocks noChangeAspect="1"/>
          </p:cNvPicPr>
          <p:nvPr/>
        </p:nvPicPr>
        <p:blipFill>
          <a:blip r:embed="rId3"/>
          <a:stretch>
            <a:fillRect/>
          </a:stretch>
        </p:blipFill>
        <p:spPr>
          <a:xfrm>
            <a:off x="6254496" y="3161210"/>
            <a:ext cx="5614416" cy="2568595"/>
          </a:xfrm>
          <a:prstGeom prst="rect">
            <a:avLst/>
          </a:prstGeom>
        </p:spPr>
      </p:pic>
      <p:sp>
        <p:nvSpPr>
          <p:cNvPr id="8" name="TextBox 7">
            <a:extLst>
              <a:ext uri="{FF2B5EF4-FFF2-40B4-BE49-F238E27FC236}">
                <a16:creationId xmlns:a16="http://schemas.microsoft.com/office/drawing/2014/main" id="{AB78F291-8E5B-AD71-EBC9-D4CB77E6B665}"/>
              </a:ext>
            </a:extLst>
          </p:cNvPr>
          <p:cNvSpPr txBox="1"/>
          <p:nvPr/>
        </p:nvSpPr>
        <p:spPr>
          <a:xfrm>
            <a:off x="6752166" y="5990166"/>
            <a:ext cx="480483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a:t>This is the form code that you need to add</a:t>
            </a:r>
          </a:p>
        </p:txBody>
      </p:sp>
      <p:sp>
        <p:nvSpPr>
          <p:cNvPr id="9" name="TextBox 8">
            <a:extLst>
              <a:ext uri="{FF2B5EF4-FFF2-40B4-BE49-F238E27FC236}">
                <a16:creationId xmlns:a16="http://schemas.microsoft.com/office/drawing/2014/main" id="{3FA762D8-9ECE-F935-E2B9-2324BCD4C44A}"/>
              </a:ext>
            </a:extLst>
          </p:cNvPr>
          <p:cNvSpPr txBox="1"/>
          <p:nvPr/>
        </p:nvSpPr>
        <p:spPr>
          <a:xfrm>
            <a:off x="1016571" y="2108084"/>
            <a:ext cx="423848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a:t>This should be how it looks in the file</a:t>
            </a:r>
            <a:endParaRPr lang="en-US"/>
          </a:p>
        </p:txBody>
      </p:sp>
    </p:spTree>
    <p:extLst>
      <p:ext uri="{BB962C8B-B14F-4D97-AF65-F5344CB8AC3E}">
        <p14:creationId xmlns:p14="http://schemas.microsoft.com/office/powerpoint/2010/main" val="32890882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245E37-0B69-1669-FEA5-943720727DDF}"/>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100" kern="1200">
                <a:solidFill>
                  <a:schemeClr val="tx1"/>
                </a:solidFill>
                <a:latin typeface="+mj-lt"/>
                <a:ea typeface="+mj-ea"/>
                <a:cs typeface="+mj-cs"/>
              </a:rPr>
              <a:t>Should now have an Add to Basket button on each product if there is stock</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5484FBC6-7DBB-E941-5546-D7645BC3FDF1}"/>
              </a:ext>
            </a:extLst>
          </p:cNvPr>
          <p:cNvPicPr>
            <a:picLocks noGrp="1" noChangeAspect="1"/>
          </p:cNvPicPr>
          <p:nvPr>
            <p:ph idx="1"/>
          </p:nvPr>
        </p:nvPicPr>
        <p:blipFill>
          <a:blip r:embed="rId2"/>
          <a:stretch>
            <a:fillRect/>
          </a:stretch>
        </p:blipFill>
        <p:spPr>
          <a:xfrm>
            <a:off x="4654296" y="1710831"/>
            <a:ext cx="7214616" cy="3408905"/>
          </a:xfrm>
          <a:prstGeom prst="rect">
            <a:avLst/>
          </a:prstGeom>
        </p:spPr>
      </p:pic>
    </p:spTree>
    <p:extLst>
      <p:ext uri="{BB962C8B-B14F-4D97-AF65-F5344CB8AC3E}">
        <p14:creationId xmlns:p14="http://schemas.microsoft.com/office/powerpoint/2010/main" val="37654298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E5B4E1-6D44-AE52-6C78-BDE6F9AD12EB}"/>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4100"/>
              <a:t>Time to Edit the logic -&gt; Go to the controller </a:t>
            </a:r>
            <a:r>
              <a:rPr lang="en-US" sz="4100" dirty="0" err="1"/>
              <a:t>basketProducts</a:t>
            </a:r>
            <a:r>
              <a:rPr lang="en-US" sz="4100" dirty="0"/>
              <a:t> and the POST Create function</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computer program&#10;&#10;AI-generated content may be incorrect.">
            <a:extLst>
              <a:ext uri="{FF2B5EF4-FFF2-40B4-BE49-F238E27FC236}">
                <a16:creationId xmlns:a16="http://schemas.microsoft.com/office/drawing/2014/main" id="{8A131C63-9CBE-2E43-9343-704BD1E01DA9}"/>
              </a:ext>
            </a:extLst>
          </p:cNvPr>
          <p:cNvPicPr>
            <a:picLocks noChangeAspect="1"/>
          </p:cNvPicPr>
          <p:nvPr/>
        </p:nvPicPr>
        <p:blipFill>
          <a:blip r:embed="rId2"/>
          <a:stretch>
            <a:fillRect/>
          </a:stretch>
        </p:blipFill>
        <p:spPr>
          <a:xfrm>
            <a:off x="320040" y="3484040"/>
            <a:ext cx="5614416" cy="1922936"/>
          </a:xfrm>
          <a:prstGeom prst="rect">
            <a:avLst/>
          </a:prstGeom>
        </p:spPr>
      </p:pic>
      <p:pic>
        <p:nvPicPr>
          <p:cNvPr id="4" name="Content Placeholder 3" descr="A screenshot of a computer&#10;&#10;AI-generated content may be incorrect.">
            <a:extLst>
              <a:ext uri="{FF2B5EF4-FFF2-40B4-BE49-F238E27FC236}">
                <a16:creationId xmlns:a16="http://schemas.microsoft.com/office/drawing/2014/main" id="{46C15883-8238-7A77-224E-A2135B2D092F}"/>
              </a:ext>
            </a:extLst>
          </p:cNvPr>
          <p:cNvPicPr>
            <a:picLocks noGrp="1" noChangeAspect="1"/>
          </p:cNvPicPr>
          <p:nvPr>
            <p:ph idx="1"/>
          </p:nvPr>
        </p:nvPicPr>
        <p:blipFill>
          <a:blip r:embed="rId3"/>
          <a:stretch>
            <a:fillRect/>
          </a:stretch>
        </p:blipFill>
        <p:spPr>
          <a:xfrm>
            <a:off x="6254496" y="3722652"/>
            <a:ext cx="5614416" cy="1445711"/>
          </a:xfrm>
          <a:prstGeom prst="rect">
            <a:avLst/>
          </a:prstGeom>
        </p:spPr>
      </p:pic>
    </p:spTree>
    <p:extLst>
      <p:ext uri="{BB962C8B-B14F-4D97-AF65-F5344CB8AC3E}">
        <p14:creationId xmlns:p14="http://schemas.microsoft.com/office/powerpoint/2010/main" val="34488201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C1B7C-51DE-6B05-F0BB-B9C94238EA30}"/>
              </a:ext>
            </a:extLst>
          </p:cNvPr>
          <p:cNvSpPr>
            <a:spLocks noGrp="1"/>
          </p:cNvSpPr>
          <p:nvPr>
            <p:ph type="title"/>
          </p:nvPr>
        </p:nvSpPr>
        <p:spPr>
          <a:xfrm>
            <a:off x="761999" y="1141712"/>
            <a:ext cx="7923815" cy="1129537"/>
          </a:xfrm>
        </p:spPr>
        <p:txBody>
          <a:bodyPr vert="horz" lIns="91440" tIns="45720" rIns="91440" bIns="45720" rtlCol="0" anchor="t">
            <a:normAutofit/>
          </a:bodyPr>
          <a:lstStyle/>
          <a:p>
            <a:r>
              <a:rPr lang="en-US" sz="3700" kern="1200">
                <a:solidFill>
                  <a:schemeClr val="tx1"/>
                </a:solidFill>
                <a:latin typeface="+mj-lt"/>
                <a:ea typeface="+mj-ea"/>
                <a:cs typeface="+mj-cs"/>
              </a:rPr>
              <a:t>First change -&gt; Change the method so it only has one parameter</a:t>
            </a:r>
          </a:p>
        </p:txBody>
      </p:sp>
      <p:cxnSp>
        <p:nvCxnSpPr>
          <p:cNvPr id="9" name="Straight Connector 8">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4" name="Content Placeholder 3" descr="A screen shot of a computer&#10;&#10;AI-generated content may be incorrect.">
            <a:extLst>
              <a:ext uri="{FF2B5EF4-FFF2-40B4-BE49-F238E27FC236}">
                <a16:creationId xmlns:a16="http://schemas.microsoft.com/office/drawing/2014/main" id="{4D043CB8-DB52-90FF-71D5-0D88BFDC95CD}"/>
              </a:ext>
            </a:extLst>
          </p:cNvPr>
          <p:cNvPicPr>
            <a:picLocks noGrp="1" noChangeAspect="1"/>
          </p:cNvPicPr>
          <p:nvPr>
            <p:ph idx="1"/>
          </p:nvPr>
        </p:nvPicPr>
        <p:blipFill>
          <a:blip r:embed="rId2"/>
          <a:stretch>
            <a:fillRect/>
          </a:stretch>
        </p:blipFill>
        <p:spPr>
          <a:xfrm>
            <a:off x="865139" y="2840552"/>
            <a:ext cx="10478721" cy="1938565"/>
          </a:xfrm>
          <a:prstGeom prst="rect">
            <a:avLst/>
          </a:prstGeom>
        </p:spPr>
      </p:pic>
      <p:cxnSp>
        <p:nvCxnSpPr>
          <p:cNvPr id="11" name="Straight Connector 10">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721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6CB482-367E-6609-2FF1-4662D858B25F}"/>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Now delete everything inside so it is an empty method body ready for new logic</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40A37C44-9B29-C40A-E5E7-6C4B92301B84}"/>
              </a:ext>
            </a:extLst>
          </p:cNvPr>
          <p:cNvPicPr>
            <a:picLocks noGrp="1" noChangeAspect="1"/>
          </p:cNvPicPr>
          <p:nvPr>
            <p:ph idx="1"/>
          </p:nvPr>
        </p:nvPicPr>
        <p:blipFill>
          <a:blip r:embed="rId2"/>
          <a:stretch>
            <a:fillRect/>
          </a:stretch>
        </p:blipFill>
        <p:spPr>
          <a:xfrm>
            <a:off x="320040" y="3112963"/>
            <a:ext cx="11548872" cy="2627370"/>
          </a:xfrm>
          <a:prstGeom prst="rect">
            <a:avLst/>
          </a:prstGeom>
        </p:spPr>
      </p:pic>
    </p:spTree>
    <p:extLst>
      <p:ext uri="{BB962C8B-B14F-4D97-AF65-F5344CB8AC3E}">
        <p14:creationId xmlns:p14="http://schemas.microsoft.com/office/powerpoint/2010/main" val="98210407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7A9BF4-5DE1-A9B3-984B-1344FE9E876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First find the product they selected (Goes inside the empty Create Method)</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A8F8BD74-5441-5E71-5F39-51F5CAAB9A37}"/>
              </a:ext>
            </a:extLst>
          </p:cNvPr>
          <p:cNvPicPr>
            <a:picLocks noGrp="1" noChangeAspect="1"/>
          </p:cNvPicPr>
          <p:nvPr>
            <p:ph idx="1"/>
          </p:nvPr>
        </p:nvPicPr>
        <p:blipFill>
          <a:blip r:embed="rId2"/>
          <a:stretch>
            <a:fillRect/>
          </a:stretch>
        </p:blipFill>
        <p:spPr>
          <a:xfrm>
            <a:off x="320040" y="3546046"/>
            <a:ext cx="11548872" cy="1761205"/>
          </a:xfrm>
          <a:prstGeom prst="rect">
            <a:avLst/>
          </a:prstGeom>
        </p:spPr>
      </p:pic>
    </p:spTree>
    <p:extLst>
      <p:ext uri="{BB962C8B-B14F-4D97-AF65-F5344CB8AC3E}">
        <p14:creationId xmlns:p14="http://schemas.microsoft.com/office/powerpoint/2010/main" val="11155376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648F16-E1C2-4F16-660E-EBA8CAF34DB6}"/>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Find the current logged in user</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72D47AD7-7CC2-7580-2ACB-12230B77DAE9}"/>
              </a:ext>
            </a:extLst>
          </p:cNvPr>
          <p:cNvPicPr>
            <a:picLocks noGrp="1" noChangeAspect="1"/>
          </p:cNvPicPr>
          <p:nvPr>
            <p:ph idx="1"/>
          </p:nvPr>
        </p:nvPicPr>
        <p:blipFill>
          <a:blip r:embed="rId2"/>
          <a:stretch>
            <a:fillRect/>
          </a:stretch>
        </p:blipFill>
        <p:spPr>
          <a:xfrm>
            <a:off x="320040" y="3055219"/>
            <a:ext cx="11548872" cy="2742858"/>
          </a:xfrm>
          <a:prstGeom prst="rect">
            <a:avLst/>
          </a:prstGeom>
        </p:spPr>
      </p:pic>
    </p:spTree>
    <p:extLst>
      <p:ext uri="{BB962C8B-B14F-4D97-AF65-F5344CB8AC3E}">
        <p14:creationId xmlns:p14="http://schemas.microsoft.com/office/powerpoint/2010/main" val="40036194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C6995F-BF00-5342-E13C-5D097157BB17}"/>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3600" kern="1200">
                <a:solidFill>
                  <a:schemeClr val="tx1"/>
                </a:solidFill>
                <a:latin typeface="+mj-lt"/>
                <a:ea typeface="+mj-ea"/>
                <a:cs typeface="+mj-cs"/>
              </a:rPr>
              <a:t>Find the current basket for that user, if no basket or no active basket then create a brand new one for the user</a:t>
            </a:r>
          </a:p>
        </p:txBody>
      </p:sp>
      <p:sp>
        <p:nvSpPr>
          <p:cNvPr id="2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467990F8-CF17-0B24-DB1A-1B2B2B853DA1}"/>
              </a:ext>
            </a:extLst>
          </p:cNvPr>
          <p:cNvPicPr>
            <a:picLocks noChangeAspect="1"/>
          </p:cNvPicPr>
          <p:nvPr/>
        </p:nvPicPr>
        <p:blipFill>
          <a:blip r:embed="rId2"/>
          <a:stretch>
            <a:fillRect/>
          </a:stretch>
        </p:blipFill>
        <p:spPr>
          <a:xfrm>
            <a:off x="781359" y="2633472"/>
            <a:ext cx="10626234" cy="3586353"/>
          </a:xfrm>
          <a:prstGeom prst="rect">
            <a:avLst/>
          </a:prstGeom>
        </p:spPr>
      </p:pic>
    </p:spTree>
    <p:extLst>
      <p:ext uri="{BB962C8B-B14F-4D97-AF65-F5344CB8AC3E}">
        <p14:creationId xmlns:p14="http://schemas.microsoft.com/office/powerpoint/2010/main" val="13588161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EFB029-131C-A613-3FEF-AA45C0F3EA64}"/>
              </a:ext>
            </a:extLst>
          </p:cNvPr>
          <p:cNvSpPr>
            <a:spLocks noGrp="1"/>
          </p:cNvSpPr>
          <p:nvPr>
            <p:ph type="title"/>
          </p:nvPr>
        </p:nvSpPr>
        <p:spPr>
          <a:xfrm>
            <a:off x="630936" y="640823"/>
            <a:ext cx="3419856" cy="5583148"/>
          </a:xfrm>
        </p:spPr>
        <p:txBody>
          <a:bodyPr vert="horz" lIns="91440" tIns="45720" rIns="91440" bIns="45720" rtlCol="0" anchor="ctr">
            <a:normAutofit/>
          </a:bodyPr>
          <a:lstStyle/>
          <a:p>
            <a:r>
              <a:rPr lang="en-US" sz="5400" kern="1200" dirty="0">
                <a:latin typeface="+mj-lt"/>
                <a:ea typeface="+mj-ea"/>
                <a:cs typeface="+mj-cs"/>
              </a:rPr>
              <a:t>Now time to add the products</a:t>
            </a:r>
            <a:r>
              <a:rPr lang="en-US" sz="5400" dirty="0"/>
              <a:t> </a:t>
            </a:r>
            <a:r>
              <a:rPr lang="en-US" sz="5400"/>
              <a:t>to the basket</a:t>
            </a:r>
            <a:endParaRPr lang="en-US" sz="5400" kern="1200">
              <a:latin typeface="+mj-lt"/>
              <a:ea typeface="+mj-ea"/>
              <a:cs typeface="+mj-cs"/>
            </a:endParaRPr>
          </a:p>
        </p:txBody>
      </p:sp>
      <p:sp>
        <p:nvSpPr>
          <p:cNvPr id="12"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onnsiteX0" fmla="*/ 0 w 18288"/>
              <a:gd name="connsiteY0" fmla="*/ 0 h 5590381"/>
              <a:gd name="connsiteX1" fmla="*/ 18288 w 18288"/>
              <a:gd name="connsiteY1" fmla="*/ 0 h 5590381"/>
              <a:gd name="connsiteX2" fmla="*/ 18288 w 18288"/>
              <a:gd name="connsiteY2" fmla="*/ 754701 h 5590381"/>
              <a:gd name="connsiteX3" fmla="*/ 18288 w 18288"/>
              <a:gd name="connsiteY3" fmla="*/ 1565307 h 5590381"/>
              <a:gd name="connsiteX4" fmla="*/ 18288 w 18288"/>
              <a:gd name="connsiteY4" fmla="*/ 2152297 h 5590381"/>
              <a:gd name="connsiteX5" fmla="*/ 18288 w 18288"/>
              <a:gd name="connsiteY5" fmla="*/ 2906998 h 5590381"/>
              <a:gd name="connsiteX6" fmla="*/ 18288 w 18288"/>
              <a:gd name="connsiteY6" fmla="*/ 3549892 h 5590381"/>
              <a:gd name="connsiteX7" fmla="*/ 18288 w 18288"/>
              <a:gd name="connsiteY7" fmla="*/ 4080978 h 5590381"/>
              <a:gd name="connsiteX8" fmla="*/ 18288 w 18288"/>
              <a:gd name="connsiteY8" fmla="*/ 4835680 h 5590381"/>
              <a:gd name="connsiteX9" fmla="*/ 18288 w 18288"/>
              <a:gd name="connsiteY9" fmla="*/ 5590381 h 5590381"/>
              <a:gd name="connsiteX10" fmla="*/ 0 w 18288"/>
              <a:gd name="connsiteY10" fmla="*/ 5590381 h 5590381"/>
              <a:gd name="connsiteX11" fmla="*/ 0 w 18288"/>
              <a:gd name="connsiteY11" fmla="*/ 4835680 h 5590381"/>
              <a:gd name="connsiteX12" fmla="*/ 0 w 18288"/>
              <a:gd name="connsiteY12" fmla="*/ 4304593 h 5590381"/>
              <a:gd name="connsiteX13" fmla="*/ 0 w 18288"/>
              <a:gd name="connsiteY13" fmla="*/ 3773507 h 5590381"/>
              <a:gd name="connsiteX14" fmla="*/ 0 w 18288"/>
              <a:gd name="connsiteY14" fmla="*/ 3186517 h 5590381"/>
              <a:gd name="connsiteX15" fmla="*/ 0 w 18288"/>
              <a:gd name="connsiteY15" fmla="*/ 2487720 h 5590381"/>
              <a:gd name="connsiteX16" fmla="*/ 0 w 18288"/>
              <a:gd name="connsiteY16" fmla="*/ 1956633 h 5590381"/>
              <a:gd name="connsiteX17" fmla="*/ 0 w 18288"/>
              <a:gd name="connsiteY17" fmla="*/ 1425547 h 5590381"/>
              <a:gd name="connsiteX18" fmla="*/ 0 w 18288"/>
              <a:gd name="connsiteY18" fmla="*/ 614942 h 5590381"/>
              <a:gd name="connsiteX19" fmla="*/ 0 w 18288"/>
              <a:gd name="connsiteY19" fmla="*/ 0 h 5590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7B5B80F2-D7E9-F81F-7927-F6870DA092D1}"/>
              </a:ext>
            </a:extLst>
          </p:cNvPr>
          <p:cNvPicPr>
            <a:picLocks noGrp="1" noChangeAspect="1"/>
          </p:cNvPicPr>
          <p:nvPr>
            <p:ph idx="1"/>
          </p:nvPr>
        </p:nvPicPr>
        <p:blipFill>
          <a:blip r:embed="rId2"/>
          <a:stretch>
            <a:fillRect/>
          </a:stretch>
        </p:blipFill>
        <p:spPr>
          <a:xfrm>
            <a:off x="4654296" y="640559"/>
            <a:ext cx="6894576" cy="3292159"/>
          </a:xfrm>
          <a:prstGeom prst="rect">
            <a:avLst/>
          </a:prstGeom>
        </p:spPr>
      </p:pic>
      <p:sp>
        <p:nvSpPr>
          <p:cNvPr id="5" name="TextBox 4">
            <a:extLst>
              <a:ext uri="{FF2B5EF4-FFF2-40B4-BE49-F238E27FC236}">
                <a16:creationId xmlns:a16="http://schemas.microsoft.com/office/drawing/2014/main" id="{CF8F0512-9E94-8B8A-2FBE-36E9EACA733B}"/>
              </a:ext>
            </a:extLst>
          </p:cNvPr>
          <p:cNvSpPr txBox="1"/>
          <p:nvPr/>
        </p:nvSpPr>
        <p:spPr>
          <a:xfrm>
            <a:off x="4654296" y="4497464"/>
            <a:ext cx="6894576" cy="142848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Autofit/>
          </a:bodyPr>
          <a:lstStyle/>
          <a:p>
            <a:pPr indent="-228600">
              <a:lnSpc>
                <a:spcPct val="90000"/>
              </a:lnSpc>
              <a:spcAft>
                <a:spcPts val="600"/>
              </a:spcAft>
              <a:buFont typeface="Arial" panose="020B0604020202020204" pitchFamily="34" charset="0"/>
              <a:buChar char="•"/>
            </a:pPr>
            <a:r>
              <a:rPr lang="en-US"/>
              <a:t>Find to see if the product is already in the basket. </a:t>
            </a: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a:t>If it is then increase the quantity by 1</a:t>
            </a: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a:t>If it is not then add the product ot the basket </a:t>
            </a:r>
            <a:endParaRPr lang="en-US" dirty="0"/>
          </a:p>
        </p:txBody>
      </p:sp>
    </p:spTree>
    <p:extLst>
      <p:ext uri="{BB962C8B-B14F-4D97-AF65-F5344CB8AC3E}">
        <p14:creationId xmlns:p14="http://schemas.microsoft.com/office/powerpoint/2010/main" val="36432417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9BBDBBC-FA1F-E224-3CB3-446A65EB4DC8}"/>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Full Method Screenshot (Zoom where needed)</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E9806440-3E35-78FD-172B-696C18F4F06F}"/>
              </a:ext>
            </a:extLst>
          </p:cNvPr>
          <p:cNvPicPr>
            <a:picLocks noGrp="1" noChangeAspect="1"/>
          </p:cNvPicPr>
          <p:nvPr>
            <p:ph idx="1"/>
          </p:nvPr>
        </p:nvPicPr>
        <p:blipFill>
          <a:blip r:embed="rId2"/>
          <a:stretch>
            <a:fillRect/>
          </a:stretch>
        </p:blipFill>
        <p:spPr>
          <a:xfrm>
            <a:off x="5916556" y="640080"/>
            <a:ext cx="4690095" cy="5550408"/>
          </a:xfrm>
          <a:prstGeom prst="rect">
            <a:avLst/>
          </a:prstGeom>
        </p:spPr>
      </p:pic>
    </p:spTree>
    <p:extLst>
      <p:ext uri="{BB962C8B-B14F-4D97-AF65-F5344CB8AC3E}">
        <p14:creationId xmlns:p14="http://schemas.microsoft.com/office/powerpoint/2010/main" val="40218340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04BC22-C91D-52BD-5A2D-32EDA830152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3600" kern="1200">
                <a:solidFill>
                  <a:schemeClr val="tx1"/>
                </a:solidFill>
                <a:latin typeface="+mj-lt"/>
                <a:ea typeface="+mj-ea"/>
                <a:cs typeface="+mj-cs"/>
              </a:rPr>
              <a:t>Try to add a product to the basket -&gt; Should redirect you to the basket screen like this as long as you are logged in</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77C7F15D-14E2-964C-8AA4-DFDF85375912}"/>
              </a:ext>
            </a:extLst>
          </p:cNvPr>
          <p:cNvPicPr>
            <a:picLocks noGrp="1" noChangeAspect="1"/>
          </p:cNvPicPr>
          <p:nvPr>
            <p:ph idx="1"/>
          </p:nvPr>
        </p:nvPicPr>
        <p:blipFill>
          <a:blip r:embed="rId2"/>
          <a:stretch>
            <a:fillRect/>
          </a:stretch>
        </p:blipFill>
        <p:spPr>
          <a:xfrm>
            <a:off x="320040" y="2809806"/>
            <a:ext cx="11548872" cy="3233684"/>
          </a:xfrm>
          <a:prstGeom prst="rect">
            <a:avLst/>
          </a:prstGeom>
        </p:spPr>
      </p:pic>
    </p:spTree>
    <p:extLst>
      <p:ext uri="{BB962C8B-B14F-4D97-AF65-F5344CB8AC3E}">
        <p14:creationId xmlns:p14="http://schemas.microsoft.com/office/powerpoint/2010/main" val="29133583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8FDCF72-90BC-6D42-17DC-37C5A6674B52}"/>
              </a:ext>
            </a:extLst>
          </p:cNvPr>
          <p:cNvSpPr>
            <a:spLocks noGrp="1"/>
          </p:cNvSpPr>
          <p:nvPr>
            <p:ph type="title"/>
          </p:nvPr>
        </p:nvSpPr>
        <p:spPr>
          <a:xfrm>
            <a:off x="841248" y="548640"/>
            <a:ext cx="3600860" cy="5431536"/>
          </a:xfrm>
        </p:spPr>
        <p:txBody>
          <a:bodyPr>
            <a:normAutofit/>
          </a:bodyPr>
          <a:lstStyle/>
          <a:p>
            <a:r>
              <a:rPr lang="en-GB" sz="5400"/>
              <a:t>Next Function -&gt; Make the basket look better </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C584A3F-1CB1-143E-0D0E-0337568D23DC}"/>
              </a:ext>
            </a:extLst>
          </p:cNvPr>
          <p:cNvSpPr>
            <a:spLocks noGrp="1"/>
          </p:cNvSpPr>
          <p:nvPr>
            <p:ph idx="1"/>
          </p:nvPr>
        </p:nvSpPr>
        <p:spPr>
          <a:xfrm>
            <a:off x="5126418" y="552091"/>
            <a:ext cx="6224335" cy="5431536"/>
          </a:xfrm>
        </p:spPr>
        <p:txBody>
          <a:bodyPr vert="horz" lIns="91440" tIns="45720" rIns="91440" bIns="45720" rtlCol="0" anchor="ctr">
            <a:normAutofit/>
          </a:bodyPr>
          <a:lstStyle/>
          <a:p>
            <a:r>
              <a:rPr lang="en-GB" sz="2200"/>
              <a:t>Basket should display the user with the following information</a:t>
            </a:r>
          </a:p>
          <a:p>
            <a:endParaRPr lang="en-GB" sz="2200"/>
          </a:p>
          <a:p>
            <a:pPr lvl="1">
              <a:buFont typeface="Courier New" panose="020B0604020202020204" pitchFamily="34" charset="0"/>
              <a:buChar char="o"/>
            </a:pPr>
            <a:r>
              <a:rPr lang="en-GB" sz="2200"/>
              <a:t>Items in the basket</a:t>
            </a:r>
          </a:p>
          <a:p>
            <a:pPr lvl="1">
              <a:buFont typeface="Courier New" panose="020B0604020202020204" pitchFamily="34" charset="0"/>
              <a:buChar char="o"/>
            </a:pPr>
            <a:r>
              <a:rPr lang="en-GB" sz="2200"/>
              <a:t>Cost of each item in the basket</a:t>
            </a:r>
          </a:p>
          <a:p>
            <a:pPr lvl="1">
              <a:buFont typeface="Courier New" panose="020B0604020202020204" pitchFamily="34" charset="0"/>
              <a:buChar char="o"/>
            </a:pPr>
            <a:r>
              <a:rPr lang="en-GB" sz="2200"/>
              <a:t>Quantity of each item in the basket</a:t>
            </a:r>
          </a:p>
          <a:p>
            <a:pPr lvl="1">
              <a:buFont typeface="Courier New" panose="020B0604020202020204" pitchFamily="34" charset="0"/>
              <a:buChar char="o"/>
            </a:pPr>
            <a:r>
              <a:rPr lang="en-GB" sz="2200"/>
              <a:t>Then the option to remove from basket</a:t>
            </a:r>
          </a:p>
          <a:p>
            <a:pPr lvl="1">
              <a:buFont typeface="Courier New" panose="020B0604020202020204" pitchFamily="34" charset="0"/>
              <a:buChar char="o"/>
            </a:pPr>
            <a:r>
              <a:rPr lang="en-GB" sz="2200"/>
              <a:t>Option to checkout</a:t>
            </a:r>
          </a:p>
          <a:p>
            <a:pPr marL="457200" lvl="1" indent="0">
              <a:buNone/>
            </a:pPr>
            <a:endParaRPr lang="en-GB" sz="2200"/>
          </a:p>
        </p:txBody>
      </p:sp>
    </p:spTree>
    <p:extLst>
      <p:ext uri="{BB962C8B-B14F-4D97-AF65-F5344CB8AC3E}">
        <p14:creationId xmlns:p14="http://schemas.microsoft.com/office/powerpoint/2010/main" val="37964025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C0A548-6067-C9A7-AA19-49A57E832CA3}"/>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6100"/>
              <a:t>BasketController Index Function</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A0986B54-C01E-7D74-82F1-EB12140D8DEC}"/>
              </a:ext>
            </a:extLst>
          </p:cNvPr>
          <p:cNvPicPr>
            <a:picLocks noGrp="1" noChangeAspect="1"/>
          </p:cNvPicPr>
          <p:nvPr>
            <p:ph idx="1"/>
          </p:nvPr>
        </p:nvPicPr>
        <p:blipFill>
          <a:blip r:embed="rId2"/>
          <a:stretch>
            <a:fillRect/>
          </a:stretch>
        </p:blipFill>
        <p:spPr>
          <a:xfrm>
            <a:off x="320040" y="3378769"/>
            <a:ext cx="5614416" cy="2133477"/>
          </a:xfrm>
          <a:prstGeom prst="rect">
            <a:avLst/>
          </a:prstGeom>
        </p:spPr>
      </p:pic>
      <p:pic>
        <p:nvPicPr>
          <p:cNvPr id="5" name="Picture 4" descr="A screen shot of a computer code&#10;&#10;AI-generated content may be incorrect.">
            <a:extLst>
              <a:ext uri="{FF2B5EF4-FFF2-40B4-BE49-F238E27FC236}">
                <a16:creationId xmlns:a16="http://schemas.microsoft.com/office/drawing/2014/main" id="{CE8D41AF-2F1D-442D-98D8-6102D1AA06A5}"/>
              </a:ext>
            </a:extLst>
          </p:cNvPr>
          <p:cNvPicPr>
            <a:picLocks noChangeAspect="1"/>
          </p:cNvPicPr>
          <p:nvPr/>
        </p:nvPicPr>
        <p:blipFill>
          <a:blip r:embed="rId3"/>
          <a:stretch>
            <a:fillRect/>
          </a:stretch>
        </p:blipFill>
        <p:spPr>
          <a:xfrm>
            <a:off x="6254496" y="3736688"/>
            <a:ext cx="5614416" cy="1417639"/>
          </a:xfrm>
          <a:prstGeom prst="rect">
            <a:avLst/>
          </a:prstGeom>
        </p:spPr>
      </p:pic>
    </p:spTree>
    <p:extLst>
      <p:ext uri="{BB962C8B-B14F-4D97-AF65-F5344CB8AC3E}">
        <p14:creationId xmlns:p14="http://schemas.microsoft.com/office/powerpoint/2010/main" val="36788321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F3FB11-F88A-726B-BB84-AF0DB5B33B7C}"/>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latin typeface="+mj-lt"/>
                <a:ea typeface="+mj-ea"/>
                <a:cs typeface="+mj-cs"/>
              </a:rPr>
              <a:t>Start by finding the currently logged in </a:t>
            </a:r>
            <a:r>
              <a:rPr lang="en-US" sz="4100"/>
              <a:t>user</a:t>
            </a:r>
            <a:r>
              <a:rPr lang="en-US" sz="4100" kern="1200">
                <a:latin typeface="+mj-lt"/>
                <a:ea typeface="+mj-ea"/>
                <a:cs typeface="+mj-cs"/>
              </a:rPr>
              <a:t> instead</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71F14819-5727-10A9-C815-823E1B37D87C}"/>
              </a:ext>
            </a:extLst>
          </p:cNvPr>
          <p:cNvPicPr>
            <a:picLocks noGrp="1" noChangeAspect="1"/>
          </p:cNvPicPr>
          <p:nvPr>
            <p:ph idx="1"/>
          </p:nvPr>
        </p:nvPicPr>
        <p:blipFill>
          <a:blip r:embed="rId2"/>
          <a:stretch>
            <a:fillRect/>
          </a:stretch>
        </p:blipFill>
        <p:spPr>
          <a:xfrm>
            <a:off x="320040" y="3098529"/>
            <a:ext cx="11548872" cy="2656239"/>
          </a:xfrm>
          <a:prstGeom prst="rect">
            <a:avLst/>
          </a:prstGeom>
        </p:spPr>
      </p:pic>
    </p:spTree>
    <p:extLst>
      <p:ext uri="{BB962C8B-B14F-4D97-AF65-F5344CB8AC3E}">
        <p14:creationId xmlns:p14="http://schemas.microsoft.com/office/powerpoint/2010/main" val="27443538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CF79E2-B711-F193-AD67-6BF3EBF914A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Check if that user has a basket if not then create one for them</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20EB0797-7979-CCF6-DF18-613A1E032DE3}"/>
              </a:ext>
            </a:extLst>
          </p:cNvPr>
          <p:cNvPicPr>
            <a:picLocks noChangeAspect="1"/>
          </p:cNvPicPr>
          <p:nvPr/>
        </p:nvPicPr>
        <p:blipFill>
          <a:blip r:embed="rId2"/>
          <a:stretch>
            <a:fillRect/>
          </a:stretch>
        </p:blipFill>
        <p:spPr>
          <a:xfrm>
            <a:off x="2578443" y="2633472"/>
            <a:ext cx="7032065" cy="3586353"/>
          </a:xfrm>
          <a:prstGeom prst="rect">
            <a:avLst/>
          </a:prstGeom>
        </p:spPr>
      </p:pic>
    </p:spTree>
    <p:extLst>
      <p:ext uri="{BB962C8B-B14F-4D97-AF65-F5344CB8AC3E}">
        <p14:creationId xmlns:p14="http://schemas.microsoft.com/office/powerpoint/2010/main" val="90524142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685396-3E8F-E8AA-3F8B-801EB947903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Next find all products in that basket and find the subtotal</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CB555ED0-4E81-E014-3393-816D2AB94274}"/>
              </a:ext>
            </a:extLst>
          </p:cNvPr>
          <p:cNvPicPr>
            <a:picLocks noChangeAspect="1"/>
          </p:cNvPicPr>
          <p:nvPr/>
        </p:nvPicPr>
        <p:blipFill>
          <a:blip r:embed="rId2"/>
          <a:stretch>
            <a:fillRect/>
          </a:stretch>
        </p:blipFill>
        <p:spPr>
          <a:xfrm>
            <a:off x="1666882" y="2633472"/>
            <a:ext cx="8855188" cy="3586353"/>
          </a:xfrm>
          <a:prstGeom prst="rect">
            <a:avLst/>
          </a:prstGeom>
        </p:spPr>
      </p:pic>
    </p:spTree>
    <p:extLst>
      <p:ext uri="{BB962C8B-B14F-4D97-AF65-F5344CB8AC3E}">
        <p14:creationId xmlns:p14="http://schemas.microsoft.com/office/powerpoint/2010/main" val="389701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0B09E4-DEDF-6CA6-E7C7-274E8FC739AF}"/>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latin typeface="+mj-lt"/>
                <a:ea typeface="+mj-ea"/>
                <a:cs typeface="+mj-cs"/>
              </a:rPr>
              <a:t>Loyalty Discount Calc (Can add more conditions</a:t>
            </a:r>
            <a:r>
              <a:rPr lang="en-US" sz="4100"/>
              <a:t> for different rewards</a:t>
            </a:r>
            <a:r>
              <a:rPr lang="en-US" sz="4100" kern="1200">
                <a:latin typeface="+mj-lt"/>
                <a:ea typeface="+mj-ea"/>
                <a:cs typeface="+mj-cs"/>
              </a:rPr>
              <a:t>)</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122331DA-A759-02E7-44C5-E1A5968F2564}"/>
              </a:ext>
            </a:extLst>
          </p:cNvPr>
          <p:cNvPicPr>
            <a:picLocks noGrp="1" noChangeAspect="1"/>
          </p:cNvPicPr>
          <p:nvPr>
            <p:ph idx="1"/>
          </p:nvPr>
        </p:nvPicPr>
        <p:blipFill>
          <a:blip r:embed="rId2"/>
          <a:stretch>
            <a:fillRect/>
          </a:stretch>
        </p:blipFill>
        <p:spPr>
          <a:xfrm>
            <a:off x="320040" y="2665446"/>
            <a:ext cx="11548872" cy="3522404"/>
          </a:xfrm>
          <a:prstGeom prst="rect">
            <a:avLst/>
          </a:prstGeom>
        </p:spPr>
      </p:pic>
    </p:spTree>
    <p:extLst>
      <p:ext uri="{BB962C8B-B14F-4D97-AF65-F5344CB8AC3E}">
        <p14:creationId xmlns:p14="http://schemas.microsoft.com/office/powerpoint/2010/main" val="676292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BCBEBC-7E84-0B07-A2E4-190FFDB620F5}"/>
              </a:ext>
            </a:extLst>
          </p:cNvPr>
          <p:cNvSpPr>
            <a:spLocks noGrp="1"/>
          </p:cNvSpPr>
          <p:nvPr>
            <p:ph type="title"/>
          </p:nvPr>
        </p:nvSpPr>
        <p:spPr>
          <a:xfrm>
            <a:off x="630936" y="640823"/>
            <a:ext cx="3419856" cy="5583148"/>
          </a:xfrm>
        </p:spPr>
        <p:txBody>
          <a:bodyPr anchor="ctr">
            <a:normAutofit/>
          </a:bodyPr>
          <a:lstStyle/>
          <a:p>
            <a:r>
              <a:rPr lang="en-GB" sz="5400"/>
              <a:t>Finally sending to the Viewbag and returning the view</a:t>
            </a:r>
          </a:p>
        </p:txBody>
      </p:sp>
      <p:sp>
        <p:nvSpPr>
          <p:cNvPr id="13"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onnsiteX0" fmla="*/ 0 w 18288"/>
              <a:gd name="connsiteY0" fmla="*/ 0 h 5590381"/>
              <a:gd name="connsiteX1" fmla="*/ 18288 w 18288"/>
              <a:gd name="connsiteY1" fmla="*/ 0 h 5590381"/>
              <a:gd name="connsiteX2" fmla="*/ 18288 w 18288"/>
              <a:gd name="connsiteY2" fmla="*/ 754701 h 5590381"/>
              <a:gd name="connsiteX3" fmla="*/ 18288 w 18288"/>
              <a:gd name="connsiteY3" fmla="*/ 1565307 h 5590381"/>
              <a:gd name="connsiteX4" fmla="*/ 18288 w 18288"/>
              <a:gd name="connsiteY4" fmla="*/ 2152297 h 5590381"/>
              <a:gd name="connsiteX5" fmla="*/ 18288 w 18288"/>
              <a:gd name="connsiteY5" fmla="*/ 2906998 h 5590381"/>
              <a:gd name="connsiteX6" fmla="*/ 18288 w 18288"/>
              <a:gd name="connsiteY6" fmla="*/ 3549892 h 5590381"/>
              <a:gd name="connsiteX7" fmla="*/ 18288 w 18288"/>
              <a:gd name="connsiteY7" fmla="*/ 4080978 h 5590381"/>
              <a:gd name="connsiteX8" fmla="*/ 18288 w 18288"/>
              <a:gd name="connsiteY8" fmla="*/ 4835680 h 5590381"/>
              <a:gd name="connsiteX9" fmla="*/ 18288 w 18288"/>
              <a:gd name="connsiteY9" fmla="*/ 5590381 h 5590381"/>
              <a:gd name="connsiteX10" fmla="*/ 0 w 18288"/>
              <a:gd name="connsiteY10" fmla="*/ 5590381 h 5590381"/>
              <a:gd name="connsiteX11" fmla="*/ 0 w 18288"/>
              <a:gd name="connsiteY11" fmla="*/ 4835680 h 5590381"/>
              <a:gd name="connsiteX12" fmla="*/ 0 w 18288"/>
              <a:gd name="connsiteY12" fmla="*/ 4304593 h 5590381"/>
              <a:gd name="connsiteX13" fmla="*/ 0 w 18288"/>
              <a:gd name="connsiteY13" fmla="*/ 3773507 h 5590381"/>
              <a:gd name="connsiteX14" fmla="*/ 0 w 18288"/>
              <a:gd name="connsiteY14" fmla="*/ 3186517 h 5590381"/>
              <a:gd name="connsiteX15" fmla="*/ 0 w 18288"/>
              <a:gd name="connsiteY15" fmla="*/ 2487720 h 5590381"/>
              <a:gd name="connsiteX16" fmla="*/ 0 w 18288"/>
              <a:gd name="connsiteY16" fmla="*/ 1956633 h 5590381"/>
              <a:gd name="connsiteX17" fmla="*/ 0 w 18288"/>
              <a:gd name="connsiteY17" fmla="*/ 1425547 h 5590381"/>
              <a:gd name="connsiteX18" fmla="*/ 0 w 18288"/>
              <a:gd name="connsiteY18" fmla="*/ 614942 h 5590381"/>
              <a:gd name="connsiteX19" fmla="*/ 0 w 18288"/>
              <a:gd name="connsiteY19" fmla="*/ 0 h 5590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5840C0A1-C56B-64C6-9F8B-76179710CEAC}"/>
              </a:ext>
            </a:extLst>
          </p:cNvPr>
          <p:cNvPicPr>
            <a:picLocks noChangeAspect="1"/>
          </p:cNvPicPr>
          <p:nvPr/>
        </p:nvPicPr>
        <p:blipFill>
          <a:blip r:embed="rId2"/>
          <a:stretch>
            <a:fillRect/>
          </a:stretch>
        </p:blipFill>
        <p:spPr>
          <a:xfrm>
            <a:off x="4764909" y="2128287"/>
            <a:ext cx="6894576" cy="2602703"/>
          </a:xfrm>
          <a:prstGeom prst="rect">
            <a:avLst/>
          </a:prstGeom>
        </p:spPr>
      </p:pic>
    </p:spTree>
    <p:extLst>
      <p:ext uri="{BB962C8B-B14F-4D97-AF65-F5344CB8AC3E}">
        <p14:creationId xmlns:p14="http://schemas.microsoft.com/office/powerpoint/2010/main" val="158160332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04BC79-EE98-8BF3-BC7B-CDF7011E4C9E}"/>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Full new index method</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CAF2CBC7-515B-59F7-62FF-2136D7956826}"/>
              </a:ext>
            </a:extLst>
          </p:cNvPr>
          <p:cNvPicPr>
            <a:picLocks noGrp="1" noChangeAspect="1"/>
          </p:cNvPicPr>
          <p:nvPr>
            <p:ph idx="1"/>
          </p:nvPr>
        </p:nvPicPr>
        <p:blipFill>
          <a:blip r:embed="rId2"/>
          <a:stretch>
            <a:fillRect/>
          </a:stretch>
        </p:blipFill>
        <p:spPr>
          <a:xfrm>
            <a:off x="6464659" y="640080"/>
            <a:ext cx="3593890" cy="5550408"/>
          </a:xfrm>
          <a:prstGeom prst="rect">
            <a:avLst/>
          </a:prstGeom>
        </p:spPr>
      </p:pic>
    </p:spTree>
    <p:extLst>
      <p:ext uri="{BB962C8B-B14F-4D97-AF65-F5344CB8AC3E}">
        <p14:creationId xmlns:p14="http://schemas.microsoft.com/office/powerpoint/2010/main" val="3124620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669255-66A5-8DD8-4D4B-1176018C9B16}"/>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a:solidFill>
                  <a:schemeClr val="tx1"/>
                </a:solidFill>
                <a:latin typeface="+mj-lt"/>
                <a:ea typeface="+mj-ea"/>
                <a:cs typeface="+mj-cs"/>
              </a:rPr>
              <a:t>Index.cshtml File in Baskets View</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black rectangular object with a gray strip&#10;&#10;AI-generated content may be incorrect.">
            <a:extLst>
              <a:ext uri="{FF2B5EF4-FFF2-40B4-BE49-F238E27FC236}">
                <a16:creationId xmlns:a16="http://schemas.microsoft.com/office/drawing/2014/main" id="{47769A35-CBF0-3E94-6E9D-C90257EC10E6}"/>
              </a:ext>
            </a:extLst>
          </p:cNvPr>
          <p:cNvPicPr>
            <a:picLocks noGrp="1" noChangeAspect="1"/>
          </p:cNvPicPr>
          <p:nvPr>
            <p:ph idx="1"/>
          </p:nvPr>
        </p:nvPicPr>
        <p:blipFill>
          <a:blip r:embed="rId2"/>
          <a:stretch>
            <a:fillRect/>
          </a:stretch>
        </p:blipFill>
        <p:spPr>
          <a:xfrm>
            <a:off x="320040" y="2795372"/>
            <a:ext cx="11548872" cy="3262553"/>
          </a:xfrm>
          <a:prstGeom prst="rect">
            <a:avLst/>
          </a:prstGeom>
        </p:spPr>
      </p:pic>
    </p:spTree>
    <p:extLst>
      <p:ext uri="{BB962C8B-B14F-4D97-AF65-F5344CB8AC3E}">
        <p14:creationId xmlns:p14="http://schemas.microsoft.com/office/powerpoint/2010/main" val="22217103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F33AC3-F29B-F439-4EE1-A44456FE973F}"/>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522DA63-D0C2-868A-BF86-527C7568CF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CD0B54-DD0A-35C4-CB9A-434AB352152F}"/>
              </a:ext>
            </a:extLst>
          </p:cNvPr>
          <p:cNvSpPr>
            <a:spLocks noGrp="1"/>
          </p:cNvSpPr>
          <p:nvPr>
            <p:ph type="title"/>
          </p:nvPr>
        </p:nvSpPr>
        <p:spPr>
          <a:xfrm>
            <a:off x="638881" y="417576"/>
            <a:ext cx="10909640" cy="1249394"/>
          </a:xfrm>
        </p:spPr>
        <p:txBody>
          <a:bodyPr vert="horz" lIns="91440" tIns="45720" rIns="91440" bIns="45720" rtlCol="0" anchor="ctr">
            <a:normAutofit/>
          </a:bodyPr>
          <a:lstStyle/>
          <a:p>
            <a:r>
              <a:rPr lang="en-GB"/>
              <a:t>Change the model being passed through to this</a:t>
            </a:r>
            <a:endParaRPr lang="en-US"/>
          </a:p>
        </p:txBody>
      </p:sp>
      <p:sp>
        <p:nvSpPr>
          <p:cNvPr id="11" name="sketch line">
            <a:extLst>
              <a:ext uri="{FF2B5EF4-FFF2-40B4-BE49-F238E27FC236}">
                <a16:creationId xmlns:a16="http://schemas.microsoft.com/office/drawing/2014/main" id="{5863512A-C133-5AC6-9268-7F92842AA9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close up of a sign&#10;&#10;AI-generated content may be incorrect.">
            <a:extLst>
              <a:ext uri="{FF2B5EF4-FFF2-40B4-BE49-F238E27FC236}">
                <a16:creationId xmlns:a16="http://schemas.microsoft.com/office/drawing/2014/main" id="{52B3186F-0811-6AB4-C2CF-1598A8F3455E}"/>
              </a:ext>
            </a:extLst>
          </p:cNvPr>
          <p:cNvPicPr>
            <a:picLocks noChangeAspect="1"/>
          </p:cNvPicPr>
          <p:nvPr/>
        </p:nvPicPr>
        <p:blipFill>
          <a:blip r:embed="rId2"/>
          <a:stretch>
            <a:fillRect/>
          </a:stretch>
        </p:blipFill>
        <p:spPr>
          <a:xfrm>
            <a:off x="957262" y="3675114"/>
            <a:ext cx="10277475" cy="552450"/>
          </a:xfrm>
          <a:prstGeom prst="rect">
            <a:avLst/>
          </a:prstGeom>
        </p:spPr>
      </p:pic>
    </p:spTree>
    <p:extLst>
      <p:ext uri="{BB962C8B-B14F-4D97-AF65-F5344CB8AC3E}">
        <p14:creationId xmlns:p14="http://schemas.microsoft.com/office/powerpoint/2010/main" val="9721299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4A8DA3-3ED0-313D-18DE-B0E9C1AE9C4C}"/>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Next Section</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computer screen shot of text&#10;&#10;AI-generated content may be incorrect.">
            <a:extLst>
              <a:ext uri="{FF2B5EF4-FFF2-40B4-BE49-F238E27FC236}">
                <a16:creationId xmlns:a16="http://schemas.microsoft.com/office/drawing/2014/main" id="{C4770DFC-6226-2FEB-D269-F00B61D29671}"/>
              </a:ext>
            </a:extLst>
          </p:cNvPr>
          <p:cNvPicPr>
            <a:picLocks noChangeAspect="1"/>
          </p:cNvPicPr>
          <p:nvPr/>
        </p:nvPicPr>
        <p:blipFill>
          <a:blip r:embed="rId2"/>
          <a:stretch>
            <a:fillRect/>
          </a:stretch>
        </p:blipFill>
        <p:spPr>
          <a:xfrm>
            <a:off x="320040" y="3170707"/>
            <a:ext cx="11548872" cy="2511882"/>
          </a:xfrm>
          <a:prstGeom prst="rect">
            <a:avLst/>
          </a:prstGeom>
        </p:spPr>
      </p:pic>
    </p:spTree>
    <p:extLst>
      <p:ext uri="{BB962C8B-B14F-4D97-AF65-F5344CB8AC3E}">
        <p14:creationId xmlns:p14="http://schemas.microsoft.com/office/powerpoint/2010/main" val="18627174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D2FDBC-EB16-D56B-9B73-25C96C6885BC}"/>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4600" kern="1200" dirty="0">
                <a:latin typeface="+mj-lt"/>
                <a:ea typeface="+mj-ea"/>
                <a:cs typeface="+mj-cs"/>
              </a:rPr>
              <a:t>Next see if the basket is empty then </a:t>
            </a:r>
            <a:r>
              <a:rPr lang="en-US" sz="4600" dirty="0"/>
              <a:t>display</a:t>
            </a:r>
            <a:r>
              <a:rPr lang="en-US" sz="4600" kern="1200" dirty="0">
                <a:latin typeface="+mj-lt"/>
                <a:ea typeface="+mj-ea"/>
                <a:cs typeface="+mj-cs"/>
              </a:rPr>
              <a:t> a message otherwise display the price and </a:t>
            </a:r>
            <a:r>
              <a:rPr lang="en-US" sz="4600" dirty="0"/>
              <a:t>quantity</a:t>
            </a:r>
            <a:r>
              <a:rPr lang="en-US" sz="4600" kern="1200" dirty="0">
                <a:latin typeface="+mj-lt"/>
                <a:ea typeface="+mj-ea"/>
                <a:cs typeface="+mj-cs"/>
              </a:rPr>
              <a:t> of each item in the </a:t>
            </a:r>
            <a:r>
              <a:rPr lang="en-US" sz="4600"/>
              <a:t>basket</a:t>
            </a:r>
            <a:endParaRPr lang="en-US" sz="4600" kern="1200">
              <a:latin typeface="+mj-lt"/>
            </a:endParaRPr>
          </a:p>
        </p:txBody>
      </p:sp>
      <p:sp>
        <p:nvSpPr>
          <p:cNvPr id="9" name="Rectangle 8">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onnsiteX0" fmla="*/ 0 w 3647661"/>
              <a:gd name="connsiteY0" fmla="*/ 0 h 4436126"/>
              <a:gd name="connsiteX1" fmla="*/ 498514 w 3647661"/>
              <a:gd name="connsiteY1" fmla="*/ 0 h 4436126"/>
              <a:gd name="connsiteX2" fmla="*/ 1069981 w 3647661"/>
              <a:gd name="connsiteY2" fmla="*/ 0 h 4436126"/>
              <a:gd name="connsiteX3" fmla="*/ 1714401 w 3647661"/>
              <a:gd name="connsiteY3" fmla="*/ 0 h 4436126"/>
              <a:gd name="connsiteX4" fmla="*/ 2285868 w 3647661"/>
              <a:gd name="connsiteY4" fmla="*/ 0 h 4436126"/>
              <a:gd name="connsiteX5" fmla="*/ 2784381 w 3647661"/>
              <a:gd name="connsiteY5" fmla="*/ 0 h 4436126"/>
              <a:gd name="connsiteX6" fmla="*/ 3647661 w 3647661"/>
              <a:gd name="connsiteY6" fmla="*/ 0 h 4436126"/>
              <a:gd name="connsiteX7" fmla="*/ 3647661 w 3647661"/>
              <a:gd name="connsiteY7" fmla="*/ 633732 h 4436126"/>
              <a:gd name="connsiteX8" fmla="*/ 3647661 w 3647661"/>
              <a:gd name="connsiteY8" fmla="*/ 1267465 h 4436126"/>
              <a:gd name="connsiteX9" fmla="*/ 3647661 w 3647661"/>
              <a:gd name="connsiteY9" fmla="*/ 1768113 h 4436126"/>
              <a:gd name="connsiteX10" fmla="*/ 3647661 w 3647661"/>
              <a:gd name="connsiteY10" fmla="*/ 2446207 h 4436126"/>
              <a:gd name="connsiteX11" fmla="*/ 3647661 w 3647661"/>
              <a:gd name="connsiteY11" fmla="*/ 2946855 h 4436126"/>
              <a:gd name="connsiteX12" fmla="*/ 3647661 w 3647661"/>
              <a:gd name="connsiteY12" fmla="*/ 3580587 h 4436126"/>
              <a:gd name="connsiteX13" fmla="*/ 3647661 w 3647661"/>
              <a:gd name="connsiteY13" fmla="*/ 4436126 h 4436126"/>
              <a:gd name="connsiteX14" fmla="*/ 3039718 w 3647661"/>
              <a:gd name="connsiteY14" fmla="*/ 4436126 h 4436126"/>
              <a:gd name="connsiteX15" fmla="*/ 2431774 w 3647661"/>
              <a:gd name="connsiteY15" fmla="*/ 4436126 h 4436126"/>
              <a:gd name="connsiteX16" fmla="*/ 1823831 w 3647661"/>
              <a:gd name="connsiteY16" fmla="*/ 4436126 h 4436126"/>
              <a:gd name="connsiteX17" fmla="*/ 1288840 w 3647661"/>
              <a:gd name="connsiteY17" fmla="*/ 4436126 h 4436126"/>
              <a:gd name="connsiteX18" fmla="*/ 607943 w 3647661"/>
              <a:gd name="connsiteY18" fmla="*/ 4436126 h 4436126"/>
              <a:gd name="connsiteX19" fmla="*/ 0 w 3647661"/>
              <a:gd name="connsiteY19" fmla="*/ 4436126 h 4436126"/>
              <a:gd name="connsiteX20" fmla="*/ 0 w 3647661"/>
              <a:gd name="connsiteY20" fmla="*/ 3758032 h 4436126"/>
              <a:gd name="connsiteX21" fmla="*/ 0 w 3647661"/>
              <a:gd name="connsiteY21" fmla="*/ 3035578 h 4436126"/>
              <a:gd name="connsiteX22" fmla="*/ 0 w 3647661"/>
              <a:gd name="connsiteY22" fmla="*/ 2401845 h 4436126"/>
              <a:gd name="connsiteX23" fmla="*/ 0 w 3647661"/>
              <a:gd name="connsiteY23" fmla="*/ 1768113 h 4436126"/>
              <a:gd name="connsiteX24" fmla="*/ 0 w 3647661"/>
              <a:gd name="connsiteY24" fmla="*/ 1178742 h 4436126"/>
              <a:gd name="connsiteX25" fmla="*/ 0 w 3647661"/>
              <a:gd name="connsiteY25" fmla="*/ 589371 h 4436126"/>
              <a:gd name="connsiteX26" fmla="*/ 0 w 3647661"/>
              <a:gd name="connsiteY26" fmla="*/ 0 h 4436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onnsiteX0" fmla="*/ 0 w 6281928"/>
              <a:gd name="connsiteY0" fmla="*/ 0 h 18288"/>
              <a:gd name="connsiteX1" fmla="*/ 572353 w 6281928"/>
              <a:gd name="connsiteY1" fmla="*/ 0 h 18288"/>
              <a:gd name="connsiteX2" fmla="*/ 1207526 w 6281928"/>
              <a:gd name="connsiteY2" fmla="*/ 0 h 18288"/>
              <a:gd name="connsiteX3" fmla="*/ 1779880 w 6281928"/>
              <a:gd name="connsiteY3" fmla="*/ 0 h 18288"/>
              <a:gd name="connsiteX4" fmla="*/ 2540691 w 6281928"/>
              <a:gd name="connsiteY4" fmla="*/ 0 h 18288"/>
              <a:gd name="connsiteX5" fmla="*/ 3238683 w 6281928"/>
              <a:gd name="connsiteY5" fmla="*/ 0 h 18288"/>
              <a:gd name="connsiteX6" fmla="*/ 3936675 w 6281928"/>
              <a:gd name="connsiteY6" fmla="*/ 0 h 18288"/>
              <a:gd name="connsiteX7" fmla="*/ 4760305 w 6281928"/>
              <a:gd name="connsiteY7" fmla="*/ 0 h 18288"/>
              <a:gd name="connsiteX8" fmla="*/ 5521117 w 6281928"/>
              <a:gd name="connsiteY8" fmla="*/ 0 h 18288"/>
              <a:gd name="connsiteX9" fmla="*/ 6281928 w 6281928"/>
              <a:gd name="connsiteY9" fmla="*/ 0 h 18288"/>
              <a:gd name="connsiteX10" fmla="*/ 6281928 w 6281928"/>
              <a:gd name="connsiteY10" fmla="*/ 18288 h 18288"/>
              <a:gd name="connsiteX11" fmla="*/ 5772394 w 6281928"/>
              <a:gd name="connsiteY11" fmla="*/ 18288 h 18288"/>
              <a:gd name="connsiteX12" fmla="*/ 5200040 w 6281928"/>
              <a:gd name="connsiteY12" fmla="*/ 18288 h 18288"/>
              <a:gd name="connsiteX13" fmla="*/ 4439229 w 6281928"/>
              <a:gd name="connsiteY13" fmla="*/ 18288 h 18288"/>
              <a:gd name="connsiteX14" fmla="*/ 3615599 w 6281928"/>
              <a:gd name="connsiteY14" fmla="*/ 18288 h 18288"/>
              <a:gd name="connsiteX15" fmla="*/ 2980426 w 6281928"/>
              <a:gd name="connsiteY15" fmla="*/ 18288 h 18288"/>
              <a:gd name="connsiteX16" fmla="*/ 2156795 w 6281928"/>
              <a:gd name="connsiteY16" fmla="*/ 18288 h 18288"/>
              <a:gd name="connsiteX17" fmla="*/ 1584442 w 6281928"/>
              <a:gd name="connsiteY17" fmla="*/ 18288 h 18288"/>
              <a:gd name="connsiteX18" fmla="*/ 1074908 w 6281928"/>
              <a:gd name="connsiteY18" fmla="*/ 18288 h 18288"/>
              <a:gd name="connsiteX19" fmla="*/ 0 w 6281928"/>
              <a:gd name="connsiteY19" fmla="*/ 18288 h 18288"/>
              <a:gd name="connsiteX20" fmla="*/ 0 w 6281928"/>
              <a:gd name="connsiteY2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240150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7D0B8F-36BE-795C-B825-C23FFD24E46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087D53-9295-4463-AAE4-D5C626046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CD8228-2979-F952-BBB6-6B8F3F555878}"/>
              </a:ext>
            </a:extLst>
          </p:cNvPr>
          <p:cNvSpPr>
            <a:spLocks noGrp="1"/>
          </p:cNvSpPr>
          <p:nvPr>
            <p:ph type="title"/>
          </p:nvPr>
        </p:nvSpPr>
        <p:spPr>
          <a:xfrm>
            <a:off x="638881" y="4501453"/>
            <a:ext cx="10909640" cy="1065836"/>
          </a:xfrm>
        </p:spPr>
        <p:txBody>
          <a:bodyPr vert="horz" lIns="91440" tIns="45720" rIns="91440" bIns="45720" rtlCol="0" anchor="ctr">
            <a:normAutofit/>
          </a:bodyPr>
          <a:lstStyle/>
          <a:p>
            <a:pPr algn="ctr"/>
            <a:r>
              <a:rPr lang="en-US" sz="3100"/>
              <a:t>Next see if the basket is empty then dispay a message otherwise display the price and quanity of each item in the absket</a:t>
            </a:r>
          </a:p>
        </p:txBody>
      </p:sp>
      <p:pic>
        <p:nvPicPr>
          <p:cNvPr id="4" name="Content Placeholder 3" descr="A screenshot of a computer program&#10;&#10;AI-generated content may be incorrect.">
            <a:extLst>
              <a:ext uri="{FF2B5EF4-FFF2-40B4-BE49-F238E27FC236}">
                <a16:creationId xmlns:a16="http://schemas.microsoft.com/office/drawing/2014/main" id="{8DA1B2B8-C9DF-4266-3276-1B08EB29679E}"/>
              </a:ext>
            </a:extLst>
          </p:cNvPr>
          <p:cNvPicPr>
            <a:picLocks noGrp="1" noChangeAspect="1"/>
          </p:cNvPicPr>
          <p:nvPr>
            <p:ph idx="1"/>
          </p:nvPr>
        </p:nvPicPr>
        <p:blipFill>
          <a:blip r:embed="rId2"/>
          <a:stretch>
            <a:fillRect/>
          </a:stretch>
        </p:blipFill>
        <p:spPr>
          <a:xfrm>
            <a:off x="1578849" y="320040"/>
            <a:ext cx="3096798" cy="3895344"/>
          </a:xfrm>
          <a:prstGeom prst="rect">
            <a:avLst/>
          </a:prstGeom>
        </p:spPr>
      </p:pic>
      <p:pic>
        <p:nvPicPr>
          <p:cNvPr id="5" name="Picture 4" descr="A screen shot of a computer program&#10;&#10;AI-generated content may be incorrect.">
            <a:extLst>
              <a:ext uri="{FF2B5EF4-FFF2-40B4-BE49-F238E27FC236}">
                <a16:creationId xmlns:a16="http://schemas.microsoft.com/office/drawing/2014/main" id="{438F72C1-F290-DB83-1221-EED7054A4DCD}"/>
              </a:ext>
            </a:extLst>
          </p:cNvPr>
          <p:cNvPicPr>
            <a:picLocks noChangeAspect="1"/>
          </p:cNvPicPr>
          <p:nvPr/>
        </p:nvPicPr>
        <p:blipFill>
          <a:blip r:embed="rId3"/>
          <a:stretch>
            <a:fillRect/>
          </a:stretch>
        </p:blipFill>
        <p:spPr>
          <a:xfrm>
            <a:off x="6254496" y="885163"/>
            <a:ext cx="5614416" cy="2765098"/>
          </a:xfrm>
          <a:prstGeom prst="rect">
            <a:avLst/>
          </a:prstGeom>
        </p:spPr>
      </p:pic>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5594358"/>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8348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E37229-5A5B-8099-52D8-041A0DA69BD4}"/>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5100" kern="1200">
                <a:solidFill>
                  <a:schemeClr val="tx1"/>
                </a:solidFill>
                <a:latin typeface="+mj-lt"/>
                <a:ea typeface="+mj-ea"/>
                <a:cs typeface="+mj-cs"/>
              </a:rPr>
              <a:t>New Look Basket (Needs CSS Editing later)</a:t>
            </a:r>
          </a:p>
        </p:txBody>
      </p:sp>
      <p:sp>
        <p:nvSpPr>
          <p:cNvPr id="2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B21FC4D5-726A-D505-EC47-0B007CD335BE}"/>
              </a:ext>
            </a:extLst>
          </p:cNvPr>
          <p:cNvPicPr>
            <a:picLocks noChangeAspect="1"/>
          </p:cNvPicPr>
          <p:nvPr/>
        </p:nvPicPr>
        <p:blipFill>
          <a:blip r:embed="rId2"/>
          <a:stretch>
            <a:fillRect/>
          </a:stretch>
        </p:blipFill>
        <p:spPr>
          <a:xfrm>
            <a:off x="4654296" y="1638686"/>
            <a:ext cx="7214616" cy="3553196"/>
          </a:xfrm>
          <a:prstGeom prst="rect">
            <a:avLst/>
          </a:prstGeom>
        </p:spPr>
      </p:pic>
    </p:spTree>
    <p:extLst>
      <p:ext uri="{BB962C8B-B14F-4D97-AF65-F5344CB8AC3E}">
        <p14:creationId xmlns:p14="http://schemas.microsoft.com/office/powerpoint/2010/main" val="16558596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5F211C-E941-8998-1B44-55918373EB6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Now to add the checkout functionality </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35504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FA5CE7-09D2-E4E5-6A6B-A9FCA47BABB5}"/>
              </a:ext>
            </a:extLst>
          </p:cNvPr>
          <p:cNvSpPr>
            <a:spLocks noGrp="1"/>
          </p:cNvSpPr>
          <p:nvPr>
            <p:ph type="title"/>
          </p:nvPr>
        </p:nvSpPr>
        <p:spPr>
          <a:xfrm>
            <a:off x="630936" y="640823"/>
            <a:ext cx="3419856" cy="5583148"/>
          </a:xfrm>
        </p:spPr>
        <p:txBody>
          <a:bodyPr vert="horz" lIns="91440" tIns="45720" rIns="91440" bIns="45720" rtlCol="0" anchor="ctr">
            <a:normAutofit/>
          </a:bodyPr>
          <a:lstStyle/>
          <a:p>
            <a:r>
              <a:rPr lang="en-US" sz="5400" kern="1200">
                <a:solidFill>
                  <a:schemeClr val="tx1"/>
                </a:solidFill>
                <a:latin typeface="+mj-lt"/>
                <a:ea typeface="+mj-ea"/>
                <a:cs typeface="+mj-cs"/>
              </a:rPr>
              <a:t>First need to add the Checkout button</a:t>
            </a:r>
          </a:p>
        </p:txBody>
      </p:sp>
      <p:sp>
        <p:nvSpPr>
          <p:cNvPr id="15"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onnsiteX0" fmla="*/ 0 w 18288"/>
              <a:gd name="connsiteY0" fmla="*/ 0 h 5590381"/>
              <a:gd name="connsiteX1" fmla="*/ 18288 w 18288"/>
              <a:gd name="connsiteY1" fmla="*/ 0 h 5590381"/>
              <a:gd name="connsiteX2" fmla="*/ 18288 w 18288"/>
              <a:gd name="connsiteY2" fmla="*/ 754701 h 5590381"/>
              <a:gd name="connsiteX3" fmla="*/ 18288 w 18288"/>
              <a:gd name="connsiteY3" fmla="*/ 1565307 h 5590381"/>
              <a:gd name="connsiteX4" fmla="*/ 18288 w 18288"/>
              <a:gd name="connsiteY4" fmla="*/ 2152297 h 5590381"/>
              <a:gd name="connsiteX5" fmla="*/ 18288 w 18288"/>
              <a:gd name="connsiteY5" fmla="*/ 2906998 h 5590381"/>
              <a:gd name="connsiteX6" fmla="*/ 18288 w 18288"/>
              <a:gd name="connsiteY6" fmla="*/ 3549892 h 5590381"/>
              <a:gd name="connsiteX7" fmla="*/ 18288 w 18288"/>
              <a:gd name="connsiteY7" fmla="*/ 4080978 h 5590381"/>
              <a:gd name="connsiteX8" fmla="*/ 18288 w 18288"/>
              <a:gd name="connsiteY8" fmla="*/ 4835680 h 5590381"/>
              <a:gd name="connsiteX9" fmla="*/ 18288 w 18288"/>
              <a:gd name="connsiteY9" fmla="*/ 5590381 h 5590381"/>
              <a:gd name="connsiteX10" fmla="*/ 0 w 18288"/>
              <a:gd name="connsiteY10" fmla="*/ 5590381 h 5590381"/>
              <a:gd name="connsiteX11" fmla="*/ 0 w 18288"/>
              <a:gd name="connsiteY11" fmla="*/ 4835680 h 5590381"/>
              <a:gd name="connsiteX12" fmla="*/ 0 w 18288"/>
              <a:gd name="connsiteY12" fmla="*/ 4304593 h 5590381"/>
              <a:gd name="connsiteX13" fmla="*/ 0 w 18288"/>
              <a:gd name="connsiteY13" fmla="*/ 3773507 h 5590381"/>
              <a:gd name="connsiteX14" fmla="*/ 0 w 18288"/>
              <a:gd name="connsiteY14" fmla="*/ 3186517 h 5590381"/>
              <a:gd name="connsiteX15" fmla="*/ 0 w 18288"/>
              <a:gd name="connsiteY15" fmla="*/ 2487720 h 5590381"/>
              <a:gd name="connsiteX16" fmla="*/ 0 w 18288"/>
              <a:gd name="connsiteY16" fmla="*/ 1956633 h 5590381"/>
              <a:gd name="connsiteX17" fmla="*/ 0 w 18288"/>
              <a:gd name="connsiteY17" fmla="*/ 1425547 h 5590381"/>
              <a:gd name="connsiteX18" fmla="*/ 0 w 18288"/>
              <a:gd name="connsiteY18" fmla="*/ 614942 h 5590381"/>
              <a:gd name="connsiteX19" fmla="*/ 0 w 18288"/>
              <a:gd name="connsiteY19" fmla="*/ 0 h 5590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Content Placeholder 7" descr="A screen shot of a computer program&#10;&#10;AI-generated content may be incorrect.">
            <a:extLst>
              <a:ext uri="{FF2B5EF4-FFF2-40B4-BE49-F238E27FC236}">
                <a16:creationId xmlns:a16="http://schemas.microsoft.com/office/drawing/2014/main" id="{D44699B5-F834-16FB-19ED-7BBEA0CC6371}"/>
              </a:ext>
            </a:extLst>
          </p:cNvPr>
          <p:cNvPicPr>
            <a:picLocks noGrp="1" noChangeAspect="1"/>
          </p:cNvPicPr>
          <p:nvPr>
            <p:ph idx="1"/>
          </p:nvPr>
        </p:nvPicPr>
        <p:blipFill>
          <a:blip r:embed="rId2"/>
          <a:stretch>
            <a:fillRect/>
          </a:stretch>
        </p:blipFill>
        <p:spPr>
          <a:xfrm>
            <a:off x="4654296" y="700362"/>
            <a:ext cx="6894576" cy="3774779"/>
          </a:xfrm>
          <a:prstGeom prst="rect">
            <a:avLst/>
          </a:prstGeom>
        </p:spPr>
      </p:pic>
      <p:sp>
        <p:nvSpPr>
          <p:cNvPr id="5" name="TextBox 4">
            <a:extLst>
              <a:ext uri="{FF2B5EF4-FFF2-40B4-BE49-F238E27FC236}">
                <a16:creationId xmlns:a16="http://schemas.microsoft.com/office/drawing/2014/main" id="{A916CB4F-4059-E933-6A3A-9BBA9F28FF40}"/>
              </a:ext>
            </a:extLst>
          </p:cNvPr>
          <p:cNvSpPr txBox="1"/>
          <p:nvPr/>
        </p:nvSpPr>
        <p:spPr>
          <a:xfrm>
            <a:off x="4654296" y="4798577"/>
            <a:ext cx="6894576" cy="142848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200" dirty="0"/>
              <a:t>Add the circled code before continue shopping in the </a:t>
            </a:r>
            <a:r>
              <a:rPr lang="en-US" sz="2200" dirty="0" err="1"/>
              <a:t>index.cshtml</a:t>
            </a:r>
            <a:r>
              <a:rPr lang="en-US" sz="2200" dirty="0"/>
              <a:t> file we just changed for baskets</a:t>
            </a:r>
          </a:p>
        </p:txBody>
      </p:sp>
      <p:sp>
        <p:nvSpPr>
          <p:cNvPr id="3" name="Oval 2">
            <a:extLst>
              <a:ext uri="{FF2B5EF4-FFF2-40B4-BE49-F238E27FC236}">
                <a16:creationId xmlns:a16="http://schemas.microsoft.com/office/drawing/2014/main" id="{CD3D8285-350E-055F-5CA4-59F546881569}"/>
              </a:ext>
            </a:extLst>
          </p:cNvPr>
          <p:cNvSpPr/>
          <p:nvPr/>
        </p:nvSpPr>
        <p:spPr>
          <a:xfrm>
            <a:off x="4414344" y="420413"/>
            <a:ext cx="7161868" cy="3153950"/>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36820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087D53-9295-4463-AAE4-D5C626046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918196-AE22-D522-20A5-56417E5E46E2}"/>
              </a:ext>
            </a:extLst>
          </p:cNvPr>
          <p:cNvSpPr>
            <a:spLocks noGrp="1"/>
          </p:cNvSpPr>
          <p:nvPr>
            <p:ph type="title"/>
          </p:nvPr>
        </p:nvSpPr>
        <p:spPr>
          <a:xfrm>
            <a:off x="638881" y="4501453"/>
            <a:ext cx="10909640" cy="1065836"/>
          </a:xfrm>
        </p:spPr>
        <p:txBody>
          <a:bodyPr vert="horz" lIns="91440" tIns="45720" rIns="91440" bIns="45720" rtlCol="0" anchor="ctr">
            <a:normAutofit/>
          </a:bodyPr>
          <a:lstStyle/>
          <a:p>
            <a:pPr algn="ctr"/>
            <a:r>
              <a:rPr lang="en-US" sz="6100"/>
              <a:t>Orders Controller -&gt; GET Method </a:t>
            </a:r>
          </a:p>
        </p:txBody>
      </p:sp>
      <p:pic>
        <p:nvPicPr>
          <p:cNvPr id="5" name="Picture 4" descr="A screen shot of a computer&#10;&#10;AI-generated content may be incorrect.">
            <a:extLst>
              <a:ext uri="{FF2B5EF4-FFF2-40B4-BE49-F238E27FC236}">
                <a16:creationId xmlns:a16="http://schemas.microsoft.com/office/drawing/2014/main" id="{A658F7A7-2566-92F4-ABB9-9048CC1EA267}"/>
              </a:ext>
            </a:extLst>
          </p:cNvPr>
          <p:cNvPicPr>
            <a:picLocks noChangeAspect="1"/>
          </p:cNvPicPr>
          <p:nvPr/>
        </p:nvPicPr>
        <p:blipFill>
          <a:blip r:embed="rId2"/>
          <a:stretch>
            <a:fillRect/>
          </a:stretch>
        </p:blipFill>
        <p:spPr>
          <a:xfrm>
            <a:off x="320040" y="1081667"/>
            <a:ext cx="5614416" cy="2372089"/>
          </a:xfrm>
          <a:prstGeom prst="rect">
            <a:avLst/>
          </a:prstGeom>
        </p:spPr>
      </p:pic>
      <p:pic>
        <p:nvPicPr>
          <p:cNvPr id="4" name="Content Placeholder 3" descr="A screen shot of a computer code&#10;&#10;AI-generated content may be incorrect.">
            <a:extLst>
              <a:ext uri="{FF2B5EF4-FFF2-40B4-BE49-F238E27FC236}">
                <a16:creationId xmlns:a16="http://schemas.microsoft.com/office/drawing/2014/main" id="{A3DD81C4-9F92-42BA-9F7B-842489FDBD37}"/>
              </a:ext>
            </a:extLst>
          </p:cNvPr>
          <p:cNvPicPr>
            <a:picLocks noGrp="1" noChangeAspect="1"/>
          </p:cNvPicPr>
          <p:nvPr>
            <p:ph idx="1"/>
          </p:nvPr>
        </p:nvPicPr>
        <p:blipFill>
          <a:blip r:embed="rId3"/>
          <a:stretch>
            <a:fillRect/>
          </a:stretch>
        </p:blipFill>
        <p:spPr>
          <a:xfrm>
            <a:off x="6254496" y="1432567"/>
            <a:ext cx="5614416" cy="1670289"/>
          </a:xfrm>
          <a:prstGeom prst="rect">
            <a:avLst/>
          </a:prstGeom>
        </p:spPr>
      </p:pic>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5594358"/>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7960402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390B72-9F04-9785-7617-D422D9F87D0B}"/>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Orders Views -&gt; Create.cshtml</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E6C82059-557B-DB19-523C-4A6B19452BD2}"/>
              </a:ext>
            </a:extLst>
          </p:cNvPr>
          <p:cNvPicPr>
            <a:picLocks noGrp="1" noChangeAspect="1"/>
          </p:cNvPicPr>
          <p:nvPr>
            <p:ph idx="1"/>
          </p:nvPr>
        </p:nvPicPr>
        <p:blipFill>
          <a:blip r:embed="rId2"/>
          <a:stretch>
            <a:fillRect/>
          </a:stretch>
        </p:blipFill>
        <p:spPr>
          <a:xfrm>
            <a:off x="4654296" y="1525368"/>
            <a:ext cx="7214616" cy="3779831"/>
          </a:xfrm>
          <a:prstGeom prst="rect">
            <a:avLst/>
          </a:prstGeom>
        </p:spPr>
      </p:pic>
    </p:spTree>
    <p:extLst>
      <p:ext uri="{BB962C8B-B14F-4D97-AF65-F5344CB8AC3E}">
        <p14:creationId xmlns:p14="http://schemas.microsoft.com/office/powerpoint/2010/main" val="167595310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F68783-BA4F-D9DA-2069-11D952FF221A}"/>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Delete all inside and replace</a:t>
            </a:r>
          </a:p>
        </p:txBody>
      </p:sp>
      <p:sp>
        <p:nvSpPr>
          <p:cNvPr id="14"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descr="A screenshot of a computer program&#10;&#10;AI-generated content may be incorrect.">
            <a:extLst>
              <a:ext uri="{FF2B5EF4-FFF2-40B4-BE49-F238E27FC236}">
                <a16:creationId xmlns:a16="http://schemas.microsoft.com/office/drawing/2014/main" id="{E0673B5A-AC2A-1C1C-D5E3-29F9C17310E6}"/>
              </a:ext>
            </a:extLst>
          </p:cNvPr>
          <p:cNvPicPr>
            <a:picLocks noGrp="1" noChangeAspect="1"/>
          </p:cNvPicPr>
          <p:nvPr>
            <p:ph idx="1"/>
          </p:nvPr>
        </p:nvPicPr>
        <p:blipFill>
          <a:blip r:embed="rId2"/>
          <a:stretch>
            <a:fillRect/>
          </a:stretch>
        </p:blipFill>
        <p:spPr>
          <a:xfrm>
            <a:off x="320040" y="2780934"/>
            <a:ext cx="11548872" cy="3291428"/>
          </a:xfrm>
          <a:prstGeom prst="rect">
            <a:avLst/>
          </a:prstGeom>
        </p:spPr>
      </p:pic>
    </p:spTree>
    <p:extLst>
      <p:ext uri="{BB962C8B-B14F-4D97-AF65-F5344CB8AC3E}">
        <p14:creationId xmlns:p14="http://schemas.microsoft.com/office/powerpoint/2010/main" val="285031839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BCC240-F0B6-0C2B-37F1-3CF9A15704FE}"/>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New Create Form</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75DB00D8-7599-BBDD-7076-51397A430D57}"/>
              </a:ext>
            </a:extLst>
          </p:cNvPr>
          <p:cNvPicPr>
            <a:picLocks noGrp="1" noChangeAspect="1"/>
          </p:cNvPicPr>
          <p:nvPr>
            <p:ph idx="1"/>
          </p:nvPr>
        </p:nvPicPr>
        <p:blipFill>
          <a:blip r:embed="rId2"/>
          <a:stretch>
            <a:fillRect/>
          </a:stretch>
        </p:blipFill>
        <p:spPr>
          <a:xfrm>
            <a:off x="5590470" y="640080"/>
            <a:ext cx="5342267" cy="5550408"/>
          </a:xfrm>
          <a:prstGeom prst="rect">
            <a:avLst/>
          </a:prstGeom>
        </p:spPr>
      </p:pic>
    </p:spTree>
    <p:extLst>
      <p:ext uri="{BB962C8B-B14F-4D97-AF65-F5344CB8AC3E}">
        <p14:creationId xmlns:p14="http://schemas.microsoft.com/office/powerpoint/2010/main" val="126746094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097398-DE10-896B-7656-637DFE8C5F14}"/>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100" kern="1200">
                <a:solidFill>
                  <a:schemeClr val="tx1"/>
                </a:solidFill>
                <a:latin typeface="+mj-lt"/>
                <a:ea typeface="+mj-ea"/>
                <a:cs typeface="+mj-cs"/>
              </a:rPr>
              <a:t>JavaScript to add at the bottom</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BA35B35A-CF2A-F2C9-5A17-6CA112036D39}"/>
              </a:ext>
            </a:extLst>
          </p:cNvPr>
          <p:cNvPicPr>
            <a:picLocks noGrp="1" noChangeAspect="1"/>
          </p:cNvPicPr>
          <p:nvPr>
            <p:ph idx="1"/>
          </p:nvPr>
        </p:nvPicPr>
        <p:blipFill>
          <a:blip r:embed="rId2"/>
          <a:stretch>
            <a:fillRect/>
          </a:stretch>
        </p:blipFill>
        <p:spPr>
          <a:xfrm>
            <a:off x="5777797" y="640080"/>
            <a:ext cx="4967613" cy="5550408"/>
          </a:xfrm>
          <a:prstGeom prst="rect">
            <a:avLst/>
          </a:prstGeom>
        </p:spPr>
      </p:pic>
    </p:spTree>
    <p:extLst>
      <p:ext uri="{BB962C8B-B14F-4D97-AF65-F5344CB8AC3E}">
        <p14:creationId xmlns:p14="http://schemas.microsoft.com/office/powerpoint/2010/main" val="236759457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C17E1A-67F5-7AC1-88FA-C63AADAF4FB8}"/>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Should now have a proceed to checkout button</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C485E1FE-6E64-2B57-CBC5-91D9BA015A1E}"/>
              </a:ext>
            </a:extLst>
          </p:cNvPr>
          <p:cNvPicPr>
            <a:picLocks noGrp="1" noChangeAspect="1"/>
          </p:cNvPicPr>
          <p:nvPr>
            <p:ph idx="1"/>
          </p:nvPr>
        </p:nvPicPr>
        <p:blipFill>
          <a:blip r:embed="rId2"/>
          <a:stretch>
            <a:fillRect/>
          </a:stretch>
        </p:blipFill>
        <p:spPr>
          <a:xfrm>
            <a:off x="4654296" y="1575557"/>
            <a:ext cx="7214616" cy="3679453"/>
          </a:xfrm>
          <a:prstGeom prst="rect">
            <a:avLst/>
          </a:prstGeom>
        </p:spPr>
      </p:pic>
    </p:spTree>
    <p:extLst>
      <p:ext uri="{BB962C8B-B14F-4D97-AF65-F5344CB8AC3E}">
        <p14:creationId xmlns:p14="http://schemas.microsoft.com/office/powerpoint/2010/main" val="84671177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8361DEB-881B-EE31-DBFB-5B829D941ACC}"/>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When you click on it, should take you here</a:t>
            </a:r>
          </a:p>
        </p:txBody>
      </p:sp>
      <p:pic>
        <p:nvPicPr>
          <p:cNvPr id="4" name="Content Placeholder 3" descr="A screenshot of a computer&#10;&#10;AI-generated content may be incorrect.">
            <a:extLst>
              <a:ext uri="{FF2B5EF4-FFF2-40B4-BE49-F238E27FC236}">
                <a16:creationId xmlns:a16="http://schemas.microsoft.com/office/drawing/2014/main" id="{74B1AC83-AF89-21E6-CE74-6222D8BCD533}"/>
              </a:ext>
            </a:extLst>
          </p:cNvPr>
          <p:cNvPicPr>
            <a:picLocks noGrp="1" noChangeAspect="1"/>
          </p:cNvPicPr>
          <p:nvPr>
            <p:ph idx="1"/>
          </p:nvPr>
        </p:nvPicPr>
        <p:blipFill>
          <a:blip r:embed="rId2"/>
          <a:stretch>
            <a:fillRect/>
          </a:stretch>
        </p:blipFill>
        <p:spPr>
          <a:xfrm>
            <a:off x="4777316" y="690128"/>
            <a:ext cx="6780700" cy="5475415"/>
          </a:xfrm>
          <a:prstGeom prst="rect">
            <a:avLst/>
          </a:prstGeom>
        </p:spPr>
      </p:pic>
    </p:spTree>
    <p:extLst>
      <p:ext uri="{BB962C8B-B14F-4D97-AF65-F5344CB8AC3E}">
        <p14:creationId xmlns:p14="http://schemas.microsoft.com/office/powerpoint/2010/main" val="37940005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2819C6-9DEA-3E15-3675-5594BC34166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Time to get the Place Order button working</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5597236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087D53-9295-4463-AAE4-D5C626046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E0EC84-E38B-4CE7-7844-E88E423DEA13}"/>
              </a:ext>
            </a:extLst>
          </p:cNvPr>
          <p:cNvSpPr>
            <a:spLocks noGrp="1"/>
          </p:cNvSpPr>
          <p:nvPr>
            <p:ph type="title"/>
          </p:nvPr>
        </p:nvSpPr>
        <p:spPr>
          <a:xfrm>
            <a:off x="638881" y="4501453"/>
            <a:ext cx="10909640" cy="1065836"/>
          </a:xfrm>
        </p:spPr>
        <p:txBody>
          <a:bodyPr vert="horz" lIns="91440" tIns="45720" rIns="91440" bIns="45720" rtlCol="0" anchor="ctr">
            <a:normAutofit/>
          </a:bodyPr>
          <a:lstStyle/>
          <a:p>
            <a:pPr algn="ctr"/>
            <a:r>
              <a:rPr lang="en-US" sz="6600"/>
              <a:t>OrdersControllers Create Post</a:t>
            </a:r>
          </a:p>
        </p:txBody>
      </p:sp>
      <p:pic>
        <p:nvPicPr>
          <p:cNvPr id="5" name="Picture 4" descr="A screenshot of a computer&#10;&#10;AI-generated content may be incorrect.">
            <a:extLst>
              <a:ext uri="{FF2B5EF4-FFF2-40B4-BE49-F238E27FC236}">
                <a16:creationId xmlns:a16="http://schemas.microsoft.com/office/drawing/2014/main" id="{E8AA3784-0276-C3F1-C50D-5D9F742AF1A9}"/>
              </a:ext>
            </a:extLst>
          </p:cNvPr>
          <p:cNvPicPr>
            <a:picLocks noChangeAspect="1"/>
          </p:cNvPicPr>
          <p:nvPr/>
        </p:nvPicPr>
        <p:blipFill>
          <a:blip r:embed="rId2"/>
          <a:stretch>
            <a:fillRect/>
          </a:stretch>
        </p:blipFill>
        <p:spPr>
          <a:xfrm>
            <a:off x="320040" y="1257117"/>
            <a:ext cx="5614416" cy="2021189"/>
          </a:xfrm>
          <a:prstGeom prst="rect">
            <a:avLst/>
          </a:prstGeom>
        </p:spPr>
      </p:pic>
      <p:pic>
        <p:nvPicPr>
          <p:cNvPr id="4" name="Content Placeholder 3" descr="A screenshot of a computer&#10;&#10;AI-generated content may be incorrect.">
            <a:extLst>
              <a:ext uri="{FF2B5EF4-FFF2-40B4-BE49-F238E27FC236}">
                <a16:creationId xmlns:a16="http://schemas.microsoft.com/office/drawing/2014/main" id="{F22B85EE-CD44-CB76-4907-1ED5C984567E}"/>
              </a:ext>
            </a:extLst>
          </p:cNvPr>
          <p:cNvPicPr>
            <a:picLocks noGrp="1" noChangeAspect="1"/>
          </p:cNvPicPr>
          <p:nvPr>
            <p:ph idx="1"/>
          </p:nvPr>
        </p:nvPicPr>
        <p:blipFill>
          <a:blip r:embed="rId3"/>
          <a:stretch>
            <a:fillRect/>
          </a:stretch>
        </p:blipFill>
        <p:spPr>
          <a:xfrm>
            <a:off x="6254496" y="1657144"/>
            <a:ext cx="5614416" cy="1221136"/>
          </a:xfrm>
          <a:prstGeom prst="rect">
            <a:avLst/>
          </a:prstGeom>
        </p:spPr>
      </p:pic>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5594358"/>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74501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D743AE-BF1C-0207-476E-0FF6998D264E}"/>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Delete main method body and change parameters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black background with white text&#10;&#10;AI-generated content may be incorrect.">
            <a:extLst>
              <a:ext uri="{FF2B5EF4-FFF2-40B4-BE49-F238E27FC236}">
                <a16:creationId xmlns:a16="http://schemas.microsoft.com/office/drawing/2014/main" id="{B398AC6B-A785-76FA-EC97-A011D7CA2661}"/>
              </a:ext>
            </a:extLst>
          </p:cNvPr>
          <p:cNvPicPr>
            <a:picLocks noGrp="1" noChangeAspect="1"/>
          </p:cNvPicPr>
          <p:nvPr>
            <p:ph idx="1"/>
          </p:nvPr>
        </p:nvPicPr>
        <p:blipFill>
          <a:blip r:embed="rId2"/>
          <a:stretch>
            <a:fillRect/>
          </a:stretch>
        </p:blipFill>
        <p:spPr>
          <a:xfrm>
            <a:off x="320040" y="3733715"/>
            <a:ext cx="11548872" cy="1385866"/>
          </a:xfrm>
          <a:prstGeom prst="rect">
            <a:avLst/>
          </a:prstGeom>
        </p:spPr>
      </p:pic>
    </p:spTree>
    <p:extLst>
      <p:ext uri="{BB962C8B-B14F-4D97-AF65-F5344CB8AC3E}">
        <p14:creationId xmlns:p14="http://schemas.microsoft.com/office/powerpoint/2010/main" val="163252317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33968A-3904-60C2-A154-BFAA0ACEE92D}"/>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Inside the method first step -&gt; Find currently logged n user and assign values for the order for that user</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2759FA7B-E630-D299-9DA8-835A07A82D4F}"/>
              </a:ext>
            </a:extLst>
          </p:cNvPr>
          <p:cNvPicPr>
            <a:picLocks noChangeAspect="1"/>
          </p:cNvPicPr>
          <p:nvPr/>
        </p:nvPicPr>
        <p:blipFill>
          <a:blip r:embed="rId2"/>
          <a:stretch>
            <a:fillRect/>
          </a:stretch>
        </p:blipFill>
        <p:spPr>
          <a:xfrm>
            <a:off x="1043275" y="2633472"/>
            <a:ext cx="10102402" cy="3586353"/>
          </a:xfrm>
          <a:prstGeom prst="rect">
            <a:avLst/>
          </a:prstGeom>
        </p:spPr>
      </p:pic>
    </p:spTree>
    <p:extLst>
      <p:ext uri="{BB962C8B-B14F-4D97-AF65-F5344CB8AC3E}">
        <p14:creationId xmlns:p14="http://schemas.microsoft.com/office/powerpoint/2010/main" val="303149282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black background with colorful text&#10;&#10;AI-generated content may be incorrect.">
            <a:extLst>
              <a:ext uri="{FF2B5EF4-FFF2-40B4-BE49-F238E27FC236}">
                <a16:creationId xmlns:a16="http://schemas.microsoft.com/office/drawing/2014/main" id="{B6FC7B52-6027-26D0-FFD1-70B1C9E5FD83}"/>
              </a:ext>
            </a:extLst>
          </p:cNvPr>
          <p:cNvPicPr>
            <a:picLocks noChangeAspect="1"/>
          </p:cNvPicPr>
          <p:nvPr/>
        </p:nvPicPr>
        <p:blipFill>
          <a:blip r:embed="rId2"/>
          <a:stretch>
            <a:fillRect/>
          </a:stretch>
        </p:blipFill>
        <p:spPr>
          <a:xfrm>
            <a:off x="1289303" y="1637113"/>
            <a:ext cx="9613397" cy="1177640"/>
          </a:xfrm>
          <a:prstGeom prst="rect">
            <a:avLst/>
          </a:prstGeom>
        </p:spPr>
      </p:pic>
      <p:sp>
        <p:nvSpPr>
          <p:cNvPr id="22" name="Right Triangle 2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FD06A3-203F-9B2F-2EEB-0E6B745908BA}"/>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7400" kern="1200">
                <a:solidFill>
                  <a:schemeClr val="tx1"/>
                </a:solidFill>
                <a:latin typeface="+mj-lt"/>
                <a:ea typeface="+mj-ea"/>
                <a:cs typeface="+mj-cs"/>
              </a:rPr>
              <a:t>Next set the order date</a:t>
            </a:r>
          </a:p>
        </p:txBody>
      </p:sp>
    </p:spTree>
    <p:extLst>
      <p:ext uri="{BB962C8B-B14F-4D97-AF65-F5344CB8AC3E}">
        <p14:creationId xmlns:p14="http://schemas.microsoft.com/office/powerpoint/2010/main" val="370419614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CA6B2A58-B8CD-7850-D648-668EA113F6B5}"/>
              </a:ext>
            </a:extLst>
          </p:cNvPr>
          <p:cNvPicPr>
            <a:picLocks noChangeAspect="1"/>
          </p:cNvPicPr>
          <p:nvPr/>
        </p:nvPicPr>
        <p:blipFill>
          <a:blip r:embed="rId2"/>
          <a:stretch>
            <a:fillRect/>
          </a:stretch>
        </p:blipFill>
        <p:spPr>
          <a:xfrm>
            <a:off x="1289303" y="1552996"/>
            <a:ext cx="9613397" cy="1345875"/>
          </a:xfrm>
          <a:prstGeom prst="rect">
            <a:avLst/>
          </a:prstGeom>
        </p:spPr>
      </p:pic>
      <p:sp>
        <p:nvSpPr>
          <p:cNvPr id="20" name="Right Triangle 19">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AD6FCC-4FFC-520D-41DC-F29E94A3531A}"/>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5000" kern="1200">
                <a:solidFill>
                  <a:schemeClr val="tx1"/>
                </a:solidFill>
                <a:latin typeface="+mj-lt"/>
                <a:ea typeface="+mj-ea"/>
                <a:cs typeface="+mj-cs"/>
              </a:rPr>
              <a:t>Next set the order tracking status to pending by default to start with</a:t>
            </a:r>
          </a:p>
        </p:txBody>
      </p:sp>
    </p:spTree>
    <p:extLst>
      <p:ext uri="{BB962C8B-B14F-4D97-AF65-F5344CB8AC3E}">
        <p14:creationId xmlns:p14="http://schemas.microsoft.com/office/powerpoint/2010/main" val="19744892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3000"/>
                <a:satMod val="150000"/>
                <a:shade val="98000"/>
                <a:lumMod val="102000"/>
              </a:schemeClr>
            </a:gs>
            <a:gs pos="50000">
              <a:schemeClr val="bg2">
                <a:tint val="98000"/>
                <a:satMod val="130000"/>
                <a:shade val="90000"/>
                <a:lumMod val="103000"/>
              </a:schemeClr>
            </a:gs>
            <a:gs pos="100000">
              <a:schemeClr val="bg2">
                <a:shade val="63000"/>
                <a:satMod val="120000"/>
              </a:schemeClr>
            </a:gs>
          </a:gsLst>
          <a:lin ang="5400000" scaled="0"/>
        </a:gradFill>
        <a:effectLst/>
      </p:bgPr>
    </p:bg>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AA24DE7-C336-4994-8C52-D9B3F3D0F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311" y="953311"/>
            <a:ext cx="10603149" cy="5263867"/>
          </a:xfrm>
          <a:prstGeom prst="roundRect">
            <a:avLst>
              <a:gd name="adj" fmla="val 1566"/>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F2F718-C5B3-85DE-5CB0-B3629BC0B8EE}"/>
              </a:ext>
            </a:extLst>
          </p:cNvPr>
          <p:cNvSpPr>
            <a:spLocks noGrp="1"/>
          </p:cNvSpPr>
          <p:nvPr>
            <p:ph type="title"/>
          </p:nvPr>
        </p:nvSpPr>
        <p:spPr>
          <a:xfrm>
            <a:off x="640080" y="640080"/>
            <a:ext cx="2752354" cy="2709275"/>
          </a:xfrm>
          <a:prstGeom prst="rect">
            <a:avLst/>
          </a:prstGeom>
          <a:solidFill>
            <a:srgbClr val="425748"/>
          </a:solidFill>
          <a:ln>
            <a:solidFill>
              <a:srgbClr val="425748"/>
            </a:solidFill>
          </a:ln>
        </p:spPr>
        <p:txBody>
          <a:bodyPr vert="horz" lIns="91440" tIns="45720" rIns="91440" bIns="45720" rtlCol="0" anchor="ctr">
            <a:normAutofit/>
          </a:bodyPr>
          <a:lstStyle/>
          <a:p>
            <a:pPr algn="ctr"/>
            <a:r>
              <a:rPr lang="en-US" sz="2800" kern="1200">
                <a:solidFill>
                  <a:srgbClr val="FFFFFF"/>
                </a:solidFill>
                <a:latin typeface="+mj-lt"/>
                <a:ea typeface="+mj-ea"/>
                <a:cs typeface="+mj-cs"/>
              </a:rPr>
              <a:t>Next finding all items in the basket</a:t>
            </a:r>
          </a:p>
        </p:txBody>
      </p:sp>
      <p:pic>
        <p:nvPicPr>
          <p:cNvPr id="4" name="Content Placeholder 3" descr="A screen shot of a computer program&#10;&#10;AI-generated content may be incorrect.">
            <a:extLst>
              <a:ext uri="{FF2B5EF4-FFF2-40B4-BE49-F238E27FC236}">
                <a16:creationId xmlns:a16="http://schemas.microsoft.com/office/drawing/2014/main" id="{6FBBDD19-EBA9-ACA5-ABDE-E9A75BF288CF}"/>
              </a:ext>
            </a:extLst>
          </p:cNvPr>
          <p:cNvPicPr>
            <a:picLocks noGrp="1" noChangeAspect="1"/>
          </p:cNvPicPr>
          <p:nvPr>
            <p:ph idx="1"/>
          </p:nvPr>
        </p:nvPicPr>
        <p:blipFill>
          <a:blip r:embed="rId2"/>
          <a:stretch>
            <a:fillRect/>
          </a:stretch>
        </p:blipFill>
        <p:spPr>
          <a:xfrm>
            <a:off x="4110665" y="1850169"/>
            <a:ext cx="6804078" cy="3470079"/>
          </a:xfrm>
          <a:prstGeom prst="rect">
            <a:avLst/>
          </a:prstGeom>
        </p:spPr>
      </p:pic>
    </p:spTree>
    <p:extLst>
      <p:ext uri="{BB962C8B-B14F-4D97-AF65-F5344CB8AC3E}">
        <p14:creationId xmlns:p14="http://schemas.microsoft.com/office/powerpoint/2010/main" val="120068491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207335-314F-8F18-EC79-9115CE89B0D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a:solidFill>
                  <a:schemeClr val="tx1"/>
                </a:solidFill>
                <a:latin typeface="+mj-lt"/>
                <a:ea typeface="+mj-ea"/>
                <a:cs typeface="+mj-cs"/>
              </a:rPr>
              <a:t>Subtotal Calculator section next</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9F28696D-AED9-FDB2-EA1F-D30235F4BCBF}"/>
              </a:ext>
            </a:extLst>
          </p:cNvPr>
          <p:cNvPicPr>
            <a:picLocks noGrp="1" noChangeAspect="1"/>
          </p:cNvPicPr>
          <p:nvPr>
            <p:ph idx="1"/>
          </p:nvPr>
        </p:nvPicPr>
        <p:blipFill>
          <a:blip r:embed="rId2"/>
          <a:stretch>
            <a:fillRect/>
          </a:stretch>
        </p:blipFill>
        <p:spPr>
          <a:xfrm>
            <a:off x="320040" y="3315070"/>
            <a:ext cx="11548872" cy="2223156"/>
          </a:xfrm>
          <a:prstGeom prst="rect">
            <a:avLst/>
          </a:prstGeom>
        </p:spPr>
      </p:pic>
    </p:spTree>
    <p:extLst>
      <p:ext uri="{BB962C8B-B14F-4D97-AF65-F5344CB8AC3E}">
        <p14:creationId xmlns:p14="http://schemas.microsoft.com/office/powerpoint/2010/main" val="338398033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82DCDE-86DA-DB22-EC44-297AA2A0095C}"/>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Discount Calculator</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code&#10;&#10;AI-generated content may be incorrect.">
            <a:extLst>
              <a:ext uri="{FF2B5EF4-FFF2-40B4-BE49-F238E27FC236}">
                <a16:creationId xmlns:a16="http://schemas.microsoft.com/office/drawing/2014/main" id="{8D0AB140-8B47-62E5-F86A-24233CA12458}"/>
              </a:ext>
            </a:extLst>
          </p:cNvPr>
          <p:cNvPicPr>
            <a:picLocks noGrp="1" noChangeAspect="1"/>
          </p:cNvPicPr>
          <p:nvPr>
            <p:ph idx="1"/>
          </p:nvPr>
        </p:nvPicPr>
        <p:blipFill>
          <a:blip r:embed="rId2"/>
          <a:stretch>
            <a:fillRect/>
          </a:stretch>
        </p:blipFill>
        <p:spPr>
          <a:xfrm>
            <a:off x="896864" y="2633472"/>
            <a:ext cx="10395223" cy="3586353"/>
          </a:xfrm>
          <a:prstGeom prst="rect">
            <a:avLst/>
          </a:prstGeom>
        </p:spPr>
      </p:pic>
    </p:spTree>
    <p:extLst>
      <p:ext uri="{BB962C8B-B14F-4D97-AF65-F5344CB8AC3E}">
        <p14:creationId xmlns:p14="http://schemas.microsoft.com/office/powerpoint/2010/main" val="290523123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E5C57E-E31C-D095-C127-6E2A374ABBBD}"/>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5600" kern="1200">
                <a:solidFill>
                  <a:schemeClr val="tx1"/>
                </a:solidFill>
                <a:latin typeface="+mj-lt"/>
                <a:ea typeface="+mj-ea"/>
                <a:cs typeface="+mj-cs"/>
              </a:rPr>
              <a:t>Handling Delivery or Collections</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61BC4820-2A85-A04A-7680-DB6609BF1802}"/>
              </a:ext>
            </a:extLst>
          </p:cNvPr>
          <p:cNvPicPr>
            <a:picLocks noGrp="1" noChangeAspect="1"/>
          </p:cNvPicPr>
          <p:nvPr>
            <p:ph idx="1"/>
          </p:nvPr>
        </p:nvPicPr>
        <p:blipFill>
          <a:blip r:embed="rId2"/>
          <a:stretch>
            <a:fillRect/>
          </a:stretch>
        </p:blipFill>
        <p:spPr>
          <a:xfrm>
            <a:off x="4654296" y="818022"/>
            <a:ext cx="7214616" cy="5194523"/>
          </a:xfrm>
          <a:prstGeom prst="rect">
            <a:avLst/>
          </a:prstGeom>
        </p:spPr>
      </p:pic>
    </p:spTree>
    <p:extLst>
      <p:ext uri="{BB962C8B-B14F-4D97-AF65-F5344CB8AC3E}">
        <p14:creationId xmlns:p14="http://schemas.microsoft.com/office/powerpoint/2010/main" val="92732497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8D1A58D-ED7F-65FC-24B4-B4BCFC7BA109}"/>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a:solidFill>
                  <a:schemeClr val="tx1"/>
                </a:solidFill>
                <a:latin typeface="+mj-lt"/>
                <a:ea typeface="+mj-ea"/>
                <a:cs typeface="+mj-cs"/>
              </a:rPr>
              <a:t>Error Check</a:t>
            </a:r>
          </a:p>
        </p:txBody>
      </p:sp>
      <p:pic>
        <p:nvPicPr>
          <p:cNvPr id="4" name="Content Placeholder 3" descr="A screen shot of a computer code&#10;&#10;AI-generated content may be incorrect.">
            <a:extLst>
              <a:ext uri="{FF2B5EF4-FFF2-40B4-BE49-F238E27FC236}">
                <a16:creationId xmlns:a16="http://schemas.microsoft.com/office/drawing/2014/main" id="{B69ECE41-FB8D-8EF6-B37C-49CDAB41B865}"/>
              </a:ext>
            </a:extLst>
          </p:cNvPr>
          <p:cNvPicPr>
            <a:picLocks noGrp="1" noChangeAspect="1"/>
          </p:cNvPicPr>
          <p:nvPr>
            <p:ph idx="1"/>
          </p:nvPr>
        </p:nvPicPr>
        <p:blipFill>
          <a:blip r:embed="rId2"/>
          <a:stretch>
            <a:fillRect/>
          </a:stretch>
        </p:blipFill>
        <p:spPr>
          <a:xfrm>
            <a:off x="723900" y="2666121"/>
            <a:ext cx="10744200" cy="3324320"/>
          </a:xfrm>
          <a:prstGeom prst="rect">
            <a:avLst/>
          </a:prstGeom>
        </p:spPr>
      </p:pic>
    </p:spTree>
    <p:extLst>
      <p:ext uri="{BB962C8B-B14F-4D97-AF65-F5344CB8AC3E}">
        <p14:creationId xmlns:p14="http://schemas.microsoft.com/office/powerpoint/2010/main" val="22811682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8AD5F6-7B6A-F445-17CB-62DEF3D1126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Making the order and updating stock</a:t>
            </a:r>
          </a:p>
        </p:txBody>
      </p:sp>
      <p:pic>
        <p:nvPicPr>
          <p:cNvPr id="7" name="Content Placeholder 6" descr="A screen shot of a computer program&#10;&#10;AI-generated content may be incorrect.">
            <a:extLst>
              <a:ext uri="{FF2B5EF4-FFF2-40B4-BE49-F238E27FC236}">
                <a16:creationId xmlns:a16="http://schemas.microsoft.com/office/drawing/2014/main" id="{AD3F4885-D3A0-955E-112B-83CDDB94376B}"/>
              </a:ext>
            </a:extLst>
          </p:cNvPr>
          <p:cNvPicPr>
            <a:picLocks noGrp="1" noChangeAspect="1"/>
          </p:cNvPicPr>
          <p:nvPr>
            <p:ph idx="1"/>
          </p:nvPr>
        </p:nvPicPr>
        <p:blipFill>
          <a:blip r:embed="rId2"/>
          <a:stretch>
            <a:fillRect/>
          </a:stretch>
        </p:blipFill>
        <p:spPr>
          <a:xfrm>
            <a:off x="4777316" y="1207157"/>
            <a:ext cx="6780700" cy="4441357"/>
          </a:xfrm>
          <a:prstGeom prst="rect">
            <a:avLst/>
          </a:prstGeom>
        </p:spPr>
      </p:pic>
    </p:spTree>
    <p:extLst>
      <p:ext uri="{BB962C8B-B14F-4D97-AF65-F5344CB8AC3E}">
        <p14:creationId xmlns:p14="http://schemas.microsoft.com/office/powerpoint/2010/main" val="193548791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7C98A213-5994-475E-B327-DC6EC27FB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5B5A57-0665-55E1-4D97-247CE643DCDF}"/>
              </a:ext>
            </a:extLst>
          </p:cNvPr>
          <p:cNvSpPr>
            <a:spLocks noGrp="1"/>
          </p:cNvSpPr>
          <p:nvPr>
            <p:ph type="title"/>
          </p:nvPr>
        </p:nvSpPr>
        <p:spPr>
          <a:xfrm>
            <a:off x="638881" y="670218"/>
            <a:ext cx="10909640" cy="1065836"/>
          </a:xfrm>
        </p:spPr>
        <p:txBody>
          <a:bodyPr vert="horz" lIns="91440" tIns="45720" rIns="91440" bIns="45720" rtlCol="0" anchor="ctr">
            <a:normAutofit/>
          </a:bodyPr>
          <a:lstStyle/>
          <a:p>
            <a:pPr algn="ctr"/>
            <a:r>
              <a:rPr lang="en-US" sz="6600"/>
              <a:t>Full Code (Zoom as required)</a:t>
            </a:r>
          </a:p>
        </p:txBody>
      </p:sp>
      <p:sp>
        <p:nvSpPr>
          <p:cNvPr id="17" name="sketch line">
            <a:extLst>
              <a:ext uri="{FF2B5EF4-FFF2-40B4-BE49-F238E27FC236}">
                <a16:creationId xmlns:a16="http://schemas.microsoft.com/office/drawing/2014/main" id="{4B030A0D-0DAD-4A99-89BB-419527D6A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89376" y="1800088"/>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computer program&#10;&#10;AI-generated content may be incorrect.">
            <a:extLst>
              <a:ext uri="{FF2B5EF4-FFF2-40B4-BE49-F238E27FC236}">
                <a16:creationId xmlns:a16="http://schemas.microsoft.com/office/drawing/2014/main" id="{0820B724-D182-B122-A1FF-5E7F96832049}"/>
              </a:ext>
            </a:extLst>
          </p:cNvPr>
          <p:cNvPicPr>
            <a:picLocks noChangeAspect="1"/>
          </p:cNvPicPr>
          <p:nvPr/>
        </p:nvPicPr>
        <p:blipFill>
          <a:blip r:embed="rId2"/>
          <a:stretch>
            <a:fillRect/>
          </a:stretch>
        </p:blipFill>
        <p:spPr>
          <a:xfrm>
            <a:off x="292608" y="2672249"/>
            <a:ext cx="3758184" cy="3495111"/>
          </a:xfrm>
          <a:prstGeom prst="rect">
            <a:avLst/>
          </a:prstGeom>
        </p:spPr>
      </p:pic>
      <p:pic>
        <p:nvPicPr>
          <p:cNvPr id="10" name="Content Placeholder 9" descr="A screen shot of a computer program&#10;&#10;AI-generated content may be incorrect.">
            <a:extLst>
              <a:ext uri="{FF2B5EF4-FFF2-40B4-BE49-F238E27FC236}">
                <a16:creationId xmlns:a16="http://schemas.microsoft.com/office/drawing/2014/main" id="{BD485F4F-BD54-C4CB-1D66-446C5CF37E19}"/>
              </a:ext>
            </a:extLst>
          </p:cNvPr>
          <p:cNvPicPr>
            <a:picLocks noGrp="1" noChangeAspect="1"/>
          </p:cNvPicPr>
          <p:nvPr>
            <p:ph idx="1"/>
          </p:nvPr>
        </p:nvPicPr>
        <p:blipFill>
          <a:blip r:embed="rId3"/>
          <a:stretch>
            <a:fillRect/>
          </a:stretch>
        </p:blipFill>
        <p:spPr>
          <a:xfrm>
            <a:off x="4216908" y="3118533"/>
            <a:ext cx="3758184" cy="260254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AB0A4C7C-B3B8-50AE-B8EE-4888C18C4C4B}"/>
              </a:ext>
            </a:extLst>
          </p:cNvPr>
          <p:cNvPicPr>
            <a:picLocks noChangeAspect="1"/>
          </p:cNvPicPr>
          <p:nvPr/>
        </p:nvPicPr>
        <p:blipFill>
          <a:blip r:embed="rId4"/>
          <a:stretch>
            <a:fillRect/>
          </a:stretch>
        </p:blipFill>
        <p:spPr>
          <a:xfrm>
            <a:off x="8141208" y="3188999"/>
            <a:ext cx="3758184" cy="2461610"/>
          </a:xfrm>
          <a:prstGeom prst="rect">
            <a:avLst/>
          </a:prstGeom>
        </p:spPr>
      </p:pic>
    </p:spTree>
    <p:extLst>
      <p:ext uri="{BB962C8B-B14F-4D97-AF65-F5344CB8AC3E}">
        <p14:creationId xmlns:p14="http://schemas.microsoft.com/office/powerpoint/2010/main" val="251316726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9523B84-F3A3-0C90-0760-2957524DD2A0}"/>
              </a:ext>
            </a:extLst>
          </p:cNvPr>
          <p:cNvSpPr>
            <a:spLocks noGrp="1"/>
          </p:cNvSpPr>
          <p:nvPr>
            <p:ph type="title"/>
          </p:nvPr>
        </p:nvSpPr>
        <p:spPr>
          <a:xfrm>
            <a:off x="638881" y="457201"/>
            <a:ext cx="10909640" cy="1832654"/>
          </a:xfrm>
        </p:spPr>
        <p:txBody>
          <a:bodyPr vert="horz" lIns="91440" tIns="45720" rIns="91440" bIns="45720" rtlCol="0" anchor="b">
            <a:normAutofit/>
          </a:bodyPr>
          <a:lstStyle/>
          <a:p>
            <a:pPr algn="ctr"/>
            <a:r>
              <a:rPr lang="en-US" sz="5100" kern="1200">
                <a:solidFill>
                  <a:schemeClr val="tx1"/>
                </a:solidFill>
                <a:latin typeface="+mj-lt"/>
                <a:ea typeface="+mj-ea"/>
                <a:cs typeface="+mj-cs"/>
              </a:rPr>
              <a:t>Should now be able to checkout -&gt; Can see if it worked by going to order page</a:t>
            </a:r>
          </a:p>
        </p:txBody>
      </p:sp>
      <p:sp>
        <p:nvSpPr>
          <p:cNvPr id="11"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A24BEA4D-0BFA-7CF5-2767-B2058C3EAD11}"/>
              </a:ext>
            </a:extLst>
          </p:cNvPr>
          <p:cNvPicPr>
            <a:picLocks noGrp="1" noChangeAspect="1"/>
          </p:cNvPicPr>
          <p:nvPr>
            <p:ph idx="1"/>
          </p:nvPr>
        </p:nvPicPr>
        <p:blipFill>
          <a:blip r:embed="rId2"/>
          <a:stretch>
            <a:fillRect/>
          </a:stretch>
        </p:blipFill>
        <p:spPr>
          <a:xfrm>
            <a:off x="320040" y="3159843"/>
            <a:ext cx="11548872" cy="3031577"/>
          </a:xfrm>
          <a:prstGeom prst="rect">
            <a:avLst/>
          </a:prstGeom>
        </p:spPr>
      </p:pic>
    </p:spTree>
    <p:extLst>
      <p:ext uri="{BB962C8B-B14F-4D97-AF65-F5344CB8AC3E}">
        <p14:creationId xmlns:p14="http://schemas.microsoft.com/office/powerpoint/2010/main" val="73904183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Freeform: Shape 16">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Freeform: Shape 18">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BF63D34-47C9-BD3F-20AC-099495CD2C1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4500" kern="1200">
                <a:solidFill>
                  <a:schemeClr val="tx1"/>
                </a:solidFill>
                <a:latin typeface="+mj-lt"/>
                <a:ea typeface="+mj-ea"/>
                <a:cs typeface="+mj-cs"/>
              </a:rPr>
              <a:t>Next Feature -&gt; Edit Order Index so it shows orders and then when click on details it shows a breakdown of products in the orders</a:t>
            </a:r>
          </a:p>
        </p:txBody>
      </p:sp>
      <p:sp>
        <p:nvSpPr>
          <p:cNvPr id="21" name="Rectangle 20">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7347846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B288D7-5C39-4D29-A4A6-24F6A87F65EB}"/>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5100" dirty="0"/>
              <a:t>Change Orders-&gt;</a:t>
            </a:r>
            <a:r>
              <a:rPr lang="en-US" sz="5100" dirty="0" err="1"/>
              <a:t>Details.cshtml</a:t>
            </a:r>
            <a:r>
              <a:rPr lang="en-US" sz="5100" dirty="0"/>
              <a:t> page</a:t>
            </a:r>
          </a:p>
        </p:txBody>
      </p:sp>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 program&#10;&#10;AI-generated content may be incorrect.">
            <a:extLst>
              <a:ext uri="{FF2B5EF4-FFF2-40B4-BE49-F238E27FC236}">
                <a16:creationId xmlns:a16="http://schemas.microsoft.com/office/drawing/2014/main" id="{5D61DCC4-18E6-8830-D7C9-24E7654B16C2}"/>
              </a:ext>
            </a:extLst>
          </p:cNvPr>
          <p:cNvPicPr>
            <a:picLocks noChangeAspect="1"/>
          </p:cNvPicPr>
          <p:nvPr/>
        </p:nvPicPr>
        <p:blipFill>
          <a:blip r:embed="rId2"/>
          <a:stretch>
            <a:fillRect/>
          </a:stretch>
        </p:blipFill>
        <p:spPr>
          <a:xfrm>
            <a:off x="1459573" y="2642616"/>
            <a:ext cx="3335350" cy="3605784"/>
          </a:xfrm>
          <a:prstGeom prst="rect">
            <a:avLst/>
          </a:prstGeom>
        </p:spPr>
      </p:pic>
      <p:pic>
        <p:nvPicPr>
          <p:cNvPr id="4" name="Content Placeholder 3" descr="A screenshot of a computer&#10;&#10;AI-generated content may be incorrect.">
            <a:extLst>
              <a:ext uri="{FF2B5EF4-FFF2-40B4-BE49-F238E27FC236}">
                <a16:creationId xmlns:a16="http://schemas.microsoft.com/office/drawing/2014/main" id="{28D6F57C-621A-5CC5-02E5-A90893D14F2D}"/>
              </a:ext>
            </a:extLst>
          </p:cNvPr>
          <p:cNvPicPr>
            <a:picLocks noGrp="1" noChangeAspect="1"/>
          </p:cNvPicPr>
          <p:nvPr>
            <p:ph idx="1"/>
          </p:nvPr>
        </p:nvPicPr>
        <p:blipFill>
          <a:blip r:embed="rId3"/>
          <a:stretch>
            <a:fillRect/>
          </a:stretch>
        </p:blipFill>
        <p:spPr>
          <a:xfrm>
            <a:off x="6254496" y="3617382"/>
            <a:ext cx="5614416" cy="1656252"/>
          </a:xfrm>
          <a:prstGeom prst="rect">
            <a:avLst/>
          </a:prstGeom>
        </p:spPr>
      </p:pic>
    </p:spTree>
    <p:extLst>
      <p:ext uri="{BB962C8B-B14F-4D97-AF65-F5344CB8AC3E}">
        <p14:creationId xmlns:p14="http://schemas.microsoft.com/office/powerpoint/2010/main" val="16668420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A8943C-D5A4-4848-7198-0B8DC1C9580D}"/>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Change Orders Details get Controller Method</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20CDD53B-1908-70A5-DB41-D31069FE8EB2}"/>
              </a:ext>
            </a:extLst>
          </p:cNvPr>
          <p:cNvPicPr>
            <a:picLocks noGrp="1" noChangeAspect="1"/>
          </p:cNvPicPr>
          <p:nvPr>
            <p:ph idx="1"/>
          </p:nvPr>
        </p:nvPicPr>
        <p:blipFill>
          <a:blip r:embed="rId2"/>
          <a:stretch>
            <a:fillRect/>
          </a:stretch>
        </p:blipFill>
        <p:spPr>
          <a:xfrm>
            <a:off x="5228594" y="640080"/>
            <a:ext cx="6066019" cy="5550408"/>
          </a:xfrm>
          <a:prstGeom prst="rect">
            <a:avLst/>
          </a:prstGeom>
        </p:spPr>
      </p:pic>
    </p:spTree>
    <p:extLst>
      <p:ext uri="{BB962C8B-B14F-4D97-AF65-F5344CB8AC3E}">
        <p14:creationId xmlns:p14="http://schemas.microsoft.com/office/powerpoint/2010/main" val="410841210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31293C-D765-31D4-9BC1-693D8FB108B4}"/>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When you click details now </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6ED09CB2-E0F1-70E6-7BB2-9A9C36A52A9F}"/>
              </a:ext>
            </a:extLst>
          </p:cNvPr>
          <p:cNvPicPr>
            <a:picLocks noChangeAspect="1"/>
          </p:cNvPicPr>
          <p:nvPr/>
        </p:nvPicPr>
        <p:blipFill>
          <a:blip r:embed="rId2"/>
          <a:stretch>
            <a:fillRect/>
          </a:stretch>
        </p:blipFill>
        <p:spPr>
          <a:xfrm>
            <a:off x="3093344" y="2633472"/>
            <a:ext cx="6002263" cy="3586353"/>
          </a:xfrm>
          <a:prstGeom prst="rect">
            <a:avLst/>
          </a:prstGeom>
        </p:spPr>
      </p:pic>
    </p:spTree>
    <p:extLst>
      <p:ext uri="{BB962C8B-B14F-4D97-AF65-F5344CB8AC3E}">
        <p14:creationId xmlns:p14="http://schemas.microsoft.com/office/powerpoint/2010/main" val="373503121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D45631-9D0E-831D-9C71-8479B25C21C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User should only see their own order history no one else's</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840635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9F9786-82FF-0004-2A1B-84EB082A47F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a:solidFill>
                  <a:schemeClr val="tx1"/>
                </a:solidFill>
                <a:latin typeface="+mj-lt"/>
                <a:ea typeface="+mj-ea"/>
                <a:cs typeface="+mj-cs"/>
              </a:rPr>
              <a:t>OrdersControllers -&gt; IndexMethod</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EB863A21-4E46-1CCB-D01A-A6C70084DA81}"/>
              </a:ext>
            </a:extLst>
          </p:cNvPr>
          <p:cNvPicPr>
            <a:picLocks noGrp="1" noChangeAspect="1"/>
          </p:cNvPicPr>
          <p:nvPr>
            <p:ph idx="1"/>
          </p:nvPr>
        </p:nvPicPr>
        <p:blipFill>
          <a:blip r:embed="rId2"/>
          <a:stretch>
            <a:fillRect/>
          </a:stretch>
        </p:blipFill>
        <p:spPr>
          <a:xfrm>
            <a:off x="320040" y="2968604"/>
            <a:ext cx="11548872" cy="2916089"/>
          </a:xfrm>
          <a:prstGeom prst="rect">
            <a:avLst/>
          </a:prstGeom>
        </p:spPr>
      </p:pic>
    </p:spTree>
    <p:extLst>
      <p:ext uri="{BB962C8B-B14F-4D97-AF65-F5344CB8AC3E}">
        <p14:creationId xmlns:p14="http://schemas.microsoft.com/office/powerpoint/2010/main" val="80353617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286811A-8A79-C2EB-1F51-C7C434F1687A}"/>
              </a:ext>
            </a:extLst>
          </p:cNvPr>
          <p:cNvSpPr>
            <a:spLocks noGrp="1"/>
          </p:cNvSpPr>
          <p:nvPr>
            <p:ph type="title"/>
          </p:nvPr>
        </p:nvSpPr>
        <p:spPr>
          <a:xfrm>
            <a:off x="2103121" y="310343"/>
            <a:ext cx="7985759" cy="868823"/>
          </a:xfrm>
        </p:spPr>
        <p:txBody>
          <a:bodyPr vert="horz" lIns="91440" tIns="45720" rIns="91440" bIns="45720" rtlCol="0" anchor="ctr">
            <a:normAutofit/>
          </a:bodyPr>
          <a:lstStyle/>
          <a:p>
            <a:pPr algn="ctr"/>
            <a:r>
              <a:rPr lang="en-US" sz="4000" kern="1200">
                <a:solidFill>
                  <a:schemeClr val="tx1"/>
                </a:solidFill>
                <a:latin typeface="+mj-lt"/>
                <a:ea typeface="+mj-ea"/>
                <a:cs typeface="+mj-cs"/>
              </a:rPr>
              <a:t>OrdersControllers -&gt; Index Method</a:t>
            </a:r>
          </a:p>
        </p:txBody>
      </p:sp>
      <p:sp>
        <p:nvSpPr>
          <p:cNvPr id="13" name="Rectangle: Rounded Corners 12">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computer screen shot of a code&#10;&#10;AI-generated content may be incorrect.">
            <a:extLst>
              <a:ext uri="{FF2B5EF4-FFF2-40B4-BE49-F238E27FC236}">
                <a16:creationId xmlns:a16="http://schemas.microsoft.com/office/drawing/2014/main" id="{4AA6E70A-7DAA-430B-31B8-C86819A7DDE1}"/>
              </a:ext>
            </a:extLst>
          </p:cNvPr>
          <p:cNvPicPr>
            <a:picLocks noGrp="1" noChangeAspect="1"/>
          </p:cNvPicPr>
          <p:nvPr>
            <p:ph idx="1"/>
          </p:nvPr>
        </p:nvPicPr>
        <p:blipFill>
          <a:blip r:embed="rId2"/>
          <a:stretch>
            <a:fillRect/>
          </a:stretch>
        </p:blipFill>
        <p:spPr>
          <a:xfrm>
            <a:off x="385572" y="2845790"/>
            <a:ext cx="11420856" cy="2683899"/>
          </a:xfrm>
          <a:prstGeom prst="rect">
            <a:avLst/>
          </a:prstGeom>
        </p:spPr>
      </p:pic>
    </p:spTree>
    <p:extLst>
      <p:ext uri="{BB962C8B-B14F-4D97-AF65-F5344CB8AC3E}">
        <p14:creationId xmlns:p14="http://schemas.microsoft.com/office/powerpoint/2010/main" val="22348314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9CCE41-A325-A902-6252-17F362153A8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Should now only see the current users order history</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807202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50F45D-9481-579A-CC01-369D0F7F9A46}"/>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5600" kern="1200">
                <a:solidFill>
                  <a:schemeClr val="tx1"/>
                </a:solidFill>
                <a:latin typeface="+mj-lt"/>
                <a:ea typeface="+mj-ea"/>
                <a:cs typeface="+mj-cs"/>
              </a:rPr>
              <a:t>However Admin users should see all orders and then Suppliers should see all of their orders</a:t>
            </a:r>
          </a:p>
        </p:txBody>
      </p:sp>
      <p:sp>
        <p:nvSpPr>
          <p:cNvPr id="21" name="Rectangle 20">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onnsiteX0" fmla="*/ 0 w 3647661"/>
              <a:gd name="connsiteY0" fmla="*/ 0 h 4436126"/>
              <a:gd name="connsiteX1" fmla="*/ 498514 w 3647661"/>
              <a:gd name="connsiteY1" fmla="*/ 0 h 4436126"/>
              <a:gd name="connsiteX2" fmla="*/ 1069981 w 3647661"/>
              <a:gd name="connsiteY2" fmla="*/ 0 h 4436126"/>
              <a:gd name="connsiteX3" fmla="*/ 1714401 w 3647661"/>
              <a:gd name="connsiteY3" fmla="*/ 0 h 4436126"/>
              <a:gd name="connsiteX4" fmla="*/ 2285868 w 3647661"/>
              <a:gd name="connsiteY4" fmla="*/ 0 h 4436126"/>
              <a:gd name="connsiteX5" fmla="*/ 2784381 w 3647661"/>
              <a:gd name="connsiteY5" fmla="*/ 0 h 4436126"/>
              <a:gd name="connsiteX6" fmla="*/ 3647661 w 3647661"/>
              <a:gd name="connsiteY6" fmla="*/ 0 h 4436126"/>
              <a:gd name="connsiteX7" fmla="*/ 3647661 w 3647661"/>
              <a:gd name="connsiteY7" fmla="*/ 633732 h 4436126"/>
              <a:gd name="connsiteX8" fmla="*/ 3647661 w 3647661"/>
              <a:gd name="connsiteY8" fmla="*/ 1267465 h 4436126"/>
              <a:gd name="connsiteX9" fmla="*/ 3647661 w 3647661"/>
              <a:gd name="connsiteY9" fmla="*/ 1768113 h 4436126"/>
              <a:gd name="connsiteX10" fmla="*/ 3647661 w 3647661"/>
              <a:gd name="connsiteY10" fmla="*/ 2446207 h 4436126"/>
              <a:gd name="connsiteX11" fmla="*/ 3647661 w 3647661"/>
              <a:gd name="connsiteY11" fmla="*/ 2946855 h 4436126"/>
              <a:gd name="connsiteX12" fmla="*/ 3647661 w 3647661"/>
              <a:gd name="connsiteY12" fmla="*/ 3580587 h 4436126"/>
              <a:gd name="connsiteX13" fmla="*/ 3647661 w 3647661"/>
              <a:gd name="connsiteY13" fmla="*/ 4436126 h 4436126"/>
              <a:gd name="connsiteX14" fmla="*/ 3039718 w 3647661"/>
              <a:gd name="connsiteY14" fmla="*/ 4436126 h 4436126"/>
              <a:gd name="connsiteX15" fmla="*/ 2431774 w 3647661"/>
              <a:gd name="connsiteY15" fmla="*/ 4436126 h 4436126"/>
              <a:gd name="connsiteX16" fmla="*/ 1823831 w 3647661"/>
              <a:gd name="connsiteY16" fmla="*/ 4436126 h 4436126"/>
              <a:gd name="connsiteX17" fmla="*/ 1288840 w 3647661"/>
              <a:gd name="connsiteY17" fmla="*/ 4436126 h 4436126"/>
              <a:gd name="connsiteX18" fmla="*/ 607943 w 3647661"/>
              <a:gd name="connsiteY18" fmla="*/ 4436126 h 4436126"/>
              <a:gd name="connsiteX19" fmla="*/ 0 w 3647661"/>
              <a:gd name="connsiteY19" fmla="*/ 4436126 h 4436126"/>
              <a:gd name="connsiteX20" fmla="*/ 0 w 3647661"/>
              <a:gd name="connsiteY20" fmla="*/ 3758032 h 4436126"/>
              <a:gd name="connsiteX21" fmla="*/ 0 w 3647661"/>
              <a:gd name="connsiteY21" fmla="*/ 3035578 h 4436126"/>
              <a:gd name="connsiteX22" fmla="*/ 0 w 3647661"/>
              <a:gd name="connsiteY22" fmla="*/ 2401845 h 4436126"/>
              <a:gd name="connsiteX23" fmla="*/ 0 w 3647661"/>
              <a:gd name="connsiteY23" fmla="*/ 1768113 h 4436126"/>
              <a:gd name="connsiteX24" fmla="*/ 0 w 3647661"/>
              <a:gd name="connsiteY24" fmla="*/ 1178742 h 4436126"/>
              <a:gd name="connsiteX25" fmla="*/ 0 w 3647661"/>
              <a:gd name="connsiteY25" fmla="*/ 589371 h 4436126"/>
              <a:gd name="connsiteX26" fmla="*/ 0 w 3647661"/>
              <a:gd name="connsiteY26" fmla="*/ 0 h 4436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onnsiteX0" fmla="*/ 0 w 6281928"/>
              <a:gd name="connsiteY0" fmla="*/ 0 h 18288"/>
              <a:gd name="connsiteX1" fmla="*/ 572353 w 6281928"/>
              <a:gd name="connsiteY1" fmla="*/ 0 h 18288"/>
              <a:gd name="connsiteX2" fmla="*/ 1207526 w 6281928"/>
              <a:gd name="connsiteY2" fmla="*/ 0 h 18288"/>
              <a:gd name="connsiteX3" fmla="*/ 1779880 w 6281928"/>
              <a:gd name="connsiteY3" fmla="*/ 0 h 18288"/>
              <a:gd name="connsiteX4" fmla="*/ 2540691 w 6281928"/>
              <a:gd name="connsiteY4" fmla="*/ 0 h 18288"/>
              <a:gd name="connsiteX5" fmla="*/ 3238683 w 6281928"/>
              <a:gd name="connsiteY5" fmla="*/ 0 h 18288"/>
              <a:gd name="connsiteX6" fmla="*/ 3936675 w 6281928"/>
              <a:gd name="connsiteY6" fmla="*/ 0 h 18288"/>
              <a:gd name="connsiteX7" fmla="*/ 4760305 w 6281928"/>
              <a:gd name="connsiteY7" fmla="*/ 0 h 18288"/>
              <a:gd name="connsiteX8" fmla="*/ 5521117 w 6281928"/>
              <a:gd name="connsiteY8" fmla="*/ 0 h 18288"/>
              <a:gd name="connsiteX9" fmla="*/ 6281928 w 6281928"/>
              <a:gd name="connsiteY9" fmla="*/ 0 h 18288"/>
              <a:gd name="connsiteX10" fmla="*/ 6281928 w 6281928"/>
              <a:gd name="connsiteY10" fmla="*/ 18288 h 18288"/>
              <a:gd name="connsiteX11" fmla="*/ 5772394 w 6281928"/>
              <a:gd name="connsiteY11" fmla="*/ 18288 h 18288"/>
              <a:gd name="connsiteX12" fmla="*/ 5200040 w 6281928"/>
              <a:gd name="connsiteY12" fmla="*/ 18288 h 18288"/>
              <a:gd name="connsiteX13" fmla="*/ 4439229 w 6281928"/>
              <a:gd name="connsiteY13" fmla="*/ 18288 h 18288"/>
              <a:gd name="connsiteX14" fmla="*/ 3615599 w 6281928"/>
              <a:gd name="connsiteY14" fmla="*/ 18288 h 18288"/>
              <a:gd name="connsiteX15" fmla="*/ 2980426 w 6281928"/>
              <a:gd name="connsiteY15" fmla="*/ 18288 h 18288"/>
              <a:gd name="connsiteX16" fmla="*/ 2156795 w 6281928"/>
              <a:gd name="connsiteY16" fmla="*/ 18288 h 18288"/>
              <a:gd name="connsiteX17" fmla="*/ 1584442 w 6281928"/>
              <a:gd name="connsiteY17" fmla="*/ 18288 h 18288"/>
              <a:gd name="connsiteX18" fmla="*/ 1074908 w 6281928"/>
              <a:gd name="connsiteY18" fmla="*/ 18288 h 18288"/>
              <a:gd name="connsiteX19" fmla="*/ 0 w 6281928"/>
              <a:gd name="connsiteY19" fmla="*/ 18288 h 18288"/>
              <a:gd name="connsiteX20" fmla="*/ 0 w 6281928"/>
              <a:gd name="connsiteY2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607011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B64947-41A6-5D49-1772-5901EE726B18}"/>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600" kern="1200">
                <a:solidFill>
                  <a:schemeClr val="tx1"/>
                </a:solidFill>
                <a:latin typeface="+mj-lt"/>
                <a:ea typeface="+mj-ea"/>
                <a:cs typeface="+mj-cs"/>
              </a:rPr>
              <a:t>Transform the OrdersController Index Method</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2FE111F0-9147-B24C-FDE4-2D8721A12AC6}"/>
              </a:ext>
            </a:extLst>
          </p:cNvPr>
          <p:cNvPicPr>
            <a:picLocks noGrp="1" noChangeAspect="1"/>
          </p:cNvPicPr>
          <p:nvPr>
            <p:ph idx="1"/>
          </p:nvPr>
        </p:nvPicPr>
        <p:blipFill>
          <a:blip r:embed="rId2"/>
          <a:stretch>
            <a:fillRect/>
          </a:stretch>
        </p:blipFill>
        <p:spPr>
          <a:xfrm>
            <a:off x="320040" y="2780934"/>
            <a:ext cx="11548872" cy="3291428"/>
          </a:xfrm>
          <a:prstGeom prst="rect">
            <a:avLst/>
          </a:prstGeom>
        </p:spPr>
      </p:pic>
    </p:spTree>
    <p:extLst>
      <p:ext uri="{BB962C8B-B14F-4D97-AF65-F5344CB8AC3E}">
        <p14:creationId xmlns:p14="http://schemas.microsoft.com/office/powerpoint/2010/main" val="187026872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1F3024-20EE-3149-62F2-F5A589AE6A99}"/>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Now have a much better viewing order system</a:t>
            </a:r>
          </a:p>
        </p:txBody>
      </p:sp>
      <p:sp>
        <p:nvSpPr>
          <p:cNvPr id="9" name="Rectangle 8">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onnsiteX0" fmla="*/ 0 w 3647661"/>
              <a:gd name="connsiteY0" fmla="*/ 0 h 4436126"/>
              <a:gd name="connsiteX1" fmla="*/ 498514 w 3647661"/>
              <a:gd name="connsiteY1" fmla="*/ 0 h 4436126"/>
              <a:gd name="connsiteX2" fmla="*/ 1069981 w 3647661"/>
              <a:gd name="connsiteY2" fmla="*/ 0 h 4436126"/>
              <a:gd name="connsiteX3" fmla="*/ 1714401 w 3647661"/>
              <a:gd name="connsiteY3" fmla="*/ 0 h 4436126"/>
              <a:gd name="connsiteX4" fmla="*/ 2285868 w 3647661"/>
              <a:gd name="connsiteY4" fmla="*/ 0 h 4436126"/>
              <a:gd name="connsiteX5" fmla="*/ 2784381 w 3647661"/>
              <a:gd name="connsiteY5" fmla="*/ 0 h 4436126"/>
              <a:gd name="connsiteX6" fmla="*/ 3647661 w 3647661"/>
              <a:gd name="connsiteY6" fmla="*/ 0 h 4436126"/>
              <a:gd name="connsiteX7" fmla="*/ 3647661 w 3647661"/>
              <a:gd name="connsiteY7" fmla="*/ 633732 h 4436126"/>
              <a:gd name="connsiteX8" fmla="*/ 3647661 w 3647661"/>
              <a:gd name="connsiteY8" fmla="*/ 1267465 h 4436126"/>
              <a:gd name="connsiteX9" fmla="*/ 3647661 w 3647661"/>
              <a:gd name="connsiteY9" fmla="*/ 1768113 h 4436126"/>
              <a:gd name="connsiteX10" fmla="*/ 3647661 w 3647661"/>
              <a:gd name="connsiteY10" fmla="*/ 2446207 h 4436126"/>
              <a:gd name="connsiteX11" fmla="*/ 3647661 w 3647661"/>
              <a:gd name="connsiteY11" fmla="*/ 2946855 h 4436126"/>
              <a:gd name="connsiteX12" fmla="*/ 3647661 w 3647661"/>
              <a:gd name="connsiteY12" fmla="*/ 3580587 h 4436126"/>
              <a:gd name="connsiteX13" fmla="*/ 3647661 w 3647661"/>
              <a:gd name="connsiteY13" fmla="*/ 4436126 h 4436126"/>
              <a:gd name="connsiteX14" fmla="*/ 3039718 w 3647661"/>
              <a:gd name="connsiteY14" fmla="*/ 4436126 h 4436126"/>
              <a:gd name="connsiteX15" fmla="*/ 2431774 w 3647661"/>
              <a:gd name="connsiteY15" fmla="*/ 4436126 h 4436126"/>
              <a:gd name="connsiteX16" fmla="*/ 1823831 w 3647661"/>
              <a:gd name="connsiteY16" fmla="*/ 4436126 h 4436126"/>
              <a:gd name="connsiteX17" fmla="*/ 1288840 w 3647661"/>
              <a:gd name="connsiteY17" fmla="*/ 4436126 h 4436126"/>
              <a:gd name="connsiteX18" fmla="*/ 607943 w 3647661"/>
              <a:gd name="connsiteY18" fmla="*/ 4436126 h 4436126"/>
              <a:gd name="connsiteX19" fmla="*/ 0 w 3647661"/>
              <a:gd name="connsiteY19" fmla="*/ 4436126 h 4436126"/>
              <a:gd name="connsiteX20" fmla="*/ 0 w 3647661"/>
              <a:gd name="connsiteY20" fmla="*/ 3758032 h 4436126"/>
              <a:gd name="connsiteX21" fmla="*/ 0 w 3647661"/>
              <a:gd name="connsiteY21" fmla="*/ 3035578 h 4436126"/>
              <a:gd name="connsiteX22" fmla="*/ 0 w 3647661"/>
              <a:gd name="connsiteY22" fmla="*/ 2401845 h 4436126"/>
              <a:gd name="connsiteX23" fmla="*/ 0 w 3647661"/>
              <a:gd name="connsiteY23" fmla="*/ 1768113 h 4436126"/>
              <a:gd name="connsiteX24" fmla="*/ 0 w 3647661"/>
              <a:gd name="connsiteY24" fmla="*/ 1178742 h 4436126"/>
              <a:gd name="connsiteX25" fmla="*/ 0 w 3647661"/>
              <a:gd name="connsiteY25" fmla="*/ 589371 h 4436126"/>
              <a:gd name="connsiteX26" fmla="*/ 0 w 3647661"/>
              <a:gd name="connsiteY26" fmla="*/ 0 h 4436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onnsiteX0" fmla="*/ 0 w 6281928"/>
              <a:gd name="connsiteY0" fmla="*/ 0 h 18288"/>
              <a:gd name="connsiteX1" fmla="*/ 572353 w 6281928"/>
              <a:gd name="connsiteY1" fmla="*/ 0 h 18288"/>
              <a:gd name="connsiteX2" fmla="*/ 1207526 w 6281928"/>
              <a:gd name="connsiteY2" fmla="*/ 0 h 18288"/>
              <a:gd name="connsiteX3" fmla="*/ 1779880 w 6281928"/>
              <a:gd name="connsiteY3" fmla="*/ 0 h 18288"/>
              <a:gd name="connsiteX4" fmla="*/ 2540691 w 6281928"/>
              <a:gd name="connsiteY4" fmla="*/ 0 h 18288"/>
              <a:gd name="connsiteX5" fmla="*/ 3238683 w 6281928"/>
              <a:gd name="connsiteY5" fmla="*/ 0 h 18288"/>
              <a:gd name="connsiteX6" fmla="*/ 3936675 w 6281928"/>
              <a:gd name="connsiteY6" fmla="*/ 0 h 18288"/>
              <a:gd name="connsiteX7" fmla="*/ 4760305 w 6281928"/>
              <a:gd name="connsiteY7" fmla="*/ 0 h 18288"/>
              <a:gd name="connsiteX8" fmla="*/ 5521117 w 6281928"/>
              <a:gd name="connsiteY8" fmla="*/ 0 h 18288"/>
              <a:gd name="connsiteX9" fmla="*/ 6281928 w 6281928"/>
              <a:gd name="connsiteY9" fmla="*/ 0 h 18288"/>
              <a:gd name="connsiteX10" fmla="*/ 6281928 w 6281928"/>
              <a:gd name="connsiteY10" fmla="*/ 18288 h 18288"/>
              <a:gd name="connsiteX11" fmla="*/ 5772394 w 6281928"/>
              <a:gd name="connsiteY11" fmla="*/ 18288 h 18288"/>
              <a:gd name="connsiteX12" fmla="*/ 5200040 w 6281928"/>
              <a:gd name="connsiteY12" fmla="*/ 18288 h 18288"/>
              <a:gd name="connsiteX13" fmla="*/ 4439229 w 6281928"/>
              <a:gd name="connsiteY13" fmla="*/ 18288 h 18288"/>
              <a:gd name="connsiteX14" fmla="*/ 3615599 w 6281928"/>
              <a:gd name="connsiteY14" fmla="*/ 18288 h 18288"/>
              <a:gd name="connsiteX15" fmla="*/ 2980426 w 6281928"/>
              <a:gd name="connsiteY15" fmla="*/ 18288 h 18288"/>
              <a:gd name="connsiteX16" fmla="*/ 2156795 w 6281928"/>
              <a:gd name="connsiteY16" fmla="*/ 18288 h 18288"/>
              <a:gd name="connsiteX17" fmla="*/ 1584442 w 6281928"/>
              <a:gd name="connsiteY17" fmla="*/ 18288 h 18288"/>
              <a:gd name="connsiteX18" fmla="*/ 1074908 w 6281928"/>
              <a:gd name="connsiteY18" fmla="*/ 18288 h 18288"/>
              <a:gd name="connsiteX19" fmla="*/ 0 w 6281928"/>
              <a:gd name="connsiteY19" fmla="*/ 18288 h 18288"/>
              <a:gd name="connsiteX20" fmla="*/ 0 w 6281928"/>
              <a:gd name="connsiteY2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699979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3CDBA9-4874-FFAE-572D-38868B808248}"/>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Next Core Feature -&gt; Supplier Dashboard</a:t>
            </a:r>
          </a:p>
        </p:txBody>
      </p:sp>
      <p:sp>
        <p:nvSpPr>
          <p:cNvPr id="13" name="Rectangle 12">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onnsiteX0" fmla="*/ 0 w 3647661"/>
              <a:gd name="connsiteY0" fmla="*/ 0 h 4436126"/>
              <a:gd name="connsiteX1" fmla="*/ 498514 w 3647661"/>
              <a:gd name="connsiteY1" fmla="*/ 0 h 4436126"/>
              <a:gd name="connsiteX2" fmla="*/ 1069981 w 3647661"/>
              <a:gd name="connsiteY2" fmla="*/ 0 h 4436126"/>
              <a:gd name="connsiteX3" fmla="*/ 1714401 w 3647661"/>
              <a:gd name="connsiteY3" fmla="*/ 0 h 4436126"/>
              <a:gd name="connsiteX4" fmla="*/ 2285868 w 3647661"/>
              <a:gd name="connsiteY4" fmla="*/ 0 h 4436126"/>
              <a:gd name="connsiteX5" fmla="*/ 2784381 w 3647661"/>
              <a:gd name="connsiteY5" fmla="*/ 0 h 4436126"/>
              <a:gd name="connsiteX6" fmla="*/ 3647661 w 3647661"/>
              <a:gd name="connsiteY6" fmla="*/ 0 h 4436126"/>
              <a:gd name="connsiteX7" fmla="*/ 3647661 w 3647661"/>
              <a:gd name="connsiteY7" fmla="*/ 633732 h 4436126"/>
              <a:gd name="connsiteX8" fmla="*/ 3647661 w 3647661"/>
              <a:gd name="connsiteY8" fmla="*/ 1267465 h 4436126"/>
              <a:gd name="connsiteX9" fmla="*/ 3647661 w 3647661"/>
              <a:gd name="connsiteY9" fmla="*/ 1768113 h 4436126"/>
              <a:gd name="connsiteX10" fmla="*/ 3647661 w 3647661"/>
              <a:gd name="connsiteY10" fmla="*/ 2446207 h 4436126"/>
              <a:gd name="connsiteX11" fmla="*/ 3647661 w 3647661"/>
              <a:gd name="connsiteY11" fmla="*/ 2946855 h 4436126"/>
              <a:gd name="connsiteX12" fmla="*/ 3647661 w 3647661"/>
              <a:gd name="connsiteY12" fmla="*/ 3580587 h 4436126"/>
              <a:gd name="connsiteX13" fmla="*/ 3647661 w 3647661"/>
              <a:gd name="connsiteY13" fmla="*/ 4436126 h 4436126"/>
              <a:gd name="connsiteX14" fmla="*/ 3039718 w 3647661"/>
              <a:gd name="connsiteY14" fmla="*/ 4436126 h 4436126"/>
              <a:gd name="connsiteX15" fmla="*/ 2431774 w 3647661"/>
              <a:gd name="connsiteY15" fmla="*/ 4436126 h 4436126"/>
              <a:gd name="connsiteX16" fmla="*/ 1823831 w 3647661"/>
              <a:gd name="connsiteY16" fmla="*/ 4436126 h 4436126"/>
              <a:gd name="connsiteX17" fmla="*/ 1288840 w 3647661"/>
              <a:gd name="connsiteY17" fmla="*/ 4436126 h 4436126"/>
              <a:gd name="connsiteX18" fmla="*/ 607943 w 3647661"/>
              <a:gd name="connsiteY18" fmla="*/ 4436126 h 4436126"/>
              <a:gd name="connsiteX19" fmla="*/ 0 w 3647661"/>
              <a:gd name="connsiteY19" fmla="*/ 4436126 h 4436126"/>
              <a:gd name="connsiteX20" fmla="*/ 0 w 3647661"/>
              <a:gd name="connsiteY20" fmla="*/ 3758032 h 4436126"/>
              <a:gd name="connsiteX21" fmla="*/ 0 w 3647661"/>
              <a:gd name="connsiteY21" fmla="*/ 3035578 h 4436126"/>
              <a:gd name="connsiteX22" fmla="*/ 0 w 3647661"/>
              <a:gd name="connsiteY22" fmla="*/ 2401845 h 4436126"/>
              <a:gd name="connsiteX23" fmla="*/ 0 w 3647661"/>
              <a:gd name="connsiteY23" fmla="*/ 1768113 h 4436126"/>
              <a:gd name="connsiteX24" fmla="*/ 0 w 3647661"/>
              <a:gd name="connsiteY24" fmla="*/ 1178742 h 4436126"/>
              <a:gd name="connsiteX25" fmla="*/ 0 w 3647661"/>
              <a:gd name="connsiteY25" fmla="*/ 589371 h 4436126"/>
              <a:gd name="connsiteX26" fmla="*/ 0 w 3647661"/>
              <a:gd name="connsiteY26" fmla="*/ 0 h 4436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onnsiteX0" fmla="*/ 0 w 6281928"/>
              <a:gd name="connsiteY0" fmla="*/ 0 h 18288"/>
              <a:gd name="connsiteX1" fmla="*/ 572353 w 6281928"/>
              <a:gd name="connsiteY1" fmla="*/ 0 h 18288"/>
              <a:gd name="connsiteX2" fmla="*/ 1207526 w 6281928"/>
              <a:gd name="connsiteY2" fmla="*/ 0 h 18288"/>
              <a:gd name="connsiteX3" fmla="*/ 1779880 w 6281928"/>
              <a:gd name="connsiteY3" fmla="*/ 0 h 18288"/>
              <a:gd name="connsiteX4" fmla="*/ 2540691 w 6281928"/>
              <a:gd name="connsiteY4" fmla="*/ 0 h 18288"/>
              <a:gd name="connsiteX5" fmla="*/ 3238683 w 6281928"/>
              <a:gd name="connsiteY5" fmla="*/ 0 h 18288"/>
              <a:gd name="connsiteX6" fmla="*/ 3936675 w 6281928"/>
              <a:gd name="connsiteY6" fmla="*/ 0 h 18288"/>
              <a:gd name="connsiteX7" fmla="*/ 4760305 w 6281928"/>
              <a:gd name="connsiteY7" fmla="*/ 0 h 18288"/>
              <a:gd name="connsiteX8" fmla="*/ 5521117 w 6281928"/>
              <a:gd name="connsiteY8" fmla="*/ 0 h 18288"/>
              <a:gd name="connsiteX9" fmla="*/ 6281928 w 6281928"/>
              <a:gd name="connsiteY9" fmla="*/ 0 h 18288"/>
              <a:gd name="connsiteX10" fmla="*/ 6281928 w 6281928"/>
              <a:gd name="connsiteY10" fmla="*/ 18288 h 18288"/>
              <a:gd name="connsiteX11" fmla="*/ 5772394 w 6281928"/>
              <a:gd name="connsiteY11" fmla="*/ 18288 h 18288"/>
              <a:gd name="connsiteX12" fmla="*/ 5200040 w 6281928"/>
              <a:gd name="connsiteY12" fmla="*/ 18288 h 18288"/>
              <a:gd name="connsiteX13" fmla="*/ 4439229 w 6281928"/>
              <a:gd name="connsiteY13" fmla="*/ 18288 h 18288"/>
              <a:gd name="connsiteX14" fmla="*/ 3615599 w 6281928"/>
              <a:gd name="connsiteY14" fmla="*/ 18288 h 18288"/>
              <a:gd name="connsiteX15" fmla="*/ 2980426 w 6281928"/>
              <a:gd name="connsiteY15" fmla="*/ 18288 h 18288"/>
              <a:gd name="connsiteX16" fmla="*/ 2156795 w 6281928"/>
              <a:gd name="connsiteY16" fmla="*/ 18288 h 18288"/>
              <a:gd name="connsiteX17" fmla="*/ 1584442 w 6281928"/>
              <a:gd name="connsiteY17" fmla="*/ 18288 h 18288"/>
              <a:gd name="connsiteX18" fmla="*/ 1074908 w 6281928"/>
              <a:gd name="connsiteY18" fmla="*/ 18288 h 18288"/>
              <a:gd name="connsiteX19" fmla="*/ 0 w 6281928"/>
              <a:gd name="connsiteY19" fmla="*/ 18288 h 18288"/>
              <a:gd name="connsiteX20" fmla="*/ 0 w 6281928"/>
              <a:gd name="connsiteY2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301160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598F44-3CF6-75C0-91E0-D4766147F901}"/>
              </a:ext>
            </a:extLst>
          </p:cNvPr>
          <p:cNvSpPr>
            <a:spLocks noGrp="1"/>
          </p:cNvSpPr>
          <p:nvPr>
            <p:ph type="title"/>
          </p:nvPr>
        </p:nvSpPr>
        <p:spPr>
          <a:xfrm>
            <a:off x="1171074" y="1396686"/>
            <a:ext cx="3240506" cy="4064628"/>
          </a:xfrm>
        </p:spPr>
        <p:txBody>
          <a:bodyPr>
            <a:normAutofit/>
          </a:bodyPr>
          <a:lstStyle/>
          <a:p>
            <a:r>
              <a:rPr lang="en-GB">
                <a:solidFill>
                  <a:srgbClr val="FFFFFF"/>
                </a:solidFill>
              </a:rPr>
              <a:t>Can do this in many ways</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9BB03C82-0D83-D748-EE75-69530E49E0B2}"/>
              </a:ext>
            </a:extLst>
          </p:cNvPr>
          <p:cNvSpPr>
            <a:spLocks noGrp="1"/>
          </p:cNvSpPr>
          <p:nvPr>
            <p:ph idx="1"/>
          </p:nvPr>
        </p:nvSpPr>
        <p:spPr>
          <a:xfrm>
            <a:off x="5370153" y="2226249"/>
            <a:ext cx="5536397" cy="3935281"/>
          </a:xfrm>
        </p:spPr>
        <p:txBody>
          <a:bodyPr vert="horz" lIns="91440" tIns="45720" rIns="91440" bIns="45720" rtlCol="0" anchor="t">
            <a:normAutofit/>
          </a:bodyPr>
          <a:lstStyle/>
          <a:p>
            <a:r>
              <a:rPr lang="en-GB" dirty="0"/>
              <a:t>Can do it using </a:t>
            </a:r>
            <a:r>
              <a:rPr lang="en-GB" dirty="0" err="1"/>
              <a:t>ViewData</a:t>
            </a:r>
            <a:endParaRPr lang="en-GB"/>
          </a:p>
          <a:p>
            <a:endParaRPr lang="en-GB" dirty="0"/>
          </a:p>
          <a:p>
            <a:r>
              <a:rPr lang="en-GB" dirty="0"/>
              <a:t>Can do it using </a:t>
            </a:r>
            <a:r>
              <a:rPr lang="en-GB" dirty="0" err="1"/>
              <a:t>ViewModels</a:t>
            </a:r>
            <a:endParaRPr lang="en-GB"/>
          </a:p>
          <a:p>
            <a:endParaRPr lang="en-GB" dirty="0"/>
          </a:p>
          <a:p>
            <a:r>
              <a:rPr lang="en-GB" dirty="0"/>
              <a:t>Going to use </a:t>
            </a:r>
            <a:r>
              <a:rPr lang="en-GB" dirty="0" err="1"/>
              <a:t>ViewData</a:t>
            </a:r>
            <a:r>
              <a:rPr lang="en-GB" dirty="0"/>
              <a:t> </a:t>
            </a:r>
          </a:p>
        </p:txBody>
      </p:sp>
    </p:spTree>
    <p:extLst>
      <p:ext uri="{BB962C8B-B14F-4D97-AF65-F5344CB8AC3E}">
        <p14:creationId xmlns:p14="http://schemas.microsoft.com/office/powerpoint/2010/main" val="34604913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3000"/>
                <a:satMod val="150000"/>
                <a:shade val="98000"/>
                <a:lumMod val="102000"/>
              </a:schemeClr>
            </a:gs>
            <a:gs pos="50000">
              <a:schemeClr val="bg2">
                <a:tint val="98000"/>
                <a:satMod val="130000"/>
                <a:shade val="90000"/>
                <a:lumMod val="103000"/>
              </a:schemeClr>
            </a:gs>
            <a:gs pos="100000">
              <a:schemeClr val="bg2">
                <a:shade val="63000"/>
                <a:satMod val="120000"/>
              </a:schemeClr>
            </a:gs>
          </a:gsLst>
          <a:lin ang="5400000" scaled="0"/>
        </a:gradFill>
        <a:effectLst/>
      </p:bgPr>
    </p:bg>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AA24DE7-C336-4994-8C52-D9B3F3D0F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311" y="953311"/>
            <a:ext cx="10603149" cy="5263867"/>
          </a:xfrm>
          <a:prstGeom prst="roundRect">
            <a:avLst>
              <a:gd name="adj" fmla="val 1566"/>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41CF5C-FDDA-4905-B6BD-AAF0159F12C1}"/>
              </a:ext>
            </a:extLst>
          </p:cNvPr>
          <p:cNvSpPr>
            <a:spLocks noGrp="1"/>
          </p:cNvSpPr>
          <p:nvPr>
            <p:ph type="title"/>
          </p:nvPr>
        </p:nvSpPr>
        <p:spPr>
          <a:xfrm>
            <a:off x="640080" y="640080"/>
            <a:ext cx="2752354" cy="2709275"/>
          </a:xfrm>
          <a:prstGeom prst="rect">
            <a:avLst/>
          </a:prstGeom>
          <a:solidFill>
            <a:srgbClr val="6D4E46"/>
          </a:solidFill>
          <a:ln>
            <a:solidFill>
              <a:srgbClr val="6D4E46"/>
            </a:solidFill>
          </a:ln>
        </p:spPr>
        <p:txBody>
          <a:bodyPr vert="horz" lIns="91440" tIns="45720" rIns="91440" bIns="45720" rtlCol="0" anchor="ctr">
            <a:normAutofit/>
          </a:bodyPr>
          <a:lstStyle/>
          <a:p>
            <a:pPr algn="ctr"/>
            <a:r>
              <a:rPr lang="en-US" sz="2800" kern="1200">
                <a:solidFill>
                  <a:srgbClr val="FFFFFF"/>
                </a:solidFill>
                <a:latin typeface="+mj-lt"/>
                <a:ea typeface="+mj-ea"/>
                <a:cs typeface="+mj-cs"/>
              </a:rPr>
              <a:t>Create a new controller</a:t>
            </a:r>
          </a:p>
        </p:txBody>
      </p:sp>
      <p:pic>
        <p:nvPicPr>
          <p:cNvPr id="4" name="Content Placeholder 3" descr="A screenshot of a computer program&#10;&#10;AI-generated content may be incorrect.">
            <a:extLst>
              <a:ext uri="{FF2B5EF4-FFF2-40B4-BE49-F238E27FC236}">
                <a16:creationId xmlns:a16="http://schemas.microsoft.com/office/drawing/2014/main" id="{F7BEE5E9-B3C6-545C-EE12-841980280F77}"/>
              </a:ext>
            </a:extLst>
          </p:cNvPr>
          <p:cNvPicPr>
            <a:picLocks noGrp="1" noChangeAspect="1"/>
          </p:cNvPicPr>
          <p:nvPr>
            <p:ph idx="1"/>
          </p:nvPr>
        </p:nvPicPr>
        <p:blipFill>
          <a:blip r:embed="rId2"/>
          <a:stretch>
            <a:fillRect/>
          </a:stretch>
        </p:blipFill>
        <p:spPr>
          <a:xfrm>
            <a:off x="4239450" y="1596707"/>
            <a:ext cx="6546507" cy="3977003"/>
          </a:xfrm>
          <a:prstGeom prst="rect">
            <a:avLst/>
          </a:prstGeom>
        </p:spPr>
      </p:pic>
    </p:spTree>
    <p:extLst>
      <p:ext uri="{BB962C8B-B14F-4D97-AF65-F5344CB8AC3E}">
        <p14:creationId xmlns:p14="http://schemas.microsoft.com/office/powerpoint/2010/main" val="255020791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EC5334-EAC3-DBF2-3C27-1D1C372815F1}"/>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Choose the empty one</a:t>
            </a:r>
          </a:p>
        </p:txBody>
      </p:sp>
      <p:pic>
        <p:nvPicPr>
          <p:cNvPr id="4" name="Content Placeholder 3" descr="A screenshot of a computer&#10;&#10;AI-generated content may be incorrect.">
            <a:extLst>
              <a:ext uri="{FF2B5EF4-FFF2-40B4-BE49-F238E27FC236}">
                <a16:creationId xmlns:a16="http://schemas.microsoft.com/office/drawing/2014/main" id="{16538407-DD17-2301-2F9F-00C51A9705EA}"/>
              </a:ext>
            </a:extLst>
          </p:cNvPr>
          <p:cNvPicPr>
            <a:picLocks noGrp="1" noChangeAspect="1"/>
          </p:cNvPicPr>
          <p:nvPr>
            <p:ph idx="1"/>
          </p:nvPr>
        </p:nvPicPr>
        <p:blipFill>
          <a:blip r:embed="rId2"/>
          <a:stretch>
            <a:fillRect/>
          </a:stretch>
        </p:blipFill>
        <p:spPr>
          <a:xfrm>
            <a:off x="4046527" y="961812"/>
            <a:ext cx="7172345" cy="4930987"/>
          </a:xfrm>
          <a:prstGeom prst="rect">
            <a:avLst/>
          </a:prstGeom>
        </p:spPr>
      </p:pic>
    </p:spTree>
    <p:extLst>
      <p:ext uri="{BB962C8B-B14F-4D97-AF65-F5344CB8AC3E}">
        <p14:creationId xmlns:p14="http://schemas.microsoft.com/office/powerpoint/2010/main" val="76295928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D877F6-A0DC-14FA-ACD0-8025AA582378}"/>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2300" kern="1200">
                <a:solidFill>
                  <a:schemeClr val="tx1"/>
                </a:solidFill>
                <a:latin typeface="+mj-lt"/>
                <a:ea typeface="+mj-ea"/>
                <a:cs typeface="+mj-cs"/>
              </a:rPr>
              <a:t>Name the Controller called SupplierDashboardController</a:t>
            </a:r>
          </a:p>
        </p:txBody>
      </p:sp>
      <p:sp>
        <p:nvSpPr>
          <p:cNvPr id="22" name="Rectangle 2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Rectangle 2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screenshot of a computer program&#10;&#10;AI-generated content may be incorrect.">
            <a:extLst>
              <a:ext uri="{FF2B5EF4-FFF2-40B4-BE49-F238E27FC236}">
                <a16:creationId xmlns:a16="http://schemas.microsoft.com/office/drawing/2014/main" id="{6B9409C6-E8DC-2FEC-2796-197075290D39}"/>
              </a:ext>
            </a:extLst>
          </p:cNvPr>
          <p:cNvPicPr>
            <a:picLocks noChangeAspect="1"/>
          </p:cNvPicPr>
          <p:nvPr/>
        </p:nvPicPr>
        <p:blipFill>
          <a:blip r:embed="rId2"/>
          <a:srcRect r="-1" b="2286"/>
          <a:stretch>
            <a:fillRect/>
          </a:stretch>
        </p:blipFill>
        <p:spPr>
          <a:xfrm>
            <a:off x="4864608" y="1045396"/>
            <a:ext cx="6846363" cy="4615953"/>
          </a:xfrm>
          <a:prstGeom prst="rect">
            <a:avLst/>
          </a:prstGeom>
        </p:spPr>
      </p:pic>
    </p:spTree>
    <p:extLst>
      <p:ext uri="{BB962C8B-B14F-4D97-AF65-F5344CB8AC3E}">
        <p14:creationId xmlns:p14="http://schemas.microsoft.com/office/powerpoint/2010/main" val="409413674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D1F3D73-2A71-10CB-CEED-C283AC034AE7}"/>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4600"/>
              <a:t>Now Right Click the Views Folder and add a new folder called SupplierDashboard</a:t>
            </a:r>
          </a:p>
        </p:txBody>
      </p:sp>
      <p:sp>
        <p:nvSpPr>
          <p:cNvPr id="25"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Content Placeholder 7" descr="A screenshot of a computer&#10;&#10;AI-generated content may be incorrect.">
            <a:extLst>
              <a:ext uri="{FF2B5EF4-FFF2-40B4-BE49-F238E27FC236}">
                <a16:creationId xmlns:a16="http://schemas.microsoft.com/office/drawing/2014/main" id="{C50CB25D-A43C-2BC7-842B-395F013295BE}"/>
              </a:ext>
            </a:extLst>
          </p:cNvPr>
          <p:cNvPicPr>
            <a:picLocks noChangeAspect="1"/>
          </p:cNvPicPr>
          <p:nvPr/>
        </p:nvPicPr>
        <p:blipFill>
          <a:blip r:embed="rId2"/>
          <a:stretch>
            <a:fillRect/>
          </a:stretch>
        </p:blipFill>
        <p:spPr>
          <a:xfrm>
            <a:off x="1049704" y="2642616"/>
            <a:ext cx="3407465" cy="3605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72320184-6ED1-6CBD-0ABF-24FEC1D8FA10}"/>
              </a:ext>
            </a:extLst>
          </p:cNvPr>
          <p:cNvPicPr>
            <a:picLocks noChangeAspect="1"/>
          </p:cNvPicPr>
          <p:nvPr/>
        </p:nvPicPr>
        <p:blipFill>
          <a:blip r:embed="rId3"/>
          <a:stretch>
            <a:fillRect/>
          </a:stretch>
        </p:blipFill>
        <p:spPr>
          <a:xfrm>
            <a:off x="5578760" y="3406841"/>
            <a:ext cx="5614416" cy="2077333"/>
          </a:xfrm>
          <a:prstGeom prst="rect">
            <a:avLst/>
          </a:prstGeom>
        </p:spPr>
      </p:pic>
    </p:spTree>
    <p:extLst>
      <p:ext uri="{BB962C8B-B14F-4D97-AF65-F5344CB8AC3E}">
        <p14:creationId xmlns:p14="http://schemas.microsoft.com/office/powerpoint/2010/main" val="7156862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C98A213-5994-475E-B327-DC6EC27FBA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94BE26B-BAC7-AC56-0E4D-1F50CFC46392}"/>
              </a:ext>
            </a:extLst>
          </p:cNvPr>
          <p:cNvSpPr>
            <a:spLocks noGrp="1"/>
          </p:cNvSpPr>
          <p:nvPr>
            <p:ph type="title"/>
          </p:nvPr>
        </p:nvSpPr>
        <p:spPr>
          <a:xfrm>
            <a:off x="638881" y="670218"/>
            <a:ext cx="10909640" cy="1065836"/>
          </a:xfrm>
        </p:spPr>
        <p:txBody>
          <a:bodyPr vert="horz" lIns="91440" tIns="45720" rIns="91440" bIns="45720" rtlCol="0" anchor="ctr">
            <a:normAutofit/>
          </a:bodyPr>
          <a:lstStyle/>
          <a:p>
            <a:pPr algn="ctr"/>
            <a:r>
              <a:rPr lang="en-US" sz="4600"/>
              <a:t>Add an Index.cshtml view to that new folder</a:t>
            </a:r>
          </a:p>
        </p:txBody>
      </p:sp>
      <p:sp>
        <p:nvSpPr>
          <p:cNvPr id="13" name="sketch line">
            <a:extLst>
              <a:ext uri="{FF2B5EF4-FFF2-40B4-BE49-F238E27FC236}">
                <a16:creationId xmlns:a16="http://schemas.microsoft.com/office/drawing/2014/main" id="{4B030A0D-0DAD-4A99-89BB-419527D6A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89376" y="1800088"/>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EB86C95B-2A85-05AA-B99E-AE65F1296FBB}"/>
              </a:ext>
            </a:extLst>
          </p:cNvPr>
          <p:cNvPicPr>
            <a:picLocks noGrp="1" noChangeAspect="1"/>
          </p:cNvPicPr>
          <p:nvPr>
            <p:ph idx="1"/>
          </p:nvPr>
        </p:nvPicPr>
        <p:blipFill>
          <a:blip r:embed="rId2"/>
          <a:stretch>
            <a:fillRect/>
          </a:stretch>
        </p:blipFill>
        <p:spPr>
          <a:xfrm>
            <a:off x="394180" y="2619784"/>
            <a:ext cx="3555039" cy="3600041"/>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E9F7DC0F-B3F8-413E-57A7-F5B5A1FD833E}"/>
              </a:ext>
            </a:extLst>
          </p:cNvPr>
          <p:cNvPicPr>
            <a:picLocks noChangeAspect="1"/>
          </p:cNvPicPr>
          <p:nvPr/>
        </p:nvPicPr>
        <p:blipFill>
          <a:blip r:embed="rId3"/>
          <a:stretch>
            <a:fillRect/>
          </a:stretch>
        </p:blipFill>
        <p:spPr>
          <a:xfrm>
            <a:off x="4216908" y="3118533"/>
            <a:ext cx="3758184" cy="2602542"/>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D04FE833-85C5-E638-C633-96A683D94AC0}"/>
              </a:ext>
            </a:extLst>
          </p:cNvPr>
          <p:cNvPicPr>
            <a:picLocks noChangeAspect="1"/>
          </p:cNvPicPr>
          <p:nvPr/>
        </p:nvPicPr>
        <p:blipFill>
          <a:blip r:embed="rId4"/>
          <a:stretch>
            <a:fillRect/>
          </a:stretch>
        </p:blipFill>
        <p:spPr>
          <a:xfrm>
            <a:off x="8141208" y="3127929"/>
            <a:ext cx="3758184" cy="2583751"/>
          </a:xfrm>
          <a:prstGeom prst="rect">
            <a:avLst/>
          </a:prstGeom>
        </p:spPr>
      </p:pic>
    </p:spTree>
    <p:extLst>
      <p:ext uri="{BB962C8B-B14F-4D97-AF65-F5344CB8AC3E}">
        <p14:creationId xmlns:p14="http://schemas.microsoft.com/office/powerpoint/2010/main" val="138603750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689488A-6997-C269-8F01-0B34104BFB82}"/>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Back to the supplier Dashboard Controller</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023483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3F6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71A2E0-293E-832D-B995-07DC6F1B14E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000" kern="1200">
                <a:solidFill>
                  <a:srgbClr val="FFFFFF"/>
                </a:solidFill>
                <a:latin typeface="+mj-lt"/>
                <a:ea typeface="+mj-ea"/>
                <a:cs typeface="+mj-cs"/>
              </a:rPr>
              <a:t>Authorise the whole controller for supplier role (Can add admin and dev later)</a:t>
            </a:r>
          </a:p>
        </p:txBody>
      </p:sp>
      <p:pic>
        <p:nvPicPr>
          <p:cNvPr id="4" name="Content Placeholder 3" descr="A screen shot of a computer program&#10;&#10;AI-generated content may be incorrect.">
            <a:extLst>
              <a:ext uri="{FF2B5EF4-FFF2-40B4-BE49-F238E27FC236}">
                <a16:creationId xmlns:a16="http://schemas.microsoft.com/office/drawing/2014/main" id="{15D357AE-5CED-F013-2065-9AD0A66D3256}"/>
              </a:ext>
            </a:extLst>
          </p:cNvPr>
          <p:cNvPicPr>
            <a:picLocks noGrp="1" noChangeAspect="1"/>
          </p:cNvPicPr>
          <p:nvPr>
            <p:ph idx="1"/>
          </p:nvPr>
        </p:nvPicPr>
        <p:blipFill>
          <a:blip r:embed="rId2"/>
          <a:stretch>
            <a:fillRect/>
          </a:stretch>
        </p:blipFill>
        <p:spPr>
          <a:xfrm>
            <a:off x="4038600" y="1603299"/>
            <a:ext cx="7188199" cy="3648012"/>
          </a:xfrm>
          <a:prstGeom prst="rect">
            <a:avLst/>
          </a:prstGeom>
        </p:spPr>
      </p:pic>
    </p:spTree>
    <p:extLst>
      <p:ext uri="{BB962C8B-B14F-4D97-AF65-F5344CB8AC3E}">
        <p14:creationId xmlns:p14="http://schemas.microsoft.com/office/powerpoint/2010/main" val="26032651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3000"/>
                <a:satMod val="150000"/>
                <a:shade val="98000"/>
                <a:lumMod val="102000"/>
              </a:schemeClr>
            </a:gs>
            <a:gs pos="50000">
              <a:schemeClr val="bg2">
                <a:tint val="98000"/>
                <a:satMod val="130000"/>
                <a:shade val="90000"/>
                <a:lumMod val="103000"/>
              </a:schemeClr>
            </a:gs>
            <a:gs pos="100000">
              <a:schemeClr val="bg2">
                <a:shade val="63000"/>
                <a:satMod val="120000"/>
              </a:schemeClr>
            </a:gs>
          </a:gsLst>
          <a:lin ang="5400000" scaled="0"/>
        </a:gradFill>
        <a:effectLst/>
      </p:bgPr>
    </p:bg>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AA24DE7-C336-4994-8C52-D9B3F3D0F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311" y="953311"/>
            <a:ext cx="10603149" cy="5263867"/>
          </a:xfrm>
          <a:prstGeom prst="roundRect">
            <a:avLst>
              <a:gd name="adj" fmla="val 1566"/>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2089F9-00C8-C153-EA5E-141A0EBDD745}"/>
              </a:ext>
            </a:extLst>
          </p:cNvPr>
          <p:cNvSpPr>
            <a:spLocks noGrp="1"/>
          </p:cNvSpPr>
          <p:nvPr>
            <p:ph type="title"/>
          </p:nvPr>
        </p:nvSpPr>
        <p:spPr>
          <a:xfrm>
            <a:off x="640080" y="640080"/>
            <a:ext cx="2752354" cy="2709275"/>
          </a:xfrm>
          <a:prstGeom prst="rect">
            <a:avLst/>
          </a:prstGeom>
          <a:solidFill>
            <a:srgbClr val="6D6D51"/>
          </a:solidFill>
          <a:ln>
            <a:solidFill>
              <a:srgbClr val="6D6D51"/>
            </a:solidFill>
          </a:ln>
        </p:spPr>
        <p:txBody>
          <a:bodyPr vert="horz" lIns="91440" tIns="45720" rIns="91440" bIns="45720" rtlCol="0" anchor="ctr">
            <a:normAutofit/>
          </a:bodyPr>
          <a:lstStyle/>
          <a:p>
            <a:pPr algn="ctr"/>
            <a:r>
              <a:rPr lang="en-US" sz="2800" kern="1200">
                <a:solidFill>
                  <a:srgbClr val="FFFFFF"/>
                </a:solidFill>
                <a:latin typeface="+mj-lt"/>
                <a:ea typeface="+mj-ea"/>
                <a:cs typeface="+mj-cs"/>
              </a:rPr>
              <a:t>Add the _context and the controller</a:t>
            </a:r>
          </a:p>
        </p:txBody>
      </p:sp>
      <p:pic>
        <p:nvPicPr>
          <p:cNvPr id="4" name="Content Placeholder 3" descr="A screen shot of a computer program&#10;&#10;AI-generated content may be incorrect.">
            <a:extLst>
              <a:ext uri="{FF2B5EF4-FFF2-40B4-BE49-F238E27FC236}">
                <a16:creationId xmlns:a16="http://schemas.microsoft.com/office/drawing/2014/main" id="{EB4A7477-C1E4-FE30-33E0-6CE11B2CF304}"/>
              </a:ext>
            </a:extLst>
          </p:cNvPr>
          <p:cNvPicPr>
            <a:picLocks noGrp="1" noChangeAspect="1"/>
          </p:cNvPicPr>
          <p:nvPr>
            <p:ph idx="1"/>
          </p:nvPr>
        </p:nvPicPr>
        <p:blipFill>
          <a:blip r:embed="rId2"/>
          <a:stretch>
            <a:fillRect/>
          </a:stretch>
        </p:blipFill>
        <p:spPr>
          <a:xfrm>
            <a:off x="4110665" y="1867179"/>
            <a:ext cx="6804078" cy="3436059"/>
          </a:xfrm>
          <a:prstGeom prst="rect">
            <a:avLst/>
          </a:prstGeom>
        </p:spPr>
      </p:pic>
    </p:spTree>
    <p:extLst>
      <p:ext uri="{BB962C8B-B14F-4D97-AF65-F5344CB8AC3E}">
        <p14:creationId xmlns:p14="http://schemas.microsoft.com/office/powerpoint/2010/main" val="353453788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69D8D5-01CD-BA58-AF15-FDFEE89C174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600" kern="1200">
                <a:solidFill>
                  <a:schemeClr val="tx1"/>
                </a:solidFill>
                <a:latin typeface="+mj-lt"/>
                <a:ea typeface="+mj-ea"/>
                <a:cs typeface="+mj-cs"/>
              </a:rPr>
              <a:t>Now edit the index method to look like this</a:t>
            </a:r>
          </a:p>
        </p:txBody>
      </p:sp>
      <p:sp>
        <p:nvSpPr>
          <p:cNvPr id="24"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descr="A computer screen shot of a code&#10;&#10;AI-generated content may be incorrect.">
            <a:extLst>
              <a:ext uri="{FF2B5EF4-FFF2-40B4-BE49-F238E27FC236}">
                <a16:creationId xmlns:a16="http://schemas.microsoft.com/office/drawing/2014/main" id="{4E3901C4-6579-141F-8EE9-A2189FB1BF75}"/>
              </a:ext>
            </a:extLst>
          </p:cNvPr>
          <p:cNvPicPr>
            <a:picLocks noChangeAspect="1"/>
          </p:cNvPicPr>
          <p:nvPr/>
        </p:nvPicPr>
        <p:blipFill>
          <a:blip r:embed="rId2"/>
          <a:stretch>
            <a:fillRect/>
          </a:stretch>
        </p:blipFill>
        <p:spPr>
          <a:xfrm>
            <a:off x="320040" y="2997475"/>
            <a:ext cx="11548872" cy="2858346"/>
          </a:xfrm>
          <a:prstGeom prst="rect">
            <a:avLst/>
          </a:prstGeom>
        </p:spPr>
      </p:pic>
    </p:spTree>
    <p:extLst>
      <p:ext uri="{BB962C8B-B14F-4D97-AF65-F5344CB8AC3E}">
        <p14:creationId xmlns:p14="http://schemas.microsoft.com/office/powerpoint/2010/main" val="410423011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C4879EFC-8E62-4E00-973C-C45EE9EC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34CB3E-A03A-92F4-83F7-DA7D476B7C96}"/>
              </a:ext>
            </a:extLst>
          </p:cNvPr>
          <p:cNvSpPr>
            <a:spLocks noGrp="1"/>
          </p:cNvSpPr>
          <p:nvPr>
            <p:ph type="title"/>
          </p:nvPr>
        </p:nvSpPr>
        <p:spPr>
          <a:xfrm>
            <a:off x="638881" y="457200"/>
            <a:ext cx="10909640" cy="1368614"/>
          </a:xfrm>
        </p:spPr>
        <p:txBody>
          <a:bodyPr vert="horz" lIns="91440" tIns="45720" rIns="91440" bIns="45720" rtlCol="0" anchor="ctr">
            <a:normAutofit/>
          </a:bodyPr>
          <a:lstStyle/>
          <a:p>
            <a:pPr algn="ctr"/>
            <a:r>
              <a:rPr lang="en-US" sz="4600"/>
              <a:t>Go to the SupplierDashboard Views Folder and edit the index view</a:t>
            </a:r>
          </a:p>
        </p:txBody>
      </p:sp>
      <p:sp>
        <p:nvSpPr>
          <p:cNvPr id="19"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1850683"/>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5F29BBCF-E2B2-E3B6-CED9-D1ABD405272C}"/>
              </a:ext>
            </a:extLst>
          </p:cNvPr>
          <p:cNvPicPr>
            <a:picLocks noChangeAspect="1"/>
          </p:cNvPicPr>
          <p:nvPr/>
        </p:nvPicPr>
        <p:blipFill>
          <a:blip r:embed="rId2"/>
          <a:srcRect r="1" b="5103"/>
          <a:stretch>
            <a:fillRect/>
          </a:stretch>
        </p:blipFill>
        <p:spPr>
          <a:xfrm>
            <a:off x="1284277" y="2292096"/>
            <a:ext cx="3523843" cy="4306824"/>
          </a:xfrm>
          <a:prstGeom prst="rect">
            <a:avLst/>
          </a:prstGeom>
        </p:spPr>
      </p:pic>
      <p:pic>
        <p:nvPicPr>
          <p:cNvPr id="5" name="Picture 4" descr="A computer screen shot of a program&#10;&#10;AI-generated content may be incorrect.">
            <a:extLst>
              <a:ext uri="{FF2B5EF4-FFF2-40B4-BE49-F238E27FC236}">
                <a16:creationId xmlns:a16="http://schemas.microsoft.com/office/drawing/2014/main" id="{D152DB3F-7907-3B75-BFE2-A96971CCC125}"/>
              </a:ext>
            </a:extLst>
          </p:cNvPr>
          <p:cNvPicPr>
            <a:picLocks noChangeAspect="1"/>
          </p:cNvPicPr>
          <p:nvPr/>
        </p:nvPicPr>
        <p:blipFill>
          <a:blip r:embed="rId3"/>
          <a:srcRect r="3539" b="1"/>
          <a:stretch>
            <a:fillRect/>
          </a:stretch>
        </p:blipFill>
        <p:spPr>
          <a:xfrm>
            <a:off x="5583936" y="2735783"/>
            <a:ext cx="5614416" cy="3419450"/>
          </a:xfrm>
          <a:prstGeom prst="rect">
            <a:avLst/>
          </a:prstGeom>
        </p:spPr>
      </p:pic>
    </p:spTree>
    <p:extLst>
      <p:ext uri="{BB962C8B-B14F-4D97-AF65-F5344CB8AC3E}">
        <p14:creationId xmlns:p14="http://schemas.microsoft.com/office/powerpoint/2010/main" val="366978543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Rectangle 13">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D2BA8B-B642-BC2C-CD08-D5D031397576}"/>
              </a:ext>
            </a:extLst>
          </p:cNvPr>
          <p:cNvSpPr>
            <a:spLocks noGrp="1"/>
          </p:cNvSpPr>
          <p:nvPr>
            <p:ph type="title"/>
          </p:nvPr>
        </p:nvSpPr>
        <p:spPr>
          <a:xfrm>
            <a:off x="2103121" y="310343"/>
            <a:ext cx="7985759" cy="868823"/>
          </a:xfrm>
        </p:spPr>
        <p:txBody>
          <a:bodyPr vert="horz" lIns="91440" tIns="45720" rIns="91440" bIns="45720" rtlCol="0" anchor="ctr">
            <a:normAutofit/>
          </a:bodyPr>
          <a:lstStyle/>
          <a:p>
            <a:pPr algn="ctr"/>
            <a:r>
              <a:rPr lang="en-US" sz="3700" kern="1200">
                <a:solidFill>
                  <a:schemeClr val="tx1"/>
                </a:solidFill>
                <a:latin typeface="+mj-lt"/>
                <a:ea typeface="+mj-ea"/>
                <a:cs typeface="+mj-cs"/>
              </a:rPr>
              <a:t>Should now have a supplier Dashboard</a:t>
            </a:r>
          </a:p>
        </p:txBody>
      </p:sp>
      <p:sp>
        <p:nvSpPr>
          <p:cNvPr id="16" name="Rectangle: Rounded Corners 15">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7" name="Content Placeholder 6" descr="A screenshot of a website&#10;&#10;AI-generated content may be incorrect.">
            <a:extLst>
              <a:ext uri="{FF2B5EF4-FFF2-40B4-BE49-F238E27FC236}">
                <a16:creationId xmlns:a16="http://schemas.microsoft.com/office/drawing/2014/main" id="{9CD8AB4C-94F2-9CE1-DD4E-79B465080DBF}"/>
              </a:ext>
            </a:extLst>
          </p:cNvPr>
          <p:cNvPicPr>
            <a:picLocks noGrp="1" noChangeAspect="1"/>
          </p:cNvPicPr>
          <p:nvPr>
            <p:ph idx="1"/>
          </p:nvPr>
        </p:nvPicPr>
        <p:blipFill>
          <a:blip r:embed="rId2"/>
          <a:stretch>
            <a:fillRect/>
          </a:stretch>
        </p:blipFill>
        <p:spPr>
          <a:xfrm>
            <a:off x="633982" y="2139484"/>
            <a:ext cx="10924035" cy="4096512"/>
          </a:xfrm>
          <a:prstGeom prst="rect">
            <a:avLst/>
          </a:prstGeom>
        </p:spPr>
      </p:pic>
    </p:spTree>
    <p:extLst>
      <p:ext uri="{BB962C8B-B14F-4D97-AF65-F5344CB8AC3E}">
        <p14:creationId xmlns:p14="http://schemas.microsoft.com/office/powerpoint/2010/main" val="388023463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09F1D5-B0F1-4714-A239-E5B61C161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28FB460-D3FF-4440-A020-05982A09E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0546" y="1011045"/>
            <a:ext cx="4369859" cy="4369859"/>
          </a:xfrm>
          <a:prstGeom prst="roundRect">
            <a:avLst>
              <a:gd name="adj" fmla="val 275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36B368-1792-5F59-8351-45957FD9D54D}"/>
              </a:ext>
            </a:extLst>
          </p:cNvPr>
          <p:cNvSpPr>
            <a:spLocks noGrp="1"/>
          </p:cNvSpPr>
          <p:nvPr>
            <p:ph type="title"/>
          </p:nvPr>
        </p:nvSpPr>
        <p:spPr>
          <a:xfrm>
            <a:off x="956826" y="1112969"/>
            <a:ext cx="3937298" cy="4166010"/>
          </a:xfrm>
        </p:spPr>
        <p:txBody>
          <a:bodyPr>
            <a:normAutofit/>
          </a:bodyPr>
          <a:lstStyle/>
          <a:p>
            <a:r>
              <a:rPr lang="en-GB">
                <a:solidFill>
                  <a:srgbClr val="FFFFFF"/>
                </a:solidFill>
              </a:rPr>
              <a:t>Time to add some management buttons to this page</a:t>
            </a:r>
          </a:p>
        </p:txBody>
      </p:sp>
      <p:sp>
        <p:nvSpPr>
          <p:cNvPr id="12" name="Freeform: Shape 11">
            <a:extLst>
              <a:ext uri="{FF2B5EF4-FFF2-40B4-BE49-F238E27FC236}">
                <a16:creationId xmlns:a16="http://schemas.microsoft.com/office/drawing/2014/main" id="{14847E93-7DC1-4D4B-8829-B19AA713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0529" y="0"/>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5566D6E1-03A1-4D73-A4E0-35D74D568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961511" y="-1"/>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F835A99-04AC-494A-A572-AFE8413CC9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936831"/>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C1AB5B6C-EA8A-9817-0C6D-66AFBAC0E60D}"/>
              </a:ext>
            </a:extLst>
          </p:cNvPr>
          <p:cNvSpPr>
            <a:spLocks noGrp="1"/>
          </p:cNvSpPr>
          <p:nvPr>
            <p:ph idx="1"/>
          </p:nvPr>
        </p:nvSpPr>
        <p:spPr>
          <a:xfrm>
            <a:off x="6096000" y="820880"/>
            <a:ext cx="5257799" cy="4889350"/>
          </a:xfrm>
        </p:spPr>
        <p:txBody>
          <a:bodyPr vert="horz" lIns="91440" tIns="45720" rIns="91440" bIns="45720" rtlCol="0" anchor="t">
            <a:normAutofit/>
          </a:bodyPr>
          <a:lstStyle/>
          <a:p>
            <a:r>
              <a:rPr lang="en-GB"/>
              <a:t>Needs to be able to manage stock levels</a:t>
            </a:r>
          </a:p>
          <a:p>
            <a:endParaRPr lang="en-GB" dirty="0"/>
          </a:p>
          <a:p>
            <a:r>
              <a:rPr lang="en-GB"/>
              <a:t>See all their products not just first five</a:t>
            </a:r>
            <a:endParaRPr lang="en-GB" dirty="0"/>
          </a:p>
          <a:p>
            <a:endParaRPr lang="en-GB" dirty="0"/>
          </a:p>
          <a:p>
            <a:r>
              <a:rPr lang="en-GB"/>
              <a:t>Update Product Details</a:t>
            </a:r>
            <a:endParaRPr lang="en-GB" dirty="0"/>
          </a:p>
          <a:p>
            <a:endParaRPr lang="en-GB" dirty="0"/>
          </a:p>
          <a:p>
            <a:r>
              <a:rPr lang="en-GB"/>
              <a:t>View all Orders</a:t>
            </a:r>
            <a:endParaRPr lang="en-GB" dirty="0"/>
          </a:p>
        </p:txBody>
      </p:sp>
      <p:sp>
        <p:nvSpPr>
          <p:cNvPr id="18" name="Freeform: Shape 17">
            <a:extLst>
              <a:ext uri="{FF2B5EF4-FFF2-40B4-BE49-F238E27FC236}">
                <a16:creationId xmlns:a16="http://schemas.microsoft.com/office/drawing/2014/main" id="{7B786209-1B0B-4CA9-9BDD-F7327066A8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2D2964BB-484D-45AE-AD66-D407D062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18308"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691AC69-A76E-4DAB-B565-468B6B87A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132972" y="6258755"/>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66508878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1919197-3E5E-27B5-DB9C-A17F0376EA82}"/>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5000" kern="1200">
                <a:solidFill>
                  <a:schemeClr val="tx1"/>
                </a:solidFill>
                <a:latin typeface="+mj-lt"/>
                <a:ea typeface="+mj-ea"/>
                <a:cs typeface="+mj-cs"/>
              </a:rPr>
              <a:t>Doesn't need to be all new pages just add buttons and maybe edit some existing pages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014226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91BE313-E95B-BB31-BFD1-07863E03F36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Supplier dashboard to view all orders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6068365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black background with colorful text&#10;&#10;AI-generated content may be incorrect.">
            <a:extLst>
              <a:ext uri="{FF2B5EF4-FFF2-40B4-BE49-F238E27FC236}">
                <a16:creationId xmlns:a16="http://schemas.microsoft.com/office/drawing/2014/main" id="{AFCEF071-C4F8-3968-5DB9-A56311308481}"/>
              </a:ext>
            </a:extLst>
          </p:cNvPr>
          <p:cNvPicPr>
            <a:picLocks noGrp="1" noChangeAspect="1"/>
          </p:cNvPicPr>
          <p:nvPr>
            <p:ph idx="1"/>
          </p:nvPr>
        </p:nvPicPr>
        <p:blipFill>
          <a:blip r:embed="rId2"/>
          <a:stretch>
            <a:fillRect/>
          </a:stretch>
        </p:blipFill>
        <p:spPr>
          <a:xfrm>
            <a:off x="1289303" y="1941363"/>
            <a:ext cx="9613397" cy="913271"/>
          </a:xfrm>
          <a:prstGeom prst="rect">
            <a:avLst/>
          </a:prstGeom>
        </p:spPr>
      </p:pic>
      <p:sp>
        <p:nvSpPr>
          <p:cNvPr id="12" name="Right Triangle 1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BAF2E2-E879-73F3-38BF-B65AD63C1B4B}"/>
              </a:ext>
            </a:extLst>
          </p:cNvPr>
          <p:cNvSpPr>
            <a:spLocks noGrp="1"/>
          </p:cNvSpPr>
          <p:nvPr>
            <p:ph type="title"/>
          </p:nvPr>
        </p:nvSpPr>
        <p:spPr>
          <a:xfrm>
            <a:off x="1172546" y="3429000"/>
            <a:ext cx="9044575" cy="1713305"/>
          </a:xfrm>
        </p:spPr>
        <p:txBody>
          <a:bodyPr vert="horz" lIns="91440" tIns="45720" rIns="91440" bIns="45720" rtlCol="0" anchor="b">
            <a:normAutofit/>
          </a:bodyPr>
          <a:lstStyle/>
          <a:p>
            <a:pPr marL="228600" indent="-228600"/>
            <a:r>
              <a:rPr lang="en-US" sz="3800" kern="1200">
                <a:latin typeface="+mj-lt"/>
                <a:ea typeface="+mj-ea"/>
                <a:cs typeface="+mj-cs"/>
              </a:rPr>
              <a:t>Add the button to take them to the Orders</a:t>
            </a:r>
            <a:r>
              <a:rPr lang="en-US" sz="3800"/>
              <a:t> </a:t>
            </a:r>
            <a:r>
              <a:rPr lang="en-US" sz="3800" kern="1200">
                <a:latin typeface="+mj-lt"/>
                <a:ea typeface="+mj-ea"/>
                <a:cs typeface="+mj-cs"/>
              </a:rPr>
              <a:t>Index page which is already filtered for that </a:t>
            </a:r>
            <a:r>
              <a:rPr lang="en-US" sz="3800" kern="1200" dirty="0">
                <a:latin typeface="+mj-lt"/>
                <a:ea typeface="+mj-ea"/>
                <a:cs typeface="+mj-cs"/>
              </a:rPr>
              <a:t>supplier</a:t>
            </a:r>
          </a:p>
        </p:txBody>
      </p:sp>
      <p:sp>
        <p:nvSpPr>
          <p:cNvPr id="5" name="TextBox 4">
            <a:extLst>
              <a:ext uri="{FF2B5EF4-FFF2-40B4-BE49-F238E27FC236}">
                <a16:creationId xmlns:a16="http://schemas.microsoft.com/office/drawing/2014/main" id="{7E4B52FE-3FE4-3DBF-911E-DA5BE33692A5}"/>
              </a:ext>
            </a:extLst>
          </p:cNvPr>
          <p:cNvSpPr txBox="1"/>
          <p:nvPr/>
        </p:nvSpPr>
        <p:spPr>
          <a:xfrm>
            <a:off x="2770287" y="1190966"/>
            <a:ext cx="7321298" cy="75316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a:lnSpc>
                <a:spcPct val="90000"/>
              </a:lnSpc>
              <a:spcBef>
                <a:spcPts val="1000"/>
              </a:spcBef>
            </a:pPr>
            <a:r>
              <a:rPr lang="en-US" sz="2400" b="1" kern="1200" dirty="0">
                <a:latin typeface="+mn-lt"/>
                <a:ea typeface="+mn-ea"/>
                <a:cs typeface="+mn-cs"/>
              </a:rPr>
              <a:t>Add to the bottom of the </a:t>
            </a:r>
            <a:r>
              <a:rPr lang="en-US" sz="2400" b="1" kern="1200" dirty="0" err="1">
                <a:latin typeface="+mn-lt"/>
                <a:ea typeface="+mn-ea"/>
                <a:cs typeface="+mn-cs"/>
              </a:rPr>
              <a:t>index.</a:t>
            </a:r>
            <a:r>
              <a:rPr lang="en-US" sz="2400" b="1" dirty="0" err="1"/>
              <a:t>cshtml</a:t>
            </a:r>
            <a:r>
              <a:rPr lang="en-US" sz="2400" b="1" kern="1200" dirty="0">
                <a:latin typeface="+mn-lt"/>
                <a:ea typeface="+mn-ea"/>
                <a:cs typeface="+mn-cs"/>
              </a:rPr>
              <a:t> page</a:t>
            </a:r>
            <a:endParaRPr lang="en-US" sz="2400" b="1" kern="1200" dirty="0">
              <a:latin typeface="+mn-lt"/>
            </a:endParaRPr>
          </a:p>
        </p:txBody>
      </p:sp>
    </p:spTree>
    <p:extLst>
      <p:ext uri="{BB962C8B-B14F-4D97-AF65-F5344CB8AC3E}">
        <p14:creationId xmlns:p14="http://schemas.microsoft.com/office/powerpoint/2010/main" val="358366293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53652-E1C9-7EE8-82B3-BC4A4C012387}"/>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lang="en-US" sz="2500" kern="1200">
                <a:solidFill>
                  <a:schemeClr val="tx1"/>
                </a:solidFill>
                <a:latin typeface="+mj-lt"/>
                <a:ea typeface="+mj-ea"/>
                <a:cs typeface="+mj-cs"/>
              </a:rPr>
              <a:t>Now can manage all orders by clicking that and then I can edit and so on</a:t>
            </a:r>
          </a:p>
        </p:txBody>
      </p:sp>
      <p:sp>
        <p:nvSpPr>
          <p:cNvPr id="15" name="Rectangle 14">
            <a:extLst>
              <a:ext uri="{FF2B5EF4-FFF2-40B4-BE49-F238E27FC236}">
                <a16:creationId xmlns:a16="http://schemas.microsoft.com/office/drawing/2014/main" id="{5E395AE0-8789-FAD6-A987-32E65C185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4390253"/>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31A0AA88-C76D-546B-B652-2A73E81BE1AD}"/>
              </a:ext>
            </a:extLst>
          </p:cNvPr>
          <p:cNvPicPr>
            <a:picLocks noGrp="1" noChangeAspect="1"/>
          </p:cNvPicPr>
          <p:nvPr>
            <p:ph idx="1"/>
          </p:nvPr>
        </p:nvPicPr>
        <p:blipFill>
          <a:blip r:embed="rId2"/>
          <a:stretch>
            <a:fillRect/>
          </a:stretch>
        </p:blipFill>
        <p:spPr>
          <a:xfrm>
            <a:off x="865141" y="567495"/>
            <a:ext cx="10488660" cy="3251482"/>
          </a:xfrm>
          <a:prstGeom prst="rect">
            <a:avLst/>
          </a:prstGeom>
        </p:spPr>
      </p:pic>
      <p:cxnSp>
        <p:nvCxnSpPr>
          <p:cNvPr id="16" name="Straight Connector 15">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81391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9D71EF-B563-F61E-5E9C-FE064F59D49F}"/>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5000" kern="1200">
                <a:solidFill>
                  <a:schemeClr val="tx1"/>
                </a:solidFill>
                <a:latin typeface="+mj-lt"/>
                <a:ea typeface="+mj-ea"/>
                <a:cs typeface="+mj-cs"/>
              </a:rPr>
              <a:t>To update product details need to view all of their products only and then the edit functionality is already there</a:t>
            </a:r>
          </a:p>
        </p:txBody>
      </p:sp>
      <p:sp>
        <p:nvSpPr>
          <p:cNvPr id="16" name="Rectangle 15">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64306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3E2380-BC53-916A-2BB2-0C429EF99AE7}"/>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3600" kern="1200">
                <a:solidFill>
                  <a:schemeClr val="tx1"/>
                </a:solidFill>
                <a:latin typeface="+mj-lt"/>
                <a:ea typeface="+mj-ea"/>
                <a:cs typeface="+mj-cs"/>
              </a:rPr>
              <a:t>Add the button before the orders and after the products in the SupplierDashboard INdex.cshtml page</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black background with red and green text&#10;&#10;AI-generated content may be incorrect.">
            <a:extLst>
              <a:ext uri="{FF2B5EF4-FFF2-40B4-BE49-F238E27FC236}">
                <a16:creationId xmlns:a16="http://schemas.microsoft.com/office/drawing/2014/main" id="{EE97E33C-53C6-B11D-023A-4E1963021367}"/>
              </a:ext>
            </a:extLst>
          </p:cNvPr>
          <p:cNvPicPr>
            <a:picLocks noGrp="1" noChangeAspect="1"/>
          </p:cNvPicPr>
          <p:nvPr>
            <p:ph idx="1"/>
          </p:nvPr>
        </p:nvPicPr>
        <p:blipFill>
          <a:blip r:embed="rId2"/>
          <a:stretch>
            <a:fillRect/>
          </a:stretch>
        </p:blipFill>
        <p:spPr>
          <a:xfrm>
            <a:off x="320040" y="3878078"/>
            <a:ext cx="11548872" cy="1097140"/>
          </a:xfrm>
          <a:prstGeom prst="rect">
            <a:avLst/>
          </a:prstGeom>
        </p:spPr>
      </p:pic>
    </p:spTree>
    <p:extLst>
      <p:ext uri="{BB962C8B-B14F-4D97-AF65-F5344CB8AC3E}">
        <p14:creationId xmlns:p14="http://schemas.microsoft.com/office/powerpoint/2010/main" val="412863155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04E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0B0850-6E64-884C-D1E3-4702A8EDEA36}"/>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1600" kern="1200">
                <a:solidFill>
                  <a:srgbClr val="FFFFFF"/>
                </a:solidFill>
                <a:latin typeface="+mj-lt"/>
                <a:ea typeface="+mj-ea"/>
                <a:cs typeface="+mj-cs"/>
              </a:rPr>
              <a:t>Edit the ProductsController Index endpoint method</a:t>
            </a:r>
          </a:p>
        </p:txBody>
      </p:sp>
      <p:pic>
        <p:nvPicPr>
          <p:cNvPr id="4" name="Content Placeholder 3" descr="A screenshot of a computer&#10;&#10;AI-generated content may be incorrect.">
            <a:extLst>
              <a:ext uri="{FF2B5EF4-FFF2-40B4-BE49-F238E27FC236}">
                <a16:creationId xmlns:a16="http://schemas.microsoft.com/office/drawing/2014/main" id="{BB261DA0-4EDF-4725-5255-A4D0C6921BAF}"/>
              </a:ext>
            </a:extLst>
          </p:cNvPr>
          <p:cNvPicPr>
            <a:picLocks noGrp="1" noChangeAspect="1"/>
          </p:cNvPicPr>
          <p:nvPr>
            <p:ph idx="1"/>
          </p:nvPr>
        </p:nvPicPr>
        <p:blipFill>
          <a:blip r:embed="rId2"/>
          <a:stretch>
            <a:fillRect/>
          </a:stretch>
        </p:blipFill>
        <p:spPr>
          <a:xfrm>
            <a:off x="4038600" y="1765034"/>
            <a:ext cx="7188199" cy="3324542"/>
          </a:xfrm>
          <a:prstGeom prst="rect">
            <a:avLst/>
          </a:prstGeom>
        </p:spPr>
      </p:pic>
    </p:spTree>
    <p:extLst>
      <p:ext uri="{BB962C8B-B14F-4D97-AF65-F5344CB8AC3E}">
        <p14:creationId xmlns:p14="http://schemas.microsoft.com/office/powerpoint/2010/main" val="394308752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65A892D-83C6-A864-492F-F0C4C638645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Index Endpoint should look like this</a:t>
            </a:r>
          </a:p>
        </p:txBody>
      </p:sp>
      <p:pic>
        <p:nvPicPr>
          <p:cNvPr id="7" name="Content Placeholder 6" descr="A computer screen shot of a program&#10;&#10;AI-generated content may be incorrect.">
            <a:extLst>
              <a:ext uri="{FF2B5EF4-FFF2-40B4-BE49-F238E27FC236}">
                <a16:creationId xmlns:a16="http://schemas.microsoft.com/office/drawing/2014/main" id="{E3B9C39F-1C07-EDB0-58E4-F575057F3A6F}"/>
              </a:ext>
            </a:extLst>
          </p:cNvPr>
          <p:cNvPicPr>
            <a:picLocks noGrp="1" noChangeAspect="1"/>
          </p:cNvPicPr>
          <p:nvPr>
            <p:ph idx="1"/>
          </p:nvPr>
        </p:nvPicPr>
        <p:blipFill>
          <a:blip r:embed="rId2"/>
          <a:stretch>
            <a:fillRect/>
          </a:stretch>
        </p:blipFill>
        <p:spPr>
          <a:xfrm>
            <a:off x="926354" y="1675227"/>
            <a:ext cx="10339291" cy="4394199"/>
          </a:xfrm>
          <a:prstGeom prst="rect">
            <a:avLst/>
          </a:prstGeom>
        </p:spPr>
      </p:pic>
    </p:spTree>
    <p:extLst>
      <p:ext uri="{BB962C8B-B14F-4D97-AF65-F5344CB8AC3E}">
        <p14:creationId xmlns:p14="http://schemas.microsoft.com/office/powerpoint/2010/main" val="429352504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3043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58CF40-E999-24A6-DAD6-E9DD2DCF7EE9}"/>
              </a:ext>
            </a:extLst>
          </p:cNvPr>
          <p:cNvSpPr>
            <a:spLocks noGrp="1"/>
          </p:cNvSpPr>
          <p:nvPr>
            <p:ph type="title"/>
          </p:nvPr>
        </p:nvSpPr>
        <p:spPr>
          <a:xfrm>
            <a:off x="556532" y="532214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Now can see the button to view all products</a:t>
            </a:r>
          </a:p>
        </p:txBody>
      </p:sp>
      <p:pic>
        <p:nvPicPr>
          <p:cNvPr id="4" name="Content Placeholder 3" descr="A screenshot of a computer screen&#10;&#10;AI-generated content may be incorrect.">
            <a:extLst>
              <a:ext uri="{FF2B5EF4-FFF2-40B4-BE49-F238E27FC236}">
                <a16:creationId xmlns:a16="http://schemas.microsoft.com/office/drawing/2014/main" id="{101DC2DC-678E-6ACA-61AB-2E63889D2490}"/>
              </a:ext>
            </a:extLst>
          </p:cNvPr>
          <p:cNvPicPr>
            <a:picLocks noGrp="1" noChangeAspect="1"/>
          </p:cNvPicPr>
          <p:nvPr>
            <p:ph idx="1"/>
          </p:nvPr>
        </p:nvPicPr>
        <p:blipFill>
          <a:blip r:embed="rId2"/>
          <a:stretch>
            <a:fillRect/>
          </a:stretch>
        </p:blipFill>
        <p:spPr>
          <a:xfrm>
            <a:off x="737223" y="364587"/>
            <a:ext cx="10717554" cy="4394199"/>
          </a:xfrm>
          <a:prstGeom prst="rect">
            <a:avLst/>
          </a:prstGeom>
        </p:spPr>
      </p:pic>
    </p:spTree>
    <p:extLst>
      <p:ext uri="{BB962C8B-B14F-4D97-AF65-F5344CB8AC3E}">
        <p14:creationId xmlns:p14="http://schemas.microsoft.com/office/powerpoint/2010/main" val="337869104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8DE162-E60F-7680-B9A5-2757603CA9D6}"/>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4100" kern="1200">
                <a:solidFill>
                  <a:schemeClr val="tx1"/>
                </a:solidFill>
                <a:latin typeface="+mj-lt"/>
                <a:ea typeface="+mj-ea"/>
                <a:cs typeface="+mj-cs"/>
              </a:rPr>
              <a:t>From here can click edit and can edit and update product details</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C2E0E73F-4A56-3265-0C5D-F4D2DAA054BC}"/>
              </a:ext>
            </a:extLst>
          </p:cNvPr>
          <p:cNvPicPr>
            <a:picLocks noChangeAspect="1"/>
          </p:cNvPicPr>
          <p:nvPr/>
        </p:nvPicPr>
        <p:blipFill>
          <a:blip r:embed="rId2"/>
          <a:stretch>
            <a:fillRect/>
          </a:stretch>
        </p:blipFill>
        <p:spPr>
          <a:xfrm>
            <a:off x="320040" y="2809806"/>
            <a:ext cx="11548872" cy="3233684"/>
          </a:xfrm>
          <a:prstGeom prst="rect">
            <a:avLst/>
          </a:prstGeom>
        </p:spPr>
      </p:pic>
    </p:spTree>
    <p:extLst>
      <p:ext uri="{BB962C8B-B14F-4D97-AF65-F5344CB8AC3E}">
        <p14:creationId xmlns:p14="http://schemas.microsoft.com/office/powerpoint/2010/main" val="361073610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094D2-8696-CF7B-CFE5-0403C4070BF8}"/>
              </a:ext>
            </a:extLst>
          </p:cNvPr>
          <p:cNvSpPr>
            <a:spLocks noGrp="1"/>
          </p:cNvSpPr>
          <p:nvPr>
            <p:ph type="title"/>
          </p:nvPr>
        </p:nvSpPr>
        <p:spPr>
          <a:xfrm>
            <a:off x="838199" y="1320126"/>
            <a:ext cx="3806729" cy="3072359"/>
          </a:xfrm>
        </p:spPr>
        <p:txBody>
          <a:bodyPr vert="horz" lIns="91440" tIns="45720" rIns="91440" bIns="45720" rtlCol="0" anchor="t">
            <a:normAutofit/>
          </a:bodyPr>
          <a:lstStyle/>
          <a:p>
            <a:r>
              <a:rPr lang="en-US" sz="3100" kern="1200">
                <a:solidFill>
                  <a:schemeClr val="tx1"/>
                </a:solidFill>
                <a:latin typeface="+mj-lt"/>
                <a:ea typeface="+mj-ea"/>
                <a:cs typeface="+mj-cs"/>
              </a:rPr>
              <a:t>Lets quickly fix the edit option as first those buttons for edit and delete should only be viewable if you are a supplier</a:t>
            </a:r>
          </a:p>
        </p:txBody>
      </p:sp>
      <p:pic>
        <p:nvPicPr>
          <p:cNvPr id="4" name="Content Placeholder 3" descr="A screenshot of a computer&#10;&#10;AI-generated content may be incorrect.">
            <a:extLst>
              <a:ext uri="{FF2B5EF4-FFF2-40B4-BE49-F238E27FC236}">
                <a16:creationId xmlns:a16="http://schemas.microsoft.com/office/drawing/2014/main" id="{690D5BC4-3053-5FE5-5001-206DEC9AB639}"/>
              </a:ext>
            </a:extLst>
          </p:cNvPr>
          <p:cNvPicPr>
            <a:picLocks noGrp="1" noChangeAspect="1"/>
          </p:cNvPicPr>
          <p:nvPr>
            <p:ph idx="1"/>
          </p:nvPr>
        </p:nvPicPr>
        <p:blipFill>
          <a:blip r:embed="rId2"/>
          <a:stretch>
            <a:fillRect/>
          </a:stretch>
        </p:blipFill>
        <p:spPr>
          <a:xfrm>
            <a:off x="5463389" y="922057"/>
            <a:ext cx="5941497" cy="4872026"/>
          </a:xfrm>
          <a:prstGeom prst="rect">
            <a:avLst/>
          </a:prstGeom>
        </p:spPr>
      </p:pic>
      <p:grpSp>
        <p:nvGrpSpPr>
          <p:cNvPr id="9" name="Group 8">
            <a:extLst>
              <a:ext uri="{FF2B5EF4-FFF2-40B4-BE49-F238E27FC236}">
                <a16:creationId xmlns:a16="http://schemas.microsoft.com/office/drawing/2014/main" id="{71E4E172-1EA7-E251-8265-AD4D673154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025" y="6737718"/>
            <a:ext cx="12207200" cy="123363"/>
            <a:chOff x="-5025" y="6737718"/>
            <a:chExt cx="12207200" cy="123363"/>
          </a:xfrm>
        </p:grpSpPr>
        <p:sp>
          <p:nvSpPr>
            <p:cNvPr id="10" name="Rectangle 9">
              <a:extLst>
                <a:ext uri="{FF2B5EF4-FFF2-40B4-BE49-F238E27FC236}">
                  <a16:creationId xmlns:a16="http://schemas.microsoft.com/office/drawing/2014/main" id="{B36EE4C1-7905-4652-A645-D2C3112E2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B2D6870-BDC0-AE8B-A7F5-D570327D12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8465754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087D53-9295-4463-AAE4-D5C626046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6EBC9F-E952-0E55-B358-78C45AD52F03}"/>
              </a:ext>
            </a:extLst>
          </p:cNvPr>
          <p:cNvSpPr>
            <a:spLocks noGrp="1"/>
          </p:cNvSpPr>
          <p:nvPr>
            <p:ph type="title"/>
          </p:nvPr>
        </p:nvSpPr>
        <p:spPr>
          <a:xfrm>
            <a:off x="638881" y="4501453"/>
            <a:ext cx="10909640" cy="1065836"/>
          </a:xfrm>
        </p:spPr>
        <p:txBody>
          <a:bodyPr vert="horz" lIns="91440" tIns="45720" rIns="91440" bIns="45720" rtlCol="0" anchor="ctr">
            <a:normAutofit/>
          </a:bodyPr>
          <a:lstStyle/>
          <a:p>
            <a:pPr algn="ctr"/>
            <a:r>
              <a:rPr lang="en-US" sz="4100"/>
              <a:t>Edit so it now looks like this with the if statement</a:t>
            </a:r>
          </a:p>
        </p:txBody>
      </p:sp>
      <p:pic>
        <p:nvPicPr>
          <p:cNvPr id="4" name="Content Placeholder 3" descr="A screenshot of a computer program&#10;&#10;AI-generated content may be incorrect.">
            <a:extLst>
              <a:ext uri="{FF2B5EF4-FFF2-40B4-BE49-F238E27FC236}">
                <a16:creationId xmlns:a16="http://schemas.microsoft.com/office/drawing/2014/main" id="{2DA12FDF-93B5-758E-8B73-E1D257029C4B}"/>
              </a:ext>
            </a:extLst>
          </p:cNvPr>
          <p:cNvPicPr>
            <a:picLocks noGrp="1" noChangeAspect="1"/>
          </p:cNvPicPr>
          <p:nvPr>
            <p:ph idx="1"/>
          </p:nvPr>
        </p:nvPicPr>
        <p:blipFill>
          <a:blip r:embed="rId2"/>
          <a:stretch>
            <a:fillRect/>
          </a:stretch>
        </p:blipFill>
        <p:spPr>
          <a:xfrm>
            <a:off x="324843" y="320040"/>
            <a:ext cx="5604810" cy="3895344"/>
          </a:xfrm>
          <a:prstGeom prst="rect">
            <a:avLst/>
          </a:prstGeom>
        </p:spPr>
      </p:pic>
      <p:pic>
        <p:nvPicPr>
          <p:cNvPr id="5" name="Picture 4" descr="A screen shot of a computer program&#10;&#10;AI-generated content may be incorrect.">
            <a:extLst>
              <a:ext uri="{FF2B5EF4-FFF2-40B4-BE49-F238E27FC236}">
                <a16:creationId xmlns:a16="http://schemas.microsoft.com/office/drawing/2014/main" id="{8736EB0F-C1A9-F640-856D-E44891E36D50}"/>
              </a:ext>
            </a:extLst>
          </p:cNvPr>
          <p:cNvPicPr>
            <a:picLocks noChangeAspect="1"/>
          </p:cNvPicPr>
          <p:nvPr/>
        </p:nvPicPr>
        <p:blipFill>
          <a:blip r:embed="rId3"/>
          <a:stretch>
            <a:fillRect/>
          </a:stretch>
        </p:blipFill>
        <p:spPr>
          <a:xfrm>
            <a:off x="6254496" y="457063"/>
            <a:ext cx="5614416" cy="3621298"/>
          </a:xfrm>
          <a:prstGeom prst="rect">
            <a:avLst/>
          </a:prstGeom>
        </p:spPr>
      </p:pic>
      <p:sp>
        <p:nvSpPr>
          <p:cNvPr id="12" name="sketch line">
            <a:extLst>
              <a:ext uri="{FF2B5EF4-FFF2-40B4-BE49-F238E27FC236}">
                <a16:creationId xmlns:a16="http://schemas.microsoft.com/office/drawing/2014/main" id="{D6A9C53F-5F90-40A5-8C85-5412D39C8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50080" y="5594358"/>
            <a:ext cx="3291840" cy="18288"/>
          </a:xfrm>
          <a:custGeom>
            <a:avLst/>
            <a:gdLst>
              <a:gd name="connsiteX0" fmla="*/ 0 w 3291840"/>
              <a:gd name="connsiteY0" fmla="*/ 0 h 18288"/>
              <a:gd name="connsiteX1" fmla="*/ 658368 w 3291840"/>
              <a:gd name="connsiteY1" fmla="*/ 0 h 18288"/>
              <a:gd name="connsiteX2" fmla="*/ 1283818 w 3291840"/>
              <a:gd name="connsiteY2" fmla="*/ 0 h 18288"/>
              <a:gd name="connsiteX3" fmla="*/ 1909267 w 3291840"/>
              <a:gd name="connsiteY3" fmla="*/ 0 h 18288"/>
              <a:gd name="connsiteX4" fmla="*/ 2633472 w 3291840"/>
              <a:gd name="connsiteY4" fmla="*/ 0 h 18288"/>
              <a:gd name="connsiteX5" fmla="*/ 3291840 w 3291840"/>
              <a:gd name="connsiteY5" fmla="*/ 0 h 18288"/>
              <a:gd name="connsiteX6" fmla="*/ 3291840 w 3291840"/>
              <a:gd name="connsiteY6" fmla="*/ 18288 h 18288"/>
              <a:gd name="connsiteX7" fmla="*/ 2633472 w 3291840"/>
              <a:gd name="connsiteY7" fmla="*/ 18288 h 18288"/>
              <a:gd name="connsiteX8" fmla="*/ 2073859 w 3291840"/>
              <a:gd name="connsiteY8" fmla="*/ 18288 h 18288"/>
              <a:gd name="connsiteX9" fmla="*/ 1448410 w 3291840"/>
              <a:gd name="connsiteY9" fmla="*/ 18288 h 18288"/>
              <a:gd name="connsiteX10" fmla="*/ 822960 w 3291840"/>
              <a:gd name="connsiteY10" fmla="*/ 18288 h 18288"/>
              <a:gd name="connsiteX11" fmla="*/ 0 w 3291840"/>
              <a:gd name="connsiteY11" fmla="*/ 18288 h 18288"/>
              <a:gd name="connsiteX12" fmla="*/ 0 w 329184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91840" h="18288" fill="none" extrusionOk="0">
                <a:moveTo>
                  <a:pt x="0" y="0"/>
                </a:moveTo>
                <a:cubicBezTo>
                  <a:pt x="173077" y="-20031"/>
                  <a:pt x="443104" y="6424"/>
                  <a:pt x="658368" y="0"/>
                </a:cubicBezTo>
                <a:cubicBezTo>
                  <a:pt x="873632" y="-6424"/>
                  <a:pt x="1034028" y="11764"/>
                  <a:pt x="1283818" y="0"/>
                </a:cubicBezTo>
                <a:cubicBezTo>
                  <a:pt x="1533608" y="-11764"/>
                  <a:pt x="1691227" y="-30112"/>
                  <a:pt x="1909267" y="0"/>
                </a:cubicBezTo>
                <a:cubicBezTo>
                  <a:pt x="2127307" y="30112"/>
                  <a:pt x="2272465" y="-18735"/>
                  <a:pt x="2633472" y="0"/>
                </a:cubicBezTo>
                <a:cubicBezTo>
                  <a:pt x="2994479" y="18735"/>
                  <a:pt x="3023324" y="-32030"/>
                  <a:pt x="3291840" y="0"/>
                </a:cubicBezTo>
                <a:cubicBezTo>
                  <a:pt x="3291406" y="7551"/>
                  <a:pt x="3291373" y="9822"/>
                  <a:pt x="3291840" y="18288"/>
                </a:cubicBezTo>
                <a:cubicBezTo>
                  <a:pt x="3048445" y="38989"/>
                  <a:pt x="2846548" y="-14400"/>
                  <a:pt x="2633472" y="18288"/>
                </a:cubicBezTo>
                <a:cubicBezTo>
                  <a:pt x="2420396" y="50976"/>
                  <a:pt x="2304099" y="6336"/>
                  <a:pt x="2073859" y="18288"/>
                </a:cubicBezTo>
                <a:cubicBezTo>
                  <a:pt x="1843619" y="30240"/>
                  <a:pt x="1706926" y="10778"/>
                  <a:pt x="1448410" y="18288"/>
                </a:cubicBezTo>
                <a:cubicBezTo>
                  <a:pt x="1189894" y="25798"/>
                  <a:pt x="1002278" y="8992"/>
                  <a:pt x="822960" y="18288"/>
                </a:cubicBezTo>
                <a:cubicBezTo>
                  <a:pt x="643642" y="27585"/>
                  <a:pt x="307039" y="38051"/>
                  <a:pt x="0" y="18288"/>
                </a:cubicBezTo>
                <a:cubicBezTo>
                  <a:pt x="60" y="11696"/>
                  <a:pt x="66" y="3758"/>
                  <a:pt x="0" y="0"/>
                </a:cubicBezTo>
                <a:close/>
              </a:path>
              <a:path w="3291840" h="18288" stroke="0" extrusionOk="0">
                <a:moveTo>
                  <a:pt x="0" y="0"/>
                </a:moveTo>
                <a:cubicBezTo>
                  <a:pt x="195850" y="28018"/>
                  <a:pt x="434891" y="17390"/>
                  <a:pt x="592531" y="0"/>
                </a:cubicBezTo>
                <a:cubicBezTo>
                  <a:pt x="750171" y="-17390"/>
                  <a:pt x="1018709" y="32200"/>
                  <a:pt x="1316736" y="0"/>
                </a:cubicBezTo>
                <a:cubicBezTo>
                  <a:pt x="1614763" y="-32200"/>
                  <a:pt x="1696480" y="-11367"/>
                  <a:pt x="1876349" y="0"/>
                </a:cubicBezTo>
                <a:cubicBezTo>
                  <a:pt x="2056218" y="11367"/>
                  <a:pt x="2193364" y="13433"/>
                  <a:pt x="2435962" y="0"/>
                </a:cubicBezTo>
                <a:cubicBezTo>
                  <a:pt x="2678560" y="-13433"/>
                  <a:pt x="3010901" y="-42367"/>
                  <a:pt x="3291840" y="0"/>
                </a:cubicBezTo>
                <a:cubicBezTo>
                  <a:pt x="3291758" y="4406"/>
                  <a:pt x="3291751" y="9982"/>
                  <a:pt x="3291840" y="18288"/>
                </a:cubicBezTo>
                <a:cubicBezTo>
                  <a:pt x="3108993" y="14228"/>
                  <a:pt x="2952658" y="46900"/>
                  <a:pt x="2666390" y="18288"/>
                </a:cubicBezTo>
                <a:cubicBezTo>
                  <a:pt x="2380122" y="-10324"/>
                  <a:pt x="2263855" y="41055"/>
                  <a:pt x="2040941" y="18288"/>
                </a:cubicBezTo>
                <a:cubicBezTo>
                  <a:pt x="1818027" y="-4479"/>
                  <a:pt x="1675097" y="6509"/>
                  <a:pt x="1415491" y="18288"/>
                </a:cubicBezTo>
                <a:cubicBezTo>
                  <a:pt x="1155885" y="30068"/>
                  <a:pt x="852976" y="36210"/>
                  <a:pt x="691286" y="18288"/>
                </a:cubicBezTo>
                <a:cubicBezTo>
                  <a:pt x="529596" y="366"/>
                  <a:pt x="187183" y="13912"/>
                  <a:pt x="0" y="18288"/>
                </a:cubicBezTo>
                <a:cubicBezTo>
                  <a:pt x="189" y="14288"/>
                  <a:pt x="-703" y="374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3320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14E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3299DE-8949-1144-30CB-0AB4E9E85EE4}"/>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Now go to the edit.cshtml page</a:t>
            </a:r>
          </a:p>
        </p:txBody>
      </p:sp>
      <p:pic>
        <p:nvPicPr>
          <p:cNvPr id="4" name="Content Placeholder 3" descr="A screenshot of a computer&#10;&#10;AI-generated content may be incorrect.">
            <a:extLst>
              <a:ext uri="{FF2B5EF4-FFF2-40B4-BE49-F238E27FC236}">
                <a16:creationId xmlns:a16="http://schemas.microsoft.com/office/drawing/2014/main" id="{F4E97901-8137-4393-E281-7313AC675320}"/>
              </a:ext>
            </a:extLst>
          </p:cNvPr>
          <p:cNvPicPr>
            <a:picLocks noGrp="1" noChangeAspect="1"/>
          </p:cNvPicPr>
          <p:nvPr>
            <p:ph idx="1"/>
          </p:nvPr>
        </p:nvPicPr>
        <p:blipFill>
          <a:blip r:embed="rId2"/>
          <a:stretch>
            <a:fillRect/>
          </a:stretch>
        </p:blipFill>
        <p:spPr>
          <a:xfrm>
            <a:off x="4038600" y="1001289"/>
            <a:ext cx="7188199" cy="4852032"/>
          </a:xfrm>
          <a:prstGeom prst="rect">
            <a:avLst/>
          </a:prstGeom>
        </p:spPr>
      </p:pic>
    </p:spTree>
    <p:extLst>
      <p:ext uri="{BB962C8B-B14F-4D97-AF65-F5344CB8AC3E}">
        <p14:creationId xmlns:p14="http://schemas.microsoft.com/office/powerpoint/2010/main" val="391803872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0DCE-5ADB-6FAE-4124-DAA034CF1018}"/>
              </a:ext>
            </a:extLst>
          </p:cNvPr>
          <p:cNvSpPr>
            <a:spLocks noGrp="1"/>
          </p:cNvSpPr>
          <p:nvPr>
            <p:ph type="title"/>
          </p:nvPr>
        </p:nvSpPr>
        <p:spPr>
          <a:xfrm>
            <a:off x="1524000" y="4914855"/>
            <a:ext cx="9144000" cy="786703"/>
          </a:xfrm>
        </p:spPr>
        <p:txBody>
          <a:bodyPr vert="horz" lIns="91440" tIns="45720" rIns="91440" bIns="45720" rtlCol="0" anchor="b">
            <a:normAutofit/>
          </a:bodyPr>
          <a:lstStyle/>
          <a:p>
            <a:pPr algn="ctr"/>
            <a:r>
              <a:rPr lang="en-US" sz="3100"/>
              <a:t>Remove the SuppliersId Section so it is hidden instead</a:t>
            </a:r>
          </a:p>
        </p:txBody>
      </p:sp>
      <p:pic>
        <p:nvPicPr>
          <p:cNvPr id="9" name="Picture 8" descr="A screenshot of a computer program&#10;&#10;AI-generated content may be incorrect.">
            <a:extLst>
              <a:ext uri="{FF2B5EF4-FFF2-40B4-BE49-F238E27FC236}">
                <a16:creationId xmlns:a16="http://schemas.microsoft.com/office/drawing/2014/main" id="{FDA3D78D-4896-F3BD-A3C3-A82F31E744B3}"/>
              </a:ext>
            </a:extLst>
          </p:cNvPr>
          <p:cNvPicPr>
            <a:picLocks noChangeAspect="1"/>
          </p:cNvPicPr>
          <p:nvPr/>
        </p:nvPicPr>
        <p:blipFill>
          <a:blip r:embed="rId2"/>
          <a:stretch>
            <a:fillRect/>
          </a:stretch>
        </p:blipFill>
        <p:spPr>
          <a:xfrm>
            <a:off x="1430524" y="876301"/>
            <a:ext cx="4574130" cy="3716481"/>
          </a:xfrm>
          <a:prstGeom prst="rect">
            <a:avLst/>
          </a:prstGeom>
        </p:spPr>
      </p:pic>
      <p:pic>
        <p:nvPicPr>
          <p:cNvPr id="12" name="Content Placeholder 11" descr="A screen shot of a computer program&#10;&#10;AI-generated content may be incorrect.">
            <a:extLst>
              <a:ext uri="{FF2B5EF4-FFF2-40B4-BE49-F238E27FC236}">
                <a16:creationId xmlns:a16="http://schemas.microsoft.com/office/drawing/2014/main" id="{494136E6-E8F9-FD92-A164-3758C51F48D0}"/>
              </a:ext>
            </a:extLst>
          </p:cNvPr>
          <p:cNvPicPr>
            <a:picLocks noChangeAspect="1"/>
          </p:cNvPicPr>
          <p:nvPr/>
        </p:nvPicPr>
        <p:blipFill>
          <a:blip r:embed="rId3"/>
          <a:stretch>
            <a:fillRect/>
          </a:stretch>
        </p:blipFill>
        <p:spPr>
          <a:xfrm>
            <a:off x="6225444" y="876301"/>
            <a:ext cx="4645601" cy="3716481"/>
          </a:xfrm>
          <a:prstGeom prst="rect">
            <a:avLst/>
          </a:prstGeom>
        </p:spPr>
      </p:pic>
      <p:grpSp>
        <p:nvGrpSpPr>
          <p:cNvPr id="26" name="Group 25">
            <a:extLst>
              <a:ext uri="{FF2B5EF4-FFF2-40B4-BE49-F238E27FC236}">
                <a16:creationId xmlns:a16="http://schemas.microsoft.com/office/drawing/2014/main" id="{B0F380AC-9202-53E9-8D39-90E7C2AC75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6737460"/>
            <a:ext cx="12192000" cy="123364"/>
            <a:chOff x="1" y="6737460"/>
            <a:chExt cx="12192000" cy="123364"/>
          </a:xfrm>
        </p:grpSpPr>
        <p:sp>
          <p:nvSpPr>
            <p:cNvPr id="27" name="Rectangle 26">
              <a:extLst>
                <a:ext uri="{FF2B5EF4-FFF2-40B4-BE49-F238E27FC236}">
                  <a16:creationId xmlns:a16="http://schemas.microsoft.com/office/drawing/2014/main" id="{B9334AC3-F97B-AAEB-193C-D6FEF28515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6034320" y="703141"/>
              <a:ext cx="123362" cy="12192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DCF0F8F8-6D3A-38F2-F9D7-AA175316B2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40559" y="4909383"/>
              <a:ext cx="123362" cy="3779520"/>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27046434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5DF920-DAF1-0182-16A0-3B3D3BD503DB}"/>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a:solidFill>
                  <a:srgbClr val="FFFFFF"/>
                </a:solidFill>
                <a:latin typeface="+mj-lt"/>
                <a:ea typeface="+mj-ea"/>
                <a:cs typeface="+mj-cs"/>
              </a:rPr>
              <a:t>Now go to the Products Controller Edit Get Method</a:t>
            </a:r>
          </a:p>
        </p:txBody>
      </p:sp>
      <p:pic>
        <p:nvPicPr>
          <p:cNvPr id="4" name="Content Placeholder 3" descr="A screenshot of a computer&#10;&#10;AI-generated content may be incorrect.">
            <a:extLst>
              <a:ext uri="{FF2B5EF4-FFF2-40B4-BE49-F238E27FC236}">
                <a16:creationId xmlns:a16="http://schemas.microsoft.com/office/drawing/2014/main" id="{536409E4-8ECF-55B6-40CC-8F51F65C8FB2}"/>
              </a:ext>
            </a:extLst>
          </p:cNvPr>
          <p:cNvPicPr>
            <a:picLocks noGrp="1" noChangeAspect="1"/>
          </p:cNvPicPr>
          <p:nvPr>
            <p:ph idx="1"/>
          </p:nvPr>
        </p:nvPicPr>
        <p:blipFill>
          <a:blip r:embed="rId2"/>
          <a:stretch>
            <a:fillRect/>
          </a:stretch>
        </p:blipFill>
        <p:spPr>
          <a:xfrm>
            <a:off x="4038600" y="1485927"/>
            <a:ext cx="7188199" cy="3882757"/>
          </a:xfrm>
          <a:prstGeom prst="rect">
            <a:avLst/>
          </a:prstGeom>
        </p:spPr>
      </p:pic>
    </p:spTree>
    <p:extLst>
      <p:ext uri="{BB962C8B-B14F-4D97-AF65-F5344CB8AC3E}">
        <p14:creationId xmlns:p14="http://schemas.microsoft.com/office/powerpoint/2010/main" val="282911983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34FDA6-E3DA-7FC8-4724-D2B36073438F}"/>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Can remove this line</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 program&#10;&#10;AI-generated content may be incorrect.">
            <a:extLst>
              <a:ext uri="{FF2B5EF4-FFF2-40B4-BE49-F238E27FC236}">
                <a16:creationId xmlns:a16="http://schemas.microsoft.com/office/drawing/2014/main" id="{7CD67FF9-1D42-DB64-6969-555563A4A8C5}"/>
              </a:ext>
            </a:extLst>
          </p:cNvPr>
          <p:cNvPicPr>
            <a:picLocks noGrp="1" noChangeAspect="1"/>
          </p:cNvPicPr>
          <p:nvPr>
            <p:ph idx="1"/>
          </p:nvPr>
        </p:nvPicPr>
        <p:blipFill>
          <a:blip r:embed="rId2"/>
          <a:stretch>
            <a:fillRect/>
          </a:stretch>
        </p:blipFill>
        <p:spPr>
          <a:xfrm>
            <a:off x="320040" y="2679881"/>
            <a:ext cx="11548872" cy="3493535"/>
          </a:xfrm>
          <a:prstGeom prst="rect">
            <a:avLst/>
          </a:prstGeom>
        </p:spPr>
      </p:pic>
    </p:spTree>
    <p:extLst>
      <p:ext uri="{BB962C8B-B14F-4D97-AF65-F5344CB8AC3E}">
        <p14:creationId xmlns:p14="http://schemas.microsoft.com/office/powerpoint/2010/main" val="38080121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 shot of a computer&#10;&#10;AI-generated content may be incorrect.">
            <a:extLst>
              <a:ext uri="{FF2B5EF4-FFF2-40B4-BE49-F238E27FC236}">
                <a16:creationId xmlns:a16="http://schemas.microsoft.com/office/drawing/2014/main" id="{AFB0AD65-AC13-358A-B4FF-648F16F89D62}"/>
              </a:ext>
            </a:extLst>
          </p:cNvPr>
          <p:cNvPicPr>
            <a:picLocks noGrp="1" noChangeAspect="1"/>
          </p:cNvPicPr>
          <p:nvPr>
            <p:ph idx="1"/>
          </p:nvPr>
        </p:nvPicPr>
        <p:blipFill>
          <a:blip r:embed="rId2"/>
          <a:stretch>
            <a:fillRect/>
          </a:stretch>
        </p:blipFill>
        <p:spPr>
          <a:xfrm>
            <a:off x="1289303" y="1805347"/>
            <a:ext cx="9613397" cy="841173"/>
          </a:xfrm>
          <a:prstGeom prst="rect">
            <a:avLst/>
          </a:prstGeom>
        </p:spPr>
      </p:pic>
      <p:sp>
        <p:nvSpPr>
          <p:cNvPr id="11" name="Right Triangle 10">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2D151B4-39F1-E8E2-94B2-8A5FDCCFE35A}"/>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5600" kern="1200">
                <a:solidFill>
                  <a:schemeClr val="tx1"/>
                </a:solidFill>
                <a:latin typeface="+mj-lt"/>
                <a:ea typeface="+mj-ea"/>
                <a:cs typeface="+mj-cs"/>
              </a:rPr>
              <a:t>Remove SuppliersId from the Bind here in the post method</a:t>
            </a:r>
          </a:p>
        </p:txBody>
      </p:sp>
    </p:spTree>
    <p:extLst>
      <p:ext uri="{BB962C8B-B14F-4D97-AF65-F5344CB8AC3E}">
        <p14:creationId xmlns:p14="http://schemas.microsoft.com/office/powerpoint/2010/main" val="312486422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5FAC12-7754-8CB1-DB14-B4003D690ACE}"/>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Add this to the top of the post method</a:t>
            </a:r>
          </a:p>
        </p:txBody>
      </p:sp>
      <p:pic>
        <p:nvPicPr>
          <p:cNvPr id="4" name="Content Placeholder 3" descr="A screen shot of a computer program&#10;&#10;AI-generated content may be incorrect.">
            <a:extLst>
              <a:ext uri="{FF2B5EF4-FFF2-40B4-BE49-F238E27FC236}">
                <a16:creationId xmlns:a16="http://schemas.microsoft.com/office/drawing/2014/main" id="{6E5085F9-84E9-42CF-71B0-79FF170E9E57}"/>
              </a:ext>
            </a:extLst>
          </p:cNvPr>
          <p:cNvPicPr>
            <a:picLocks noGrp="1" noChangeAspect="1"/>
          </p:cNvPicPr>
          <p:nvPr>
            <p:ph idx="1"/>
          </p:nvPr>
        </p:nvPicPr>
        <p:blipFill>
          <a:blip r:embed="rId2"/>
          <a:stretch>
            <a:fillRect/>
          </a:stretch>
        </p:blipFill>
        <p:spPr>
          <a:xfrm>
            <a:off x="643467" y="1895782"/>
            <a:ext cx="10905066" cy="3953088"/>
          </a:xfrm>
          <a:prstGeom prst="rect">
            <a:avLst/>
          </a:prstGeom>
        </p:spPr>
      </p:pic>
    </p:spTree>
    <p:extLst>
      <p:ext uri="{BB962C8B-B14F-4D97-AF65-F5344CB8AC3E}">
        <p14:creationId xmlns:p14="http://schemas.microsoft.com/office/powerpoint/2010/main" val="152713194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lowchart: Document 8">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3C5D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98BD9A-F896-0F02-AD4C-5C48F2D761BA}"/>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Full Post Edit Method</a:t>
            </a:r>
          </a:p>
        </p:txBody>
      </p:sp>
      <p:pic>
        <p:nvPicPr>
          <p:cNvPr id="4" name="Content Placeholder 3" descr="A screenshot of a computer program&#10;&#10;AI-generated content may be incorrect.">
            <a:extLst>
              <a:ext uri="{FF2B5EF4-FFF2-40B4-BE49-F238E27FC236}">
                <a16:creationId xmlns:a16="http://schemas.microsoft.com/office/drawing/2014/main" id="{7BB7421A-353C-A340-DA9E-503BD9928323}"/>
              </a:ext>
            </a:extLst>
          </p:cNvPr>
          <p:cNvPicPr>
            <a:picLocks noGrp="1" noChangeAspect="1"/>
          </p:cNvPicPr>
          <p:nvPr>
            <p:ph idx="1"/>
          </p:nvPr>
        </p:nvPicPr>
        <p:blipFill>
          <a:blip r:embed="rId2"/>
          <a:stretch>
            <a:fillRect/>
          </a:stretch>
        </p:blipFill>
        <p:spPr>
          <a:xfrm>
            <a:off x="4684673" y="640080"/>
            <a:ext cx="6394057" cy="5578816"/>
          </a:xfrm>
          <a:prstGeom prst="rect">
            <a:avLst/>
          </a:prstGeom>
        </p:spPr>
      </p:pic>
    </p:spTree>
    <p:extLst>
      <p:ext uri="{BB962C8B-B14F-4D97-AF65-F5344CB8AC3E}">
        <p14:creationId xmlns:p14="http://schemas.microsoft.com/office/powerpoint/2010/main" val="6795779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7FC5EC-AB76-434F-D540-CEDCECD5E7AC}"/>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kern="1200">
                <a:solidFill>
                  <a:schemeClr val="tx1"/>
                </a:solidFill>
                <a:latin typeface="+mj-lt"/>
                <a:ea typeface="+mj-ea"/>
                <a:cs typeface="+mj-cs"/>
              </a:rPr>
              <a:t>Can now edit only those products </a:t>
            </a:r>
          </a:p>
        </p:txBody>
      </p:sp>
      <p:sp>
        <p:nvSpPr>
          <p:cNvPr id="9" name="Rectangle 8">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 name="Rectangle 10">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222856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F0D114-B8CA-7FCF-2D43-975E180708B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Do the same for Deleting the Products</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129824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63DC2E-3B5E-D51C-088A-3ACEA5FB49A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Next Feature -&gt; Update Tracking Status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5069026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6D9E04-9D71-CA86-7167-886027E0AA79}"/>
              </a:ext>
            </a:extLst>
          </p:cNvPr>
          <p:cNvSpPr>
            <a:spLocks noGrp="1"/>
          </p:cNvSpPr>
          <p:nvPr>
            <p:ph type="title"/>
          </p:nvPr>
        </p:nvSpPr>
        <p:spPr>
          <a:xfrm>
            <a:off x="645065" y="1463040"/>
            <a:ext cx="3796306" cy="2690949"/>
          </a:xfrm>
        </p:spPr>
        <p:txBody>
          <a:bodyPr anchor="t">
            <a:normAutofit/>
          </a:bodyPr>
          <a:lstStyle/>
          <a:p>
            <a:r>
              <a:rPr lang="en-GB" sz="3400"/>
              <a:t>This is simply just allowing us to UPDATE the one field in the orders which exists alreayd</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26B0049-6F33-4957-13FC-5C22E138E38D}"/>
              </a:ext>
            </a:extLst>
          </p:cNvPr>
          <p:cNvSpPr>
            <a:spLocks noGrp="1"/>
          </p:cNvSpPr>
          <p:nvPr>
            <p:ph idx="1"/>
          </p:nvPr>
        </p:nvSpPr>
        <p:spPr>
          <a:xfrm>
            <a:off x="5656218" y="1463039"/>
            <a:ext cx="5542387" cy="4300447"/>
          </a:xfrm>
        </p:spPr>
        <p:txBody>
          <a:bodyPr vert="horz" lIns="91440" tIns="45720" rIns="91440" bIns="45720" rtlCol="0" anchor="t">
            <a:normAutofit/>
          </a:bodyPr>
          <a:lstStyle/>
          <a:p>
            <a:endParaRPr lang="en-GB" sz="2200" dirty="0"/>
          </a:p>
          <a:p>
            <a:endParaRPr lang="en-GB" sz="2200" dirty="0"/>
          </a:p>
          <a:p>
            <a:r>
              <a:rPr lang="en-GB" sz="2200"/>
              <a:t>Can already</a:t>
            </a:r>
            <a:r>
              <a:rPr lang="en-GB" sz="2200" dirty="0"/>
              <a:t> view all orders from dashboard</a:t>
            </a:r>
            <a:endParaRPr lang="en-GB"/>
          </a:p>
          <a:p>
            <a:endParaRPr lang="en-GB" sz="2200"/>
          </a:p>
          <a:p>
            <a:r>
              <a:rPr lang="en-GB" sz="2200"/>
              <a:t>Need to edit the update so there are set options to choose from</a:t>
            </a:r>
          </a:p>
          <a:p>
            <a:endParaRPr lang="en-GB" sz="2200"/>
          </a:p>
          <a:p>
            <a:endParaRPr lang="en-GB" sz="2200"/>
          </a:p>
        </p:txBody>
      </p:sp>
    </p:spTree>
    <p:extLst>
      <p:ext uri="{BB962C8B-B14F-4D97-AF65-F5344CB8AC3E}">
        <p14:creationId xmlns:p14="http://schemas.microsoft.com/office/powerpoint/2010/main" val="370859301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AC9A6E-8F49-5DEA-40A8-4F80C09B4D4E}"/>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Edit.cshtml in the Orders View folder</a:t>
            </a:r>
          </a:p>
        </p:txBody>
      </p:sp>
      <p:pic>
        <p:nvPicPr>
          <p:cNvPr id="4" name="Content Placeholder 3" descr="A screenshot of a computer&#10;&#10;AI-generated content may be incorrect.">
            <a:extLst>
              <a:ext uri="{FF2B5EF4-FFF2-40B4-BE49-F238E27FC236}">
                <a16:creationId xmlns:a16="http://schemas.microsoft.com/office/drawing/2014/main" id="{0CF1684A-238F-B7F9-899E-7499DC19D1B0}"/>
              </a:ext>
            </a:extLst>
          </p:cNvPr>
          <p:cNvPicPr>
            <a:picLocks noGrp="1" noChangeAspect="1"/>
          </p:cNvPicPr>
          <p:nvPr>
            <p:ph idx="1"/>
          </p:nvPr>
        </p:nvPicPr>
        <p:blipFill>
          <a:blip r:embed="rId2"/>
          <a:stretch>
            <a:fillRect/>
          </a:stretch>
        </p:blipFill>
        <p:spPr>
          <a:xfrm>
            <a:off x="5425062" y="643466"/>
            <a:ext cx="5485208" cy="5568739"/>
          </a:xfrm>
          <a:prstGeom prst="rect">
            <a:avLst/>
          </a:prstGeom>
        </p:spPr>
      </p:pic>
    </p:spTree>
    <p:extLst>
      <p:ext uri="{BB962C8B-B14F-4D97-AF65-F5344CB8AC3E}">
        <p14:creationId xmlns:p14="http://schemas.microsoft.com/office/powerpoint/2010/main" val="282798531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ACF15D-3FB5-09ED-5555-01A3F3B04733}"/>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Change the highlighted section</a:t>
            </a:r>
          </a:p>
        </p:txBody>
      </p:sp>
      <p:pic>
        <p:nvPicPr>
          <p:cNvPr id="4" name="Content Placeholder 3" descr="A screenshot of a computer program&#10;&#10;AI-generated content may be incorrect.">
            <a:extLst>
              <a:ext uri="{FF2B5EF4-FFF2-40B4-BE49-F238E27FC236}">
                <a16:creationId xmlns:a16="http://schemas.microsoft.com/office/drawing/2014/main" id="{56CC82EE-24A4-C223-98D7-BBAF1B44290B}"/>
              </a:ext>
            </a:extLst>
          </p:cNvPr>
          <p:cNvPicPr>
            <a:picLocks noGrp="1" noChangeAspect="1"/>
          </p:cNvPicPr>
          <p:nvPr>
            <p:ph idx="1"/>
          </p:nvPr>
        </p:nvPicPr>
        <p:blipFill>
          <a:blip r:embed="rId2"/>
          <a:stretch>
            <a:fillRect/>
          </a:stretch>
        </p:blipFill>
        <p:spPr>
          <a:xfrm>
            <a:off x="5021485" y="643466"/>
            <a:ext cx="6292361" cy="5568739"/>
          </a:xfrm>
          <a:prstGeom prst="rect">
            <a:avLst/>
          </a:prstGeom>
        </p:spPr>
      </p:pic>
    </p:spTree>
    <p:extLst>
      <p:ext uri="{BB962C8B-B14F-4D97-AF65-F5344CB8AC3E}">
        <p14:creationId xmlns:p14="http://schemas.microsoft.com/office/powerpoint/2010/main" val="245134255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ED37C4-991C-E0FF-8A4E-45C2FF28A685}"/>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Should now look like this </a:t>
            </a:r>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 program&#10;&#10;AI-generated content may be incorrect.">
            <a:extLst>
              <a:ext uri="{FF2B5EF4-FFF2-40B4-BE49-F238E27FC236}">
                <a16:creationId xmlns:a16="http://schemas.microsoft.com/office/drawing/2014/main" id="{82786776-FC15-EDB2-4ECF-4101ACA9634B}"/>
              </a:ext>
            </a:extLst>
          </p:cNvPr>
          <p:cNvPicPr>
            <a:picLocks noGrp="1" noChangeAspect="1"/>
          </p:cNvPicPr>
          <p:nvPr>
            <p:ph idx="1"/>
          </p:nvPr>
        </p:nvPicPr>
        <p:blipFill>
          <a:blip r:embed="rId2"/>
          <a:stretch>
            <a:fillRect/>
          </a:stretch>
        </p:blipFill>
        <p:spPr>
          <a:xfrm>
            <a:off x="5269469" y="640080"/>
            <a:ext cx="5984269" cy="5550408"/>
          </a:xfrm>
          <a:prstGeom prst="rect">
            <a:avLst/>
          </a:prstGeom>
        </p:spPr>
      </p:pic>
    </p:spTree>
    <p:extLst>
      <p:ext uri="{BB962C8B-B14F-4D97-AF65-F5344CB8AC3E}">
        <p14:creationId xmlns:p14="http://schemas.microsoft.com/office/powerpoint/2010/main" val="354405423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5BA19C-AB40-E51F-073F-CD367BBBB9FB}"/>
              </a:ext>
            </a:extLst>
          </p:cNvPr>
          <p:cNvSpPr>
            <a:spLocks noGrp="1"/>
          </p:cNvSpPr>
          <p:nvPr>
            <p:ph type="title"/>
          </p:nvPr>
        </p:nvSpPr>
        <p:spPr>
          <a:xfrm>
            <a:off x="645065" y="1463040"/>
            <a:ext cx="3796306" cy="2690949"/>
          </a:xfrm>
        </p:spPr>
        <p:txBody>
          <a:bodyPr anchor="t">
            <a:normAutofit/>
          </a:bodyPr>
          <a:lstStyle/>
          <a:p>
            <a:r>
              <a:rPr lang="en-GB" sz="4800"/>
              <a:t>Can now do all of these</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37D61D2-9785-BD15-9442-C88AFD0843F7}"/>
              </a:ext>
            </a:extLst>
          </p:cNvPr>
          <p:cNvSpPr>
            <a:spLocks noGrp="1"/>
          </p:cNvSpPr>
          <p:nvPr>
            <p:ph idx="1"/>
          </p:nvPr>
        </p:nvSpPr>
        <p:spPr>
          <a:xfrm>
            <a:off x="5656218" y="1463039"/>
            <a:ext cx="5542387" cy="4300447"/>
          </a:xfrm>
        </p:spPr>
        <p:txBody>
          <a:bodyPr vert="horz" lIns="91440" tIns="45720" rIns="91440" bIns="45720" rtlCol="0" anchor="t">
            <a:normAutofit/>
          </a:bodyPr>
          <a:lstStyle/>
          <a:p>
            <a:r>
              <a:rPr lang="en-GB" sz="2200"/>
              <a:t>Needs to be able to manage stock levels</a:t>
            </a:r>
            <a:endParaRPr lang="en-US" sz="2200"/>
          </a:p>
          <a:p>
            <a:endParaRPr lang="en-GB" sz="2200"/>
          </a:p>
          <a:p>
            <a:r>
              <a:rPr lang="en-GB" sz="2200"/>
              <a:t>See all their products not just first five</a:t>
            </a:r>
          </a:p>
          <a:p>
            <a:endParaRPr lang="en-GB" sz="2200"/>
          </a:p>
          <a:p>
            <a:r>
              <a:rPr lang="en-GB" sz="2200"/>
              <a:t>Update Product Details</a:t>
            </a:r>
          </a:p>
          <a:p>
            <a:endParaRPr lang="en-GB" sz="2200"/>
          </a:p>
          <a:p>
            <a:r>
              <a:rPr lang="en-GB" sz="2200"/>
              <a:t>View all Orders</a:t>
            </a:r>
          </a:p>
        </p:txBody>
      </p:sp>
    </p:spTree>
    <p:extLst>
      <p:ext uri="{BB962C8B-B14F-4D97-AF65-F5344CB8AC3E}">
        <p14:creationId xmlns:p14="http://schemas.microsoft.com/office/powerpoint/2010/main" val="8901234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3C8C0B-C7C0-9973-ABD4-CF8E6D9586A6}"/>
              </a:ext>
            </a:extLst>
          </p:cNvPr>
          <p:cNvSpPr>
            <a:spLocks noGrp="1"/>
          </p:cNvSpPr>
          <p:nvPr>
            <p:ph type="title"/>
          </p:nvPr>
        </p:nvSpPr>
        <p:spPr>
          <a:xfrm>
            <a:off x="645065" y="1463040"/>
            <a:ext cx="3796306" cy="2690949"/>
          </a:xfrm>
        </p:spPr>
        <p:txBody>
          <a:bodyPr anchor="t">
            <a:normAutofit/>
          </a:bodyPr>
          <a:lstStyle/>
          <a:p>
            <a:r>
              <a:rPr lang="en-GB" sz="4800"/>
              <a:t>What is left to complete?</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2538573-C15C-A10B-3241-8774D04071D3}"/>
              </a:ext>
            </a:extLst>
          </p:cNvPr>
          <p:cNvSpPr>
            <a:spLocks noGrp="1"/>
          </p:cNvSpPr>
          <p:nvPr>
            <p:ph idx="1"/>
          </p:nvPr>
        </p:nvSpPr>
        <p:spPr>
          <a:xfrm>
            <a:off x="5656218" y="1463039"/>
            <a:ext cx="5542387" cy="4300447"/>
          </a:xfrm>
        </p:spPr>
        <p:txBody>
          <a:bodyPr vert="horz" lIns="91440" tIns="45720" rIns="91440" bIns="45720" rtlCol="0" anchor="t">
            <a:normAutofit/>
          </a:bodyPr>
          <a:lstStyle/>
          <a:p>
            <a:r>
              <a:rPr lang="en-GB" sz="2200"/>
              <a:t>Need to remove all of the user Id's and foreign keys from all forms and .cshtml files and then match up accordingly in the back end</a:t>
            </a:r>
          </a:p>
          <a:p>
            <a:endParaRPr lang="en-GB" sz="2200"/>
          </a:p>
          <a:p>
            <a:r>
              <a:rPr lang="en-GB" sz="2200"/>
              <a:t>Got to add authorisation to the methods for multiple roles</a:t>
            </a:r>
          </a:p>
          <a:p>
            <a:endParaRPr lang="en-GB" sz="2200"/>
          </a:p>
          <a:p>
            <a:r>
              <a:rPr lang="en-GB" sz="2200"/>
              <a:t>Need to add the GMAIL Login system</a:t>
            </a:r>
          </a:p>
          <a:p>
            <a:endParaRPr lang="en-GB" sz="2200"/>
          </a:p>
          <a:p>
            <a:r>
              <a:rPr lang="en-GB" sz="2200"/>
              <a:t>Need to add CSS</a:t>
            </a:r>
          </a:p>
        </p:txBody>
      </p:sp>
    </p:spTree>
    <p:extLst>
      <p:ext uri="{BB962C8B-B14F-4D97-AF65-F5344CB8AC3E}">
        <p14:creationId xmlns:p14="http://schemas.microsoft.com/office/powerpoint/2010/main" val="41462707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1865</Words>
  <Application>Microsoft Office PowerPoint</Application>
  <PresentationFormat>Widescreen</PresentationFormat>
  <Paragraphs>256</Paragraphs>
  <Slides>162</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162</vt:i4>
      </vt:variant>
    </vt:vector>
  </HeadingPairs>
  <TitlesOfParts>
    <vt:vector size="169" baseType="lpstr">
      <vt:lpstr>Aptos</vt:lpstr>
      <vt:lpstr>Aptos Display</vt:lpstr>
      <vt:lpstr>Arial</vt:lpstr>
      <vt:lpstr>Avenir Next LT Pro</vt:lpstr>
      <vt:lpstr>Calibri</vt:lpstr>
      <vt:lpstr>Courier New</vt:lpstr>
      <vt:lpstr>office theme</vt:lpstr>
      <vt:lpstr>Building an E-Commerce System</vt:lpstr>
      <vt:lpstr>In this PowerPoint</vt:lpstr>
      <vt:lpstr>Creating the Initial Project</vt:lpstr>
      <vt:lpstr>Open Visual Studio 2022 and select Create a new Project</vt:lpstr>
      <vt:lpstr>Select the ASP.NET Core Web App (Model-View-Controller) C#</vt:lpstr>
      <vt:lpstr>Name the Project </vt:lpstr>
      <vt:lpstr>Select .NET 9.O and then Individual Accounts for Authentication Type</vt:lpstr>
      <vt:lpstr>Project Created</vt:lpstr>
      <vt:lpstr>Installing the Packages (Has to be 9.0.12)</vt:lpstr>
      <vt:lpstr>Open the Package Manager Console</vt:lpstr>
      <vt:lpstr>Install the following Packages</vt:lpstr>
      <vt:lpstr>Add-Migration Update-Database</vt:lpstr>
      <vt:lpstr>Run the Application with HTTP and test the login and register system</vt:lpstr>
      <vt:lpstr>Time to add the models</vt:lpstr>
      <vt:lpstr>These are the models I am using (May not be the same for you)</vt:lpstr>
      <vt:lpstr>Suppliers (Producers) Model</vt:lpstr>
      <vt:lpstr>Products Model</vt:lpstr>
      <vt:lpstr>Basket Model</vt:lpstr>
      <vt:lpstr>BasketProducts Model</vt:lpstr>
      <vt:lpstr>Orders Model</vt:lpstr>
      <vt:lpstr>OrderProducts Model</vt:lpstr>
      <vt:lpstr>Now we scaffold all the models as Controllers with Views</vt:lpstr>
      <vt:lpstr>Right Click the Controllers Folder -&gt; Add  -&gt; Controller</vt:lpstr>
      <vt:lpstr>Select MVC Controller with views, using Entity Framework and Select Add</vt:lpstr>
      <vt:lpstr>Select the first model you want to scaffold and then choose the ApplicationDbContext</vt:lpstr>
      <vt:lpstr>Now have that controller and the views </vt:lpstr>
      <vt:lpstr>Repeat the same step with all of the models </vt:lpstr>
      <vt:lpstr>My End Result</vt:lpstr>
      <vt:lpstr>Add-Migration Update-Database</vt:lpstr>
      <vt:lpstr>You can test the web application and try all the end points if you want now</vt:lpstr>
      <vt:lpstr>First Function is Seeding Users and Roles</vt:lpstr>
      <vt:lpstr>Right click the data folder and select Add -&gt; Class</vt:lpstr>
      <vt:lpstr>Create the new class called SeedData</vt:lpstr>
      <vt:lpstr>Going to create the following method called SeedUsersAndRoles</vt:lpstr>
      <vt:lpstr>First lets add the roles -&gt;&gt; Inside the method we just made</vt:lpstr>
      <vt:lpstr>Still inside the method under what we just wrote let's create the different users</vt:lpstr>
      <vt:lpstr>Adding the 3 supplier users for different suppliers</vt:lpstr>
      <vt:lpstr>Now adding the normal and dev user</vt:lpstr>
      <vt:lpstr>Program.cs code  </vt:lpstr>
      <vt:lpstr>Run the program and test logging in to each account to ensure they are working</vt:lpstr>
      <vt:lpstr>Now lets seed the Suppliers as the next set of data we need</vt:lpstr>
      <vt:lpstr>Add this method in the SeedData.cs file under the SeedUsersAndRoles method</vt:lpstr>
      <vt:lpstr>Write the following code to find the supplier you want to link</vt:lpstr>
      <vt:lpstr>Now to seed the suppliers </vt:lpstr>
      <vt:lpstr>Full Function</vt:lpstr>
      <vt:lpstr>Edit the Program.cs Code to call this function now</vt:lpstr>
      <vt:lpstr>Run the Program and test the homepage for Suppliers to ensure that is working</vt:lpstr>
      <vt:lpstr>Time to Seed the Products next</vt:lpstr>
      <vt:lpstr>Create the method under the seedSuppliers method</vt:lpstr>
      <vt:lpstr>Inside this method find the suppliers which we are going to link to the products</vt:lpstr>
      <vt:lpstr>Now before we can continue seeding products we need to find the images and save them to the right folder</vt:lpstr>
      <vt:lpstr>Right click the wwwroot folder and create a new folder called images</vt:lpstr>
      <vt:lpstr>Find images for your products as long as they are png's or jpeg's</vt:lpstr>
      <vt:lpstr>Now write your Seed Products code under the section where we found the suppliers</vt:lpstr>
      <vt:lpstr>Add to Program.cs</vt:lpstr>
      <vt:lpstr>Run the web application and test the products page to see if everything is there </vt:lpstr>
      <vt:lpstr>Images don't work because they are not inside of an  img tag can fix this later. If you implement this now images will be oddly sized and you need to use CSS to format this properly</vt:lpstr>
      <vt:lpstr>Checkpoint to save and back up for sure</vt:lpstr>
      <vt:lpstr>First Core Function -&gt; Adding Products to the basket</vt:lpstr>
      <vt:lpstr>First we need to add the button to add a product to the basket</vt:lpstr>
      <vt:lpstr>In the Products -&gt; Index.cshtml page</vt:lpstr>
      <vt:lpstr>Add the "Add to Basket" Form</vt:lpstr>
      <vt:lpstr>Should now have an Add to Basket button on each product if there is stock</vt:lpstr>
      <vt:lpstr>Time to Edit the logic -&gt; Go to the controller basketProducts and the POST Create function</vt:lpstr>
      <vt:lpstr>First change -&gt; Change the method so it only has one parameter</vt:lpstr>
      <vt:lpstr>Now delete everything inside so it is an empty method body ready for new logic</vt:lpstr>
      <vt:lpstr>First find the product they selected (Goes inside the empty Create Method)</vt:lpstr>
      <vt:lpstr>Find the current logged in user</vt:lpstr>
      <vt:lpstr>Find the current basket for that user, if no basket or no active basket then create a brand new one for the user</vt:lpstr>
      <vt:lpstr>Now time to add the products to the basket</vt:lpstr>
      <vt:lpstr>Full Method Screenshot (Zoom where needed)</vt:lpstr>
      <vt:lpstr>Try to add a product to the basket -&gt; Should redirect you to the basket screen like this as long as you are logged in</vt:lpstr>
      <vt:lpstr>Next Function -&gt; Make the basket look better </vt:lpstr>
      <vt:lpstr>BasketController Index Function</vt:lpstr>
      <vt:lpstr>Start by finding the currently logged in user instead</vt:lpstr>
      <vt:lpstr>Check if that user has a basket if not then create one for them</vt:lpstr>
      <vt:lpstr>Next find all products in that basket and find the subtotal</vt:lpstr>
      <vt:lpstr>Loyalty Discount Calc (Can add more conditions for different rewards)</vt:lpstr>
      <vt:lpstr>Finally sending to the Viewbag and returning the view</vt:lpstr>
      <vt:lpstr>Full new index method</vt:lpstr>
      <vt:lpstr>Index.cshtml File in Baskets View</vt:lpstr>
      <vt:lpstr>Change the model being passed through to this</vt:lpstr>
      <vt:lpstr>Next Section</vt:lpstr>
      <vt:lpstr>Next see if the basket is empty then display a message otherwise display the price and quantity of each item in the basket</vt:lpstr>
      <vt:lpstr>Next see if the basket is empty then dispay a message otherwise display the price and quanity of each item in the absket</vt:lpstr>
      <vt:lpstr>New Look Basket (Needs CSS Editing later)</vt:lpstr>
      <vt:lpstr>Now to add the checkout functionality </vt:lpstr>
      <vt:lpstr>First need to add the Checkout button</vt:lpstr>
      <vt:lpstr>Orders Controller -&gt; GET Method </vt:lpstr>
      <vt:lpstr>Orders Views -&gt; Create.cshtml</vt:lpstr>
      <vt:lpstr>Delete all inside and replace</vt:lpstr>
      <vt:lpstr>New Create Form</vt:lpstr>
      <vt:lpstr>JavaScript to add at the bottom</vt:lpstr>
      <vt:lpstr>Should now have a proceed to checkout button</vt:lpstr>
      <vt:lpstr>When you click on it, should take you here</vt:lpstr>
      <vt:lpstr>Time to get the Place Order button working</vt:lpstr>
      <vt:lpstr>OrdersControllers Create Post</vt:lpstr>
      <vt:lpstr>Delete main method body and change parameters</vt:lpstr>
      <vt:lpstr>Inside the method first step -&gt; Find currently logged n user and assign values for the order for that user</vt:lpstr>
      <vt:lpstr>Next set the order date</vt:lpstr>
      <vt:lpstr>Next set the order tracking status to pending by default to start with</vt:lpstr>
      <vt:lpstr>Next finding all items in the basket</vt:lpstr>
      <vt:lpstr>Subtotal Calculator section next</vt:lpstr>
      <vt:lpstr>Discount Calculator</vt:lpstr>
      <vt:lpstr>Handling Delivery or Collections</vt:lpstr>
      <vt:lpstr>Error Check</vt:lpstr>
      <vt:lpstr>Making the order and updating stock</vt:lpstr>
      <vt:lpstr>Full Code (Zoom as required)</vt:lpstr>
      <vt:lpstr>Should now be able to checkout -&gt; Can see if it worked by going to order page</vt:lpstr>
      <vt:lpstr>Next Feature -&gt; Edit Order Index so it shows orders and then when click on details it shows a breakdown of products in the orders</vt:lpstr>
      <vt:lpstr>Change Orders-&gt;Details.cshtml page</vt:lpstr>
      <vt:lpstr>Change Orders Details get Controller Method</vt:lpstr>
      <vt:lpstr>When you click details now </vt:lpstr>
      <vt:lpstr>User should only see their own order history no one else's</vt:lpstr>
      <vt:lpstr>OrdersControllers -&gt; IndexMethod</vt:lpstr>
      <vt:lpstr>OrdersControllers -&gt; Index Method</vt:lpstr>
      <vt:lpstr>Should now only see the current users order history</vt:lpstr>
      <vt:lpstr>However Admin users should see all orders and then Suppliers should see all of their orders</vt:lpstr>
      <vt:lpstr>Transform the OrdersController Index Method</vt:lpstr>
      <vt:lpstr>Now have a much better viewing order system</vt:lpstr>
      <vt:lpstr>Next Core Feature -&gt; Supplier Dashboard</vt:lpstr>
      <vt:lpstr>Can do this in many ways</vt:lpstr>
      <vt:lpstr>Create a new controller</vt:lpstr>
      <vt:lpstr>Choose the empty one</vt:lpstr>
      <vt:lpstr>Name the Controller called SupplierDashboardController</vt:lpstr>
      <vt:lpstr>Now Right Click the Views Folder and add a new folder called SupplierDashboard</vt:lpstr>
      <vt:lpstr>Add an Index.cshtml view to that new folder</vt:lpstr>
      <vt:lpstr>Back to the supplier Dashboard Controller</vt:lpstr>
      <vt:lpstr>Authorise the whole controller for supplier role (Can add admin and dev later)</vt:lpstr>
      <vt:lpstr>Add the _context and the controller</vt:lpstr>
      <vt:lpstr>Now edit the index method to look like this</vt:lpstr>
      <vt:lpstr>Go to the SupplierDashboard Views Folder and edit the index view</vt:lpstr>
      <vt:lpstr>Should now have a supplier Dashboard</vt:lpstr>
      <vt:lpstr>Time to add some management buttons to this page</vt:lpstr>
      <vt:lpstr>Doesn't need to be all new pages just add buttons and maybe edit some existing pages</vt:lpstr>
      <vt:lpstr>Supplier dashboard to view all orders</vt:lpstr>
      <vt:lpstr>Add the button to take them to the Orders Index page which is already filtered for that supplier</vt:lpstr>
      <vt:lpstr>Now can manage all orders by clicking that and then I can edit and so on</vt:lpstr>
      <vt:lpstr>To update product details need to view all of their products only and then the edit functionality is already there</vt:lpstr>
      <vt:lpstr>Add the button before the orders and after the products in the SupplierDashboard INdex.cshtml page</vt:lpstr>
      <vt:lpstr>Edit the ProductsController Index endpoint method</vt:lpstr>
      <vt:lpstr>Index Endpoint should look like this</vt:lpstr>
      <vt:lpstr>Now can see the button to view all products</vt:lpstr>
      <vt:lpstr>From here can click edit and can edit and update product details</vt:lpstr>
      <vt:lpstr>Lets quickly fix the edit option as first those buttons for edit and delete should only be viewable if you are a supplier</vt:lpstr>
      <vt:lpstr>Edit so it now looks like this with the if statement</vt:lpstr>
      <vt:lpstr>Now go to the edit.cshtml page</vt:lpstr>
      <vt:lpstr>Remove the SuppliersId Section so it is hidden instead</vt:lpstr>
      <vt:lpstr>Now go to the Products Controller Edit Get Method</vt:lpstr>
      <vt:lpstr>Can remove this line</vt:lpstr>
      <vt:lpstr>Remove SuppliersId from the Bind here in the post method</vt:lpstr>
      <vt:lpstr>Add this to the top of the post method</vt:lpstr>
      <vt:lpstr>Full Post Edit Method</vt:lpstr>
      <vt:lpstr>Can now edit only those products </vt:lpstr>
      <vt:lpstr>Do the same for Deleting the Products</vt:lpstr>
      <vt:lpstr>Next Feature -&gt; Update Tracking Status</vt:lpstr>
      <vt:lpstr>This is simply just allowing us to UPDATE the one field in the orders which exists alreayd</vt:lpstr>
      <vt:lpstr>Edit.cshtml in the Orders View folder</vt:lpstr>
      <vt:lpstr>Change the highlighted section</vt:lpstr>
      <vt:lpstr>Should now look like this </vt:lpstr>
      <vt:lpstr>Can now do all of these</vt:lpstr>
      <vt:lpstr>What is left to complete?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E-Commerce System</dc:title>
  <dc:creator>Digi-T-Y2-12</dc:creator>
  <cp:lastModifiedBy>Digi-T-Y2-12@dom.sandwell.ac.uk</cp:lastModifiedBy>
  <cp:revision>1241</cp:revision>
  <dcterms:created xsi:type="dcterms:W3CDTF">2026-03-21T12:36:28Z</dcterms:created>
  <dcterms:modified xsi:type="dcterms:W3CDTF">2026-04-13T15:21:18Z</dcterms:modified>
</cp:coreProperties>
</file>